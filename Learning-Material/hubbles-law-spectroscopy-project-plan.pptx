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75" r:id="rId14"/>
    <p:sldId id="269" r:id="rId15"/>
    <p:sldId id="270" r:id="rId16"/>
    <p:sldId id="271" r:id="rId17"/>
    <p:sldId id="272" r:id="rId18"/>
    <p:sldId id="273" r:id="rId19"/>
    <p:sldId id="274" r:id="rId20"/>
    <p:sldId id="276" r:id="rId21"/>
    <p:sldId id="277" r:id="rId22"/>
    <p:sldId id="278" r:id="rId23"/>
    <p:sldId id="279" r:id="rId24"/>
    <p:sldId id="283"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20"/>
    <p:restoredTop sz="94658"/>
  </p:normalViewPr>
  <p:slideViewPr>
    <p:cSldViewPr snapToGrid="0">
      <p:cViewPr>
        <p:scale>
          <a:sx n="347" d="100"/>
          <a:sy n="347" d="100"/>
        </p:scale>
        <p:origin x="-9824" y="-5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Galaxies</c:v>
          </c:tx>
          <c:marker>
            <c:symbol val="diamond"/>
            <c:size val="7"/>
            <c:spPr>
              <a:solidFill>
                <a:srgbClr val="B84A3A"/>
              </a:solidFill>
            </c:spPr>
          </c:marker>
          <c:xVal>
            <c:numRef>
              <c:f>'Chart Data'!$A$2:$A$9</c:f>
              <c:numCache>
                <c:formatCode>General</c:formatCode>
                <c:ptCount val="8"/>
                <c:pt idx="0">
                  <c:v>14</c:v>
                </c:pt>
                <c:pt idx="1">
                  <c:v>18</c:v>
                </c:pt>
                <c:pt idx="2">
                  <c:v>21</c:v>
                </c:pt>
                <c:pt idx="3">
                  <c:v>35</c:v>
                </c:pt>
                <c:pt idx="4">
                  <c:v>42</c:v>
                </c:pt>
                <c:pt idx="5">
                  <c:v>55</c:v>
                </c:pt>
                <c:pt idx="6">
                  <c:v>68</c:v>
                </c:pt>
                <c:pt idx="7">
                  <c:v>82</c:v>
                </c:pt>
              </c:numCache>
            </c:numRef>
          </c:xVal>
          <c:yVal>
            <c:numRef>
              <c:f>'Chart Data'!$B$2:$B$9</c:f>
              <c:numCache>
                <c:formatCode>General</c:formatCode>
                <c:ptCount val="8"/>
                <c:pt idx="0">
                  <c:v>900</c:v>
                </c:pt>
                <c:pt idx="1">
                  <c:v>1200</c:v>
                </c:pt>
                <c:pt idx="2">
                  <c:v>1550</c:v>
                </c:pt>
                <c:pt idx="3">
                  <c:v>2400</c:v>
                </c:pt>
                <c:pt idx="4">
                  <c:v>3100</c:v>
                </c:pt>
                <c:pt idx="5">
                  <c:v>3900</c:v>
                </c:pt>
                <c:pt idx="6">
                  <c:v>4800</c:v>
                </c:pt>
                <c:pt idx="7">
                  <c:v>5900</c:v>
                </c:pt>
              </c:numCache>
            </c:numRef>
          </c:yVal>
          <c:smooth val="1"/>
          <c:extLst>
            <c:ext xmlns:c16="http://schemas.microsoft.com/office/drawing/2014/chart" uri="{C3380CC4-5D6E-409C-BE32-E72D297353CC}">
              <c16:uniqueId val="{00000000-6E89-3848-B27C-3BFF3A9DD80C}"/>
            </c:ext>
          </c:extLst>
        </c:ser>
        <c:dLbls>
          <c:showLegendKey val="0"/>
          <c:showVal val="0"/>
          <c:showCatName val="0"/>
          <c:showSerName val="0"/>
          <c:showPercent val="0"/>
          <c:showBubbleSize val="0"/>
        </c:dLbls>
        <c:axId val="48650112"/>
        <c:axId val="48672768"/>
      </c:scatterChart>
      <c:valAx>
        <c:axId val="48672768"/>
        <c:scaling>
          <c:orientation val="minMax"/>
        </c:scaling>
        <c:delete val="0"/>
        <c:axPos val="l"/>
        <c:title>
          <c:tx>
            <c:rich>
              <a:bodyPr/>
              <a:lstStyle/>
              <a:p>
                <a:r>
                  <a:rPr lang="en-US">
                    <a:latin typeface="Aptos"/>
                    <a:ea typeface="Aptos"/>
                    <a:cs typeface="Aptos"/>
                  </a:rPr>
                  <a:t>Recession velocity in km/s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ptos"/>
                <a:ea typeface="Aptos"/>
                <a:cs typeface="Aptos"/>
              </a:defRPr>
            </a:pPr>
            <a:endParaRPr lang="en-US"/>
          </a:p>
        </c:txPr>
        <c:crossAx val="48650112"/>
        <c:crosses val="autoZero"/>
        <c:crossBetween val="midCat"/>
      </c:valAx>
      <c:valAx>
        <c:axId val="48650112"/>
        <c:scaling>
          <c:orientation val="minMax"/>
        </c:scaling>
        <c:delete val="0"/>
        <c:axPos val="b"/>
        <c:title>
          <c:tx>
            <c:rich>
              <a:bodyPr/>
              <a:lstStyle/>
              <a:p>
                <a:r>
                  <a:rPr lang="en-US">
                    <a:latin typeface="Aptos"/>
                    <a:ea typeface="Aptos"/>
                    <a:cs typeface="Aptos"/>
                  </a:rPr>
                  <a:t>Distance in megaparsecs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ptos"/>
                <a:ea typeface="Aptos"/>
                <a:cs typeface="Aptos"/>
              </a:defRPr>
            </a:pPr>
            <a:endParaRPr lang="en-US"/>
          </a:p>
        </c:txPr>
        <c:crossAx val="48672768"/>
        <c:crosses val="autoZero"/>
        <c:crossBetween val="midCat"/>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Generated educational visual created with the built-in image generation tool. Hubble's Law workflow uses standard redshift calculations and public spectra as a backup option.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velocity approximation works best for low redshift galaxies. Students should explain this limitation.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Chart uses illustrative values to show the expected graph form. Students should replace it with measured or curated public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target examples are starting candidates. Final choices should use visibility, altitude, Moon phase and spectroscope sensitivity.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to consult during the project: AAVSO spectroscopy materials, Sloan Digital Sky Survey spectra, and NASA/IPAC Extragalactic Database.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D27E62B-FBF8-D6E3-FC3F-804712826A75}"/>
              </a:ext>
            </a:extLst>
          </p:cNvPr>
          <p:cNvSpPr txBox="1"/>
          <p:nvPr userDrawn="1">
            <p:extLst>
              <p:ext uri="{1162E1C5-73C7-4A58-AE30-91384D911F3F}">
                <p184:classification xmlns:p184="http://schemas.microsoft.com/office/powerpoint/2018/4/main" val="hdr"/>
              </p:ext>
            </p:extLst>
          </p:nvPr>
        </p:nvSpPr>
        <p:spPr>
          <a:xfrm>
            <a:off x="63500" y="63500"/>
            <a:ext cx="270986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Confidential - Oracle Restricted \Employees Only</a:t>
            </a:r>
          </a:p>
        </p:txBody>
      </p:sp>
      <p:sp>
        <p:nvSpPr>
          <p:cNvPr id="5" name="TextBox 4">
            <a:extLst>
              <a:ext uri="{FF2B5EF4-FFF2-40B4-BE49-F238E27FC236}">
                <a16:creationId xmlns:a16="http://schemas.microsoft.com/office/drawing/2014/main" id="{5CE81E0E-C216-312D-42EB-DFAC90B465C2}"/>
              </a:ext>
            </a:extLst>
          </p:cNvPr>
          <p:cNvSpPr txBox="1"/>
          <p:nvPr userDrawn="1">
            <p:extLst>
              <p:ext uri="{1162E1C5-73C7-4A58-AE30-91384D911F3F}">
                <p184:classification xmlns:p184="http://schemas.microsoft.com/office/powerpoint/2018/4/main" val="ftr"/>
              </p:ext>
            </p:extLst>
          </p:nvPr>
        </p:nvSpPr>
        <p:spPr>
          <a:xfrm>
            <a:off x="63500" y="6642100"/>
            <a:ext cx="270986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Confidential - Oracle Restricted \Employees Only</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imagine.gsfc.nasa.gov/features/cosmic/local_group_info.html#:~:text=There%20are%20over%2030%20galaxies,M33%20being%20the%203rd%20largest." TargetMode="External"/><Relationship Id="rId2" Type="http://schemas.openxmlformats.org/officeDocument/2006/relationships/image" Target="../media/image8.jpg"/><Relationship Id="rId1" Type="http://schemas.openxmlformats.org/officeDocument/2006/relationships/slideLayout" Target="../slideLayouts/slideLayout1.xml"/><Relationship Id="rId4" Type="http://schemas.openxmlformats.org/officeDocument/2006/relationships/hyperlink" Target="https://astronomy.swin.edu.au/cosmos/l/Local+Group"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sservi.nasa.gov/articles/laniakea-our-home-supercluster/" TargetMode="External"/><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1.xml"/><Relationship Id="rId4" Type="http://schemas.openxmlformats.org/officeDocument/2006/relationships/image" Target="../media/image16.jpg"/></Relationships>
</file>

<file path=ppt/slides/_rels/slide2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2D056AF-2CC6-48CF-A0CD-EF686A4A6572}"/>
              </a:ext>
            </a:extLst>
          </p:cNvPr>
          <p:cNvSpPr>
            <a:spLocks noGrp="1"/>
          </p:cNvSpPr>
          <p:nvPr/>
        </p:nvSpPr>
        <p:spPr>
          <a:xfrm>
            <a:off x="0" y="0"/>
            <a:ext cx="5715000" cy="6858000"/>
          </a:xfrm>
          <a:prstGeom prst="rect">
            <a:avLst/>
          </a:prstGeom>
          <a:ln w="0">
            <a:noFill/>
          </a:ln>
        </p:spPr>
        <p:txBody>
          <a:bodyPr/>
          <a:lstStyle/>
          <a:p>
            <a:endParaRPr lang="en-US"/>
          </a:p>
        </p:txBody>
      </p:sp>
      <p:sp>
        <p:nvSpPr>
          <p:cNvPr id="3" name="Rectangle 2">
            <a:extLst>
              <a:ext uri="{FF2B5EF4-FFF2-40B4-BE49-F238E27FC236}">
                <a16:creationId xmlns:a16="http://schemas.microsoft.com/office/drawing/2014/main" id="{C39D7AF0-57A4-411C-8764-810918B25C4F}"/>
              </a:ext>
            </a:extLst>
          </p:cNvPr>
          <p:cNvSpPr>
            <a:spLocks noGrp="1"/>
          </p:cNvSpPr>
          <p:nvPr/>
        </p:nvSpPr>
        <p:spPr>
          <a:xfrm>
            <a:off x="647700" y="914400"/>
            <a:ext cx="5295900" cy="1143000"/>
          </a:xfrm>
          <a:prstGeom prst="rect">
            <a:avLst/>
          </a:prstGeom>
          <a:noFill/>
          <a:ln w="0">
            <a:noFill/>
          </a:ln>
        </p:spPr>
        <p:txBody>
          <a:bodyPr>
            <a:normAutofit fontScale="54500" lnSpcReduction="20000"/>
          </a:bodyPr>
          <a:lstStyle/>
          <a:p>
            <a:pPr>
              <a:defRPr sz="3750" b="1">
                <a:solidFill>
                  <a:srgbClr val="FFFFFF"/>
                </a:solidFill>
                <a:latin typeface="Aptos"/>
                <a:ea typeface="Aptos"/>
                <a:cs typeface="Aptos"/>
              </a:defRPr>
            </a:pPr>
            <a:r>
              <a:rPr sz="3750" b="1" dirty="0">
                <a:solidFill>
                  <a:srgbClr val="FFFFFF"/>
                </a:solidFill>
                <a:latin typeface="Aptos"/>
                <a:ea typeface="Aptos"/>
                <a:cs typeface="Aptos"/>
              </a:rPr>
              <a:t>Testing Hubble's Law</a:t>
            </a:r>
            <a:r>
              <a:rPr lang="en-US" sz="3750" b="1" dirty="0">
                <a:solidFill>
                  <a:srgbClr val="FFFFFF"/>
                </a:solidFill>
                <a:latin typeface="Aptos"/>
                <a:ea typeface="Aptos"/>
                <a:cs typeface="Aptos"/>
              </a:rPr>
              <a:t>:</a:t>
            </a:r>
          </a:p>
          <a:p>
            <a:pPr>
              <a:defRPr sz="3750" b="1">
                <a:solidFill>
                  <a:srgbClr val="FFFFFF"/>
                </a:solidFill>
                <a:latin typeface="Aptos"/>
                <a:ea typeface="Aptos"/>
                <a:cs typeface="Aptos"/>
              </a:defRPr>
            </a:pPr>
            <a:r>
              <a:rPr lang="en-US" sz="3750" dirty="0">
                <a:solidFill>
                  <a:srgbClr val="FFFFFF"/>
                </a:solidFill>
                <a:latin typeface="Aptos"/>
              </a:rPr>
              <a:t>Measuring Cosmic Expansion: Galaxy Redshifts with a High-Resolution Spectroscope</a:t>
            </a:r>
          </a:p>
          <a:p>
            <a:pPr>
              <a:defRPr sz="3750" b="1">
                <a:solidFill>
                  <a:srgbClr val="FFFFFF"/>
                </a:solidFill>
                <a:latin typeface="Aptos"/>
                <a:ea typeface="Aptos"/>
                <a:cs typeface="Aptos"/>
              </a:defRPr>
            </a:pPr>
            <a:endParaRPr sz="3750" b="1" dirty="0">
              <a:solidFill>
                <a:srgbClr val="FFFFFF"/>
              </a:solidFill>
              <a:latin typeface="Aptos"/>
              <a:ea typeface="Aptos"/>
              <a:cs typeface="Aptos"/>
            </a:endParaRPr>
          </a:p>
        </p:txBody>
      </p:sp>
      <p:sp>
        <p:nvSpPr>
          <p:cNvPr id="4" name="Rectangle 3">
            <a:extLst>
              <a:ext uri="{FF2B5EF4-FFF2-40B4-BE49-F238E27FC236}">
                <a16:creationId xmlns:a16="http://schemas.microsoft.com/office/drawing/2014/main" id="{928A5160-3F8F-44BA-94F5-5B10C4AC19CF}"/>
              </a:ext>
            </a:extLst>
          </p:cNvPr>
          <p:cNvSpPr>
            <a:spLocks noGrp="1"/>
          </p:cNvSpPr>
          <p:nvPr/>
        </p:nvSpPr>
        <p:spPr>
          <a:xfrm>
            <a:off x="685800" y="2247899"/>
            <a:ext cx="5791202" cy="1888165"/>
          </a:xfrm>
          <a:prstGeom prst="rect">
            <a:avLst/>
          </a:prstGeom>
          <a:noFill/>
          <a:ln w="0">
            <a:noFill/>
          </a:ln>
        </p:spPr>
        <p:txBody>
          <a:bodyPr>
            <a:normAutofit fontScale="99242"/>
          </a:bodyPr>
          <a:lstStyle/>
          <a:p>
            <a:pPr>
              <a:defRPr sz="1650" b="0">
                <a:solidFill>
                  <a:srgbClr val="DDE8EF"/>
                </a:solidFill>
                <a:latin typeface="Aptos"/>
                <a:ea typeface="Aptos"/>
                <a:cs typeface="Aptos"/>
              </a:defRPr>
            </a:pPr>
            <a:r>
              <a:rPr sz="1650" b="0" dirty="0">
                <a:solidFill>
                  <a:srgbClr val="DDE8EF"/>
                </a:solidFill>
                <a:latin typeface="Aptos"/>
                <a:ea typeface="Aptos"/>
                <a:cs typeface="Aptos"/>
              </a:rPr>
              <a:t>Science fair project plan, September 2026 to March 2027</a:t>
            </a:r>
            <a:endParaRPr lang="en-US" sz="1650" b="0" dirty="0">
              <a:solidFill>
                <a:srgbClr val="DDE8EF"/>
              </a:solidFill>
              <a:latin typeface="Aptos"/>
              <a:ea typeface="Aptos"/>
              <a:cs typeface="Aptos"/>
            </a:endParaRPr>
          </a:p>
          <a:p>
            <a:pPr>
              <a:defRPr sz="1650" b="0">
                <a:solidFill>
                  <a:srgbClr val="DDE8EF"/>
                </a:solidFill>
                <a:latin typeface="Aptos"/>
                <a:ea typeface="Aptos"/>
                <a:cs typeface="Aptos"/>
              </a:defRPr>
            </a:pPr>
            <a:r>
              <a:rPr lang="en-US" sz="1650" dirty="0">
                <a:solidFill>
                  <a:srgbClr val="DDE8EF"/>
                </a:solidFill>
                <a:latin typeface="Aptos"/>
                <a:ea typeface="Aptos"/>
                <a:cs typeface="Aptos"/>
              </a:rPr>
              <a:t>Shlok Jain</a:t>
            </a:r>
          </a:p>
          <a:p>
            <a:pPr>
              <a:defRPr sz="1650" b="0">
                <a:solidFill>
                  <a:srgbClr val="DDE8EF"/>
                </a:solidFill>
                <a:latin typeface="Aptos"/>
                <a:ea typeface="Aptos"/>
                <a:cs typeface="Aptos"/>
              </a:defRPr>
            </a:pPr>
            <a:r>
              <a:rPr lang="en-US" sz="1650" b="0" dirty="0">
                <a:solidFill>
                  <a:srgbClr val="DDE8EF"/>
                </a:solidFill>
                <a:latin typeface="Aptos"/>
                <a:ea typeface="Aptos"/>
                <a:cs typeface="Aptos"/>
              </a:rPr>
              <a:t>Keya </a:t>
            </a:r>
            <a:r>
              <a:rPr lang="en-US" sz="1650" b="0" dirty="0" err="1">
                <a:solidFill>
                  <a:srgbClr val="DDE8EF"/>
                </a:solidFill>
                <a:latin typeface="Aptos"/>
                <a:ea typeface="Aptos"/>
                <a:cs typeface="Aptos"/>
              </a:rPr>
              <a:t>Attre</a:t>
            </a:r>
            <a:endParaRPr lang="en-US" sz="1650" b="0" dirty="0">
              <a:solidFill>
                <a:srgbClr val="DDE8EF"/>
              </a:solidFill>
              <a:latin typeface="Aptos"/>
              <a:ea typeface="Aptos"/>
              <a:cs typeface="Aptos"/>
            </a:endParaRPr>
          </a:p>
          <a:p>
            <a:pPr>
              <a:defRPr sz="1650" b="0">
                <a:solidFill>
                  <a:srgbClr val="DDE8EF"/>
                </a:solidFill>
                <a:latin typeface="Aptos"/>
                <a:ea typeface="Aptos"/>
                <a:cs typeface="Aptos"/>
              </a:defRPr>
            </a:pPr>
            <a:r>
              <a:rPr lang="en-US" sz="1650" dirty="0">
                <a:solidFill>
                  <a:srgbClr val="DDE8EF"/>
                </a:solidFill>
                <a:latin typeface="Aptos"/>
                <a:ea typeface="Aptos"/>
                <a:cs typeface="Aptos"/>
              </a:rPr>
              <a:t>Anushka Prasad</a:t>
            </a:r>
            <a:endParaRPr sz="1650" b="0" dirty="0">
              <a:solidFill>
                <a:srgbClr val="DDE8EF"/>
              </a:solidFill>
              <a:latin typeface="Aptos"/>
              <a:ea typeface="Aptos"/>
              <a:cs typeface="Aptos"/>
            </a:endParaRPr>
          </a:p>
        </p:txBody>
      </p:sp>
      <p:sp>
        <p:nvSpPr>
          <p:cNvPr id="5" name="Rectangle 4">
            <a:extLst>
              <a:ext uri="{FF2B5EF4-FFF2-40B4-BE49-F238E27FC236}">
                <a16:creationId xmlns:a16="http://schemas.microsoft.com/office/drawing/2014/main" id="{24F5F8C6-0FCE-45CF-B528-79B01F7421EF}"/>
              </a:ext>
            </a:extLst>
          </p:cNvPr>
          <p:cNvSpPr>
            <a:spLocks noGrp="1"/>
          </p:cNvSpPr>
          <p:nvPr/>
        </p:nvSpPr>
        <p:spPr>
          <a:xfrm>
            <a:off x="685800" y="5695950"/>
            <a:ext cx="4762500" cy="457200"/>
          </a:xfrm>
          <a:prstGeom prst="rect">
            <a:avLst/>
          </a:prstGeom>
          <a:noFill/>
          <a:ln w="0">
            <a:noFill/>
          </a:ln>
        </p:spPr>
        <p:txBody>
          <a:bodyPr>
            <a:normAutofit fontScale="96389" lnSpcReduction="10000"/>
          </a:bodyPr>
          <a:lstStyle/>
          <a:p>
            <a:pPr>
              <a:defRPr sz="1350" b="0">
                <a:solidFill>
                  <a:srgbClr val="F2C16D"/>
                </a:solidFill>
                <a:latin typeface="Aptos"/>
                <a:ea typeface="Aptos"/>
                <a:cs typeface="Aptos"/>
              </a:defRPr>
            </a:pPr>
            <a:r>
              <a:rPr sz="1350" b="0">
                <a:solidFill>
                  <a:srgbClr val="F2C16D"/>
                </a:solidFill>
                <a:latin typeface="Aptos"/>
                <a:ea typeface="Aptos"/>
                <a:cs typeface="Aptos"/>
              </a:rPr>
              <a:t>Team goal: measure galaxy redshifts and compare them with distance</a:t>
            </a:r>
          </a:p>
        </p:txBody>
      </p:sp>
    </p:spTree>
    <p:extLst>
      <p:ext uri="{BB962C8B-B14F-4D97-AF65-F5344CB8AC3E}">
        <p14:creationId xmlns:p14="http://schemas.microsoft.com/office/powerpoint/2010/main" val="354580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81D263E-032C-4678-88C5-D655B792A483}"/>
              </a:ext>
            </a:extLst>
          </p:cNvPr>
          <p:cNvSpPr>
            <a:spLocks noGrp="1"/>
          </p:cNvSpPr>
          <p:nvPr/>
        </p:nvSpPr>
        <p:spPr>
          <a:xfrm>
            <a:off x="685800" y="419100"/>
            <a:ext cx="8191500" cy="495300"/>
          </a:xfrm>
          <a:prstGeom prst="rect">
            <a:avLst/>
          </a:prstGeom>
          <a:noFill/>
          <a:ln w="0">
            <a:noFill/>
          </a:ln>
        </p:spPr>
        <p:txBody>
          <a:bodyPr>
            <a:normAutofit/>
          </a:bodyPr>
          <a:lstStyle/>
          <a:p>
            <a:pPr>
              <a:defRPr sz="2625" b="1">
                <a:solidFill>
                  <a:srgbClr val="202124"/>
                </a:solidFill>
                <a:latin typeface="Aptos"/>
                <a:ea typeface="Aptos"/>
                <a:cs typeface="Aptos"/>
              </a:defRPr>
            </a:pPr>
            <a:r>
              <a:rPr sz="2625" b="1">
                <a:solidFill>
                  <a:srgbClr val="202124"/>
                </a:solidFill>
                <a:latin typeface="Aptos"/>
                <a:ea typeface="Aptos"/>
                <a:cs typeface="Aptos"/>
              </a:rPr>
              <a:t>Project agenda</a:t>
            </a:r>
          </a:p>
        </p:txBody>
      </p:sp>
      <p:sp>
        <p:nvSpPr>
          <p:cNvPr id="2" name="Rectangle 1">
            <a:extLst>
              <a:ext uri="{FF2B5EF4-FFF2-40B4-BE49-F238E27FC236}">
                <a16:creationId xmlns:a16="http://schemas.microsoft.com/office/drawing/2014/main" id="{9CF88752-D6C7-4657-B931-16D1ECFF9077}"/>
              </a:ext>
            </a:extLst>
          </p:cNvPr>
          <p:cNvSpPr>
            <a:spLocks noGrp="1"/>
          </p:cNvSpPr>
          <p:nvPr/>
        </p:nvSpPr>
        <p:spPr>
          <a:xfrm>
            <a:off x="685800" y="914400"/>
            <a:ext cx="9144000" cy="400050"/>
          </a:xfrm>
          <a:prstGeom prst="rect">
            <a:avLst/>
          </a:prstGeom>
          <a:noFill/>
          <a:ln w="0">
            <a:noFill/>
          </a:ln>
        </p:spPr>
        <p:txBody>
          <a:bodyPr>
            <a:normAutofit/>
          </a:bodyPr>
          <a:lstStyle/>
          <a:p>
            <a:pPr>
              <a:defRPr sz="1425" b="0">
                <a:solidFill>
                  <a:srgbClr val="5F6368"/>
                </a:solidFill>
                <a:latin typeface="Aptos"/>
                <a:ea typeface="Aptos"/>
                <a:cs typeface="Aptos"/>
              </a:defRPr>
            </a:pPr>
            <a:r>
              <a:rPr sz="1425" b="0">
                <a:solidFill>
                  <a:srgbClr val="5F6368"/>
                </a:solidFill>
                <a:latin typeface="Aptos"/>
                <a:ea typeface="Aptos"/>
                <a:cs typeface="Aptos"/>
              </a:rPr>
              <a:t>The team connects spectra, redshift and galaxy distance</a:t>
            </a:r>
          </a:p>
        </p:txBody>
      </p:sp>
      <p:sp>
        <p:nvSpPr>
          <p:cNvPr id="3" name="Rectangle 2">
            <a:extLst>
              <a:ext uri="{FF2B5EF4-FFF2-40B4-BE49-F238E27FC236}">
                <a16:creationId xmlns:a16="http://schemas.microsoft.com/office/drawing/2014/main" id="{F5922808-1822-4375-90DD-7561955DEFC7}"/>
              </a:ext>
            </a:extLst>
          </p:cNvPr>
          <p:cNvSpPr>
            <a:spLocks noGrp="1"/>
          </p:cNvSpPr>
          <p:nvPr/>
        </p:nvSpPr>
        <p:spPr>
          <a:xfrm>
            <a:off x="685800" y="1409700"/>
            <a:ext cx="10820400" cy="19050"/>
          </a:xfrm>
          <a:prstGeom prst="rect">
            <a:avLst/>
          </a:prstGeom>
          <a:solidFill>
            <a:srgbClr val="D9DEE5"/>
          </a:solidFill>
          <a:ln w="0">
            <a:noFill/>
          </a:ln>
        </p:spPr>
        <p:txBody>
          <a:bodyPr/>
          <a:lstStyle/>
          <a:p>
            <a:endParaRPr lang="en-US"/>
          </a:p>
        </p:txBody>
      </p:sp>
      <p:sp>
        <p:nvSpPr>
          <p:cNvPr id="4" name="Oval 3">
            <a:extLst>
              <a:ext uri="{FF2B5EF4-FFF2-40B4-BE49-F238E27FC236}">
                <a16:creationId xmlns:a16="http://schemas.microsoft.com/office/drawing/2014/main" id="{4F2B3140-BDDF-40C9-A864-9446974D05FE}"/>
              </a:ext>
            </a:extLst>
          </p:cNvPr>
          <p:cNvSpPr>
            <a:spLocks noGrp="1"/>
          </p:cNvSpPr>
          <p:nvPr/>
        </p:nvSpPr>
        <p:spPr>
          <a:xfrm>
            <a:off x="895350" y="1905000"/>
            <a:ext cx="85725" cy="85725"/>
          </a:xfrm>
          <a:prstGeom prst="ellipse">
            <a:avLst/>
          </a:prstGeom>
          <a:solidFill>
            <a:srgbClr val="B84A3A"/>
          </a:solidFill>
          <a:ln w="0">
            <a:noFill/>
          </a:ln>
        </p:spPr>
        <p:txBody>
          <a:bodyPr/>
          <a:lstStyle/>
          <a:p>
            <a:endParaRPr lang="en-US"/>
          </a:p>
        </p:txBody>
      </p:sp>
      <p:sp>
        <p:nvSpPr>
          <p:cNvPr id="5" name="Rectangle 4">
            <a:extLst>
              <a:ext uri="{FF2B5EF4-FFF2-40B4-BE49-F238E27FC236}">
                <a16:creationId xmlns:a16="http://schemas.microsoft.com/office/drawing/2014/main" id="{E06AF1F7-CEC7-482A-930C-8BD5E554D54E}"/>
              </a:ext>
            </a:extLst>
          </p:cNvPr>
          <p:cNvSpPr>
            <a:spLocks noGrp="1"/>
          </p:cNvSpPr>
          <p:nvPr/>
        </p:nvSpPr>
        <p:spPr>
          <a:xfrm>
            <a:off x="1104900" y="1809750"/>
            <a:ext cx="9601200" cy="381000"/>
          </a:xfrm>
          <a:prstGeom prst="rect">
            <a:avLst/>
          </a:prstGeom>
          <a:noFill/>
          <a:ln w="0">
            <a:noFill/>
          </a:ln>
        </p:spPr>
        <p:txBody>
          <a:bodyPr>
            <a:normAutofit/>
          </a:bodyPr>
          <a:lstStyle/>
          <a:p>
            <a:pPr>
              <a:defRPr sz="1575" b="0">
                <a:solidFill>
                  <a:srgbClr val="202124"/>
                </a:solidFill>
                <a:latin typeface="Aptos"/>
                <a:ea typeface="Aptos"/>
                <a:cs typeface="Aptos"/>
              </a:defRPr>
            </a:pPr>
            <a:r>
              <a:rPr sz="1575" b="0">
                <a:solidFill>
                  <a:srgbClr val="202124"/>
                </a:solidFill>
                <a:latin typeface="Aptos"/>
                <a:ea typeface="Aptos"/>
                <a:cs typeface="Aptos"/>
              </a:rPr>
              <a:t>Learn how spectra encode wavelength information</a:t>
            </a:r>
          </a:p>
        </p:txBody>
      </p:sp>
      <p:sp>
        <p:nvSpPr>
          <p:cNvPr id="6" name="Oval 5">
            <a:extLst>
              <a:ext uri="{FF2B5EF4-FFF2-40B4-BE49-F238E27FC236}">
                <a16:creationId xmlns:a16="http://schemas.microsoft.com/office/drawing/2014/main" id="{C7DD6B82-A018-4235-95FB-DD718C86882B}"/>
              </a:ext>
            </a:extLst>
          </p:cNvPr>
          <p:cNvSpPr>
            <a:spLocks noGrp="1"/>
          </p:cNvSpPr>
          <p:nvPr/>
        </p:nvSpPr>
        <p:spPr>
          <a:xfrm>
            <a:off x="895350" y="2305050"/>
            <a:ext cx="85725" cy="85725"/>
          </a:xfrm>
          <a:prstGeom prst="ellipse">
            <a:avLst/>
          </a:prstGeom>
          <a:solidFill>
            <a:srgbClr val="B84A3A"/>
          </a:solidFill>
          <a:ln w="0">
            <a:noFill/>
          </a:ln>
        </p:spPr>
        <p:txBody>
          <a:bodyPr/>
          <a:lstStyle/>
          <a:p>
            <a:endParaRPr lang="en-US"/>
          </a:p>
        </p:txBody>
      </p:sp>
      <p:sp>
        <p:nvSpPr>
          <p:cNvPr id="7" name="Rectangle 6">
            <a:extLst>
              <a:ext uri="{FF2B5EF4-FFF2-40B4-BE49-F238E27FC236}">
                <a16:creationId xmlns:a16="http://schemas.microsoft.com/office/drawing/2014/main" id="{5871BA18-75C0-48F3-A6D8-F4E7DE5B1ADA}"/>
              </a:ext>
            </a:extLst>
          </p:cNvPr>
          <p:cNvSpPr>
            <a:spLocks noGrp="1"/>
          </p:cNvSpPr>
          <p:nvPr/>
        </p:nvSpPr>
        <p:spPr>
          <a:xfrm>
            <a:off x="1104900" y="2209800"/>
            <a:ext cx="9601200" cy="381000"/>
          </a:xfrm>
          <a:prstGeom prst="rect">
            <a:avLst/>
          </a:prstGeom>
          <a:noFill/>
          <a:ln w="0">
            <a:noFill/>
          </a:ln>
        </p:spPr>
        <p:txBody>
          <a:bodyPr>
            <a:normAutofit/>
          </a:bodyPr>
          <a:lstStyle/>
          <a:p>
            <a:pPr>
              <a:defRPr sz="1575" b="0">
                <a:solidFill>
                  <a:srgbClr val="202124"/>
                </a:solidFill>
                <a:latin typeface="Aptos"/>
                <a:ea typeface="Aptos"/>
                <a:cs typeface="Aptos"/>
              </a:defRPr>
            </a:pPr>
            <a:r>
              <a:rPr sz="1575" b="0">
                <a:solidFill>
                  <a:srgbClr val="202124"/>
                </a:solidFill>
                <a:latin typeface="Aptos"/>
                <a:ea typeface="Aptos"/>
                <a:cs typeface="Aptos"/>
              </a:rPr>
              <a:t>Calibrate the spectroscope with known lines</a:t>
            </a:r>
          </a:p>
        </p:txBody>
      </p:sp>
      <p:sp>
        <p:nvSpPr>
          <p:cNvPr id="8" name="Oval 7">
            <a:extLst>
              <a:ext uri="{FF2B5EF4-FFF2-40B4-BE49-F238E27FC236}">
                <a16:creationId xmlns:a16="http://schemas.microsoft.com/office/drawing/2014/main" id="{1F3B5DD5-27B3-4476-904B-1501B6135117}"/>
              </a:ext>
            </a:extLst>
          </p:cNvPr>
          <p:cNvSpPr>
            <a:spLocks noGrp="1"/>
          </p:cNvSpPr>
          <p:nvPr/>
        </p:nvSpPr>
        <p:spPr>
          <a:xfrm>
            <a:off x="895350" y="2705100"/>
            <a:ext cx="85725" cy="85725"/>
          </a:xfrm>
          <a:prstGeom prst="ellipse">
            <a:avLst/>
          </a:prstGeom>
          <a:solidFill>
            <a:srgbClr val="B84A3A"/>
          </a:solidFill>
          <a:ln w="0">
            <a:noFill/>
          </a:ln>
        </p:spPr>
        <p:txBody>
          <a:bodyPr/>
          <a:lstStyle/>
          <a:p>
            <a:endParaRPr lang="en-US"/>
          </a:p>
        </p:txBody>
      </p:sp>
      <p:sp>
        <p:nvSpPr>
          <p:cNvPr id="9" name="Rectangle 8">
            <a:extLst>
              <a:ext uri="{FF2B5EF4-FFF2-40B4-BE49-F238E27FC236}">
                <a16:creationId xmlns:a16="http://schemas.microsoft.com/office/drawing/2014/main" id="{E3D86A31-FAD9-44B0-AB9E-3C0DBD3F0EC1}"/>
              </a:ext>
            </a:extLst>
          </p:cNvPr>
          <p:cNvSpPr>
            <a:spLocks noGrp="1"/>
          </p:cNvSpPr>
          <p:nvPr/>
        </p:nvSpPr>
        <p:spPr>
          <a:xfrm>
            <a:off x="1104900" y="2609850"/>
            <a:ext cx="9601200" cy="381000"/>
          </a:xfrm>
          <a:prstGeom prst="rect">
            <a:avLst/>
          </a:prstGeom>
          <a:noFill/>
          <a:ln w="0">
            <a:noFill/>
          </a:ln>
        </p:spPr>
        <p:txBody>
          <a:bodyPr>
            <a:normAutofit/>
          </a:bodyPr>
          <a:lstStyle/>
          <a:p>
            <a:pPr>
              <a:defRPr sz="1575" b="0">
                <a:solidFill>
                  <a:srgbClr val="202124"/>
                </a:solidFill>
                <a:latin typeface="Aptos"/>
                <a:ea typeface="Aptos"/>
                <a:cs typeface="Aptos"/>
              </a:defRPr>
            </a:pPr>
            <a:r>
              <a:rPr sz="1575" b="0">
                <a:solidFill>
                  <a:srgbClr val="202124"/>
                </a:solidFill>
                <a:latin typeface="Aptos"/>
                <a:ea typeface="Aptos"/>
                <a:cs typeface="Aptos"/>
              </a:rPr>
              <a:t>Measure redshift from galaxy spectra</a:t>
            </a:r>
          </a:p>
        </p:txBody>
      </p:sp>
      <p:sp>
        <p:nvSpPr>
          <p:cNvPr id="10" name="Oval 9">
            <a:extLst>
              <a:ext uri="{FF2B5EF4-FFF2-40B4-BE49-F238E27FC236}">
                <a16:creationId xmlns:a16="http://schemas.microsoft.com/office/drawing/2014/main" id="{5A57DE4B-BD02-4097-AEF4-ACADA50FA8B2}"/>
              </a:ext>
            </a:extLst>
          </p:cNvPr>
          <p:cNvSpPr>
            <a:spLocks noGrp="1"/>
          </p:cNvSpPr>
          <p:nvPr/>
        </p:nvSpPr>
        <p:spPr>
          <a:xfrm>
            <a:off x="895350" y="3105150"/>
            <a:ext cx="85725" cy="85725"/>
          </a:xfrm>
          <a:prstGeom prst="ellipse">
            <a:avLst/>
          </a:prstGeom>
          <a:solidFill>
            <a:srgbClr val="B84A3A"/>
          </a:solidFill>
          <a:ln w="0">
            <a:noFill/>
          </a:ln>
        </p:spPr>
        <p:txBody>
          <a:bodyPr/>
          <a:lstStyle/>
          <a:p>
            <a:endParaRPr lang="en-US"/>
          </a:p>
        </p:txBody>
      </p:sp>
      <p:sp>
        <p:nvSpPr>
          <p:cNvPr id="11" name="Rectangle 10">
            <a:extLst>
              <a:ext uri="{FF2B5EF4-FFF2-40B4-BE49-F238E27FC236}">
                <a16:creationId xmlns:a16="http://schemas.microsoft.com/office/drawing/2014/main" id="{A4BD7889-7D86-47DE-B38C-1BA004D76AAA}"/>
              </a:ext>
            </a:extLst>
          </p:cNvPr>
          <p:cNvSpPr>
            <a:spLocks noGrp="1"/>
          </p:cNvSpPr>
          <p:nvPr/>
        </p:nvSpPr>
        <p:spPr>
          <a:xfrm>
            <a:off x="1104900" y="3009900"/>
            <a:ext cx="9601200" cy="381000"/>
          </a:xfrm>
          <a:prstGeom prst="rect">
            <a:avLst/>
          </a:prstGeom>
          <a:noFill/>
          <a:ln w="0">
            <a:noFill/>
          </a:ln>
        </p:spPr>
        <p:txBody>
          <a:bodyPr>
            <a:normAutofit/>
          </a:bodyPr>
          <a:lstStyle/>
          <a:p>
            <a:pPr>
              <a:defRPr sz="1575" b="0">
                <a:solidFill>
                  <a:srgbClr val="202124"/>
                </a:solidFill>
                <a:latin typeface="Aptos"/>
                <a:ea typeface="Aptos"/>
                <a:cs typeface="Aptos"/>
              </a:defRPr>
            </a:pPr>
            <a:r>
              <a:rPr sz="1575" b="0">
                <a:solidFill>
                  <a:srgbClr val="202124"/>
                </a:solidFill>
                <a:latin typeface="Aptos"/>
                <a:ea typeface="Aptos"/>
                <a:cs typeface="Aptos"/>
              </a:rPr>
              <a:t>Convert redshift into recession velocity</a:t>
            </a:r>
          </a:p>
        </p:txBody>
      </p:sp>
      <p:sp>
        <p:nvSpPr>
          <p:cNvPr id="12" name="Oval 11">
            <a:extLst>
              <a:ext uri="{FF2B5EF4-FFF2-40B4-BE49-F238E27FC236}">
                <a16:creationId xmlns:a16="http://schemas.microsoft.com/office/drawing/2014/main" id="{22DA9BC5-9D70-439B-863D-3E2485620B4F}"/>
              </a:ext>
            </a:extLst>
          </p:cNvPr>
          <p:cNvSpPr>
            <a:spLocks noGrp="1"/>
          </p:cNvSpPr>
          <p:nvPr/>
        </p:nvSpPr>
        <p:spPr>
          <a:xfrm>
            <a:off x="895350" y="3505200"/>
            <a:ext cx="85725" cy="85725"/>
          </a:xfrm>
          <a:prstGeom prst="ellipse">
            <a:avLst/>
          </a:prstGeom>
          <a:solidFill>
            <a:srgbClr val="B84A3A"/>
          </a:solidFill>
          <a:ln w="0">
            <a:noFill/>
          </a:ln>
        </p:spPr>
        <p:txBody>
          <a:bodyPr/>
          <a:lstStyle/>
          <a:p>
            <a:endParaRPr lang="en-US"/>
          </a:p>
        </p:txBody>
      </p:sp>
      <p:sp>
        <p:nvSpPr>
          <p:cNvPr id="13" name="Rectangle 12">
            <a:extLst>
              <a:ext uri="{FF2B5EF4-FFF2-40B4-BE49-F238E27FC236}">
                <a16:creationId xmlns:a16="http://schemas.microsoft.com/office/drawing/2014/main" id="{6ED60C6C-6FD0-4CA6-B382-C97FF9C4F620}"/>
              </a:ext>
            </a:extLst>
          </p:cNvPr>
          <p:cNvSpPr>
            <a:spLocks noGrp="1"/>
          </p:cNvSpPr>
          <p:nvPr/>
        </p:nvSpPr>
        <p:spPr>
          <a:xfrm>
            <a:off x="1104900" y="3409950"/>
            <a:ext cx="9601200" cy="381000"/>
          </a:xfrm>
          <a:prstGeom prst="rect">
            <a:avLst/>
          </a:prstGeom>
          <a:noFill/>
          <a:ln w="0">
            <a:noFill/>
          </a:ln>
        </p:spPr>
        <p:txBody>
          <a:bodyPr>
            <a:normAutofit/>
          </a:bodyPr>
          <a:lstStyle/>
          <a:p>
            <a:pPr>
              <a:defRPr sz="1575" b="0">
                <a:solidFill>
                  <a:srgbClr val="202124"/>
                </a:solidFill>
                <a:latin typeface="Aptos"/>
                <a:ea typeface="Aptos"/>
                <a:cs typeface="Aptos"/>
              </a:defRPr>
            </a:pPr>
            <a:r>
              <a:rPr sz="1575" b="0">
                <a:solidFill>
                  <a:srgbClr val="202124"/>
                </a:solidFill>
                <a:latin typeface="Aptos"/>
                <a:ea typeface="Aptos"/>
                <a:cs typeface="Aptos"/>
              </a:rPr>
              <a:t>Plot velocity against distance and interpret the trend</a:t>
            </a:r>
          </a:p>
        </p:txBody>
      </p:sp>
      <p:sp>
        <p:nvSpPr>
          <p:cNvPr id="14" name="Rectangle 13">
            <a:extLst>
              <a:ext uri="{FF2B5EF4-FFF2-40B4-BE49-F238E27FC236}">
                <a16:creationId xmlns:a16="http://schemas.microsoft.com/office/drawing/2014/main" id="{39A9582C-E676-4E59-886D-E1ED4F3EB8E1}"/>
              </a:ext>
            </a:extLst>
          </p:cNvPr>
          <p:cNvSpPr>
            <a:spLocks noGrp="1"/>
          </p:cNvSpPr>
          <p:nvPr/>
        </p:nvSpPr>
        <p:spPr>
          <a:xfrm>
            <a:off x="685800" y="6438900"/>
            <a:ext cx="4762500" cy="228600"/>
          </a:xfrm>
          <a:prstGeom prst="rect">
            <a:avLst/>
          </a:prstGeom>
          <a:noFill/>
          <a:ln w="0">
            <a:noFill/>
          </a:ln>
        </p:spPr>
        <p:txBody>
          <a:bodyPr>
            <a:normAutofit/>
          </a:bodyPr>
          <a:lstStyle/>
          <a:p>
            <a:pPr>
              <a:defRPr sz="900" b="0">
                <a:solidFill>
                  <a:srgbClr val="5F6368"/>
                </a:solidFill>
                <a:latin typeface="Aptos"/>
                <a:ea typeface="Aptos"/>
                <a:cs typeface="Aptos"/>
              </a:defRPr>
            </a:pPr>
            <a:r>
              <a:rPr sz="900" b="0">
                <a:solidFill>
                  <a:srgbClr val="5F6368"/>
                </a:solidFill>
                <a:latin typeface="Aptos"/>
                <a:ea typeface="Aptos"/>
                <a:cs typeface="Aptos"/>
              </a:rPr>
              <a:t>Hubble's Law spectroscopy</a:t>
            </a:r>
          </a:p>
        </p:txBody>
      </p:sp>
      <p:sp>
        <p:nvSpPr>
          <p:cNvPr id="15" name="Rectangle 14">
            <a:extLst>
              <a:ext uri="{FF2B5EF4-FFF2-40B4-BE49-F238E27FC236}">
                <a16:creationId xmlns:a16="http://schemas.microsoft.com/office/drawing/2014/main" id="{E3DE8EDA-4AB9-4202-A559-715CDC89C851}"/>
              </a:ext>
            </a:extLst>
          </p:cNvPr>
          <p:cNvSpPr>
            <a:spLocks noGrp="1"/>
          </p:cNvSpPr>
          <p:nvPr/>
        </p:nvSpPr>
        <p:spPr>
          <a:xfrm>
            <a:off x="11125200" y="6438900"/>
            <a:ext cx="381000" cy="228600"/>
          </a:xfrm>
          <a:prstGeom prst="rect">
            <a:avLst/>
          </a:prstGeom>
          <a:noFill/>
          <a:ln w="0">
            <a:noFill/>
          </a:ln>
        </p:spPr>
        <p:txBody>
          <a:bodyPr>
            <a:normAutofit fontScale="57500" lnSpcReduction="20000"/>
          </a:bodyPr>
          <a:lstStyle/>
          <a:p>
            <a:pPr>
              <a:defRPr sz="900" b="0">
                <a:solidFill>
                  <a:srgbClr val="5F6368"/>
                </a:solidFill>
                <a:latin typeface="Aptos"/>
                <a:ea typeface="Aptos"/>
                <a:cs typeface="Aptos"/>
              </a:defRPr>
            </a:pPr>
            <a:r>
              <a:rPr sz="900" b="0">
                <a:solidFill>
                  <a:srgbClr val="5F6368"/>
                </a:solidFill>
                <a:latin typeface="Aptos"/>
                <a:ea typeface="Aptos"/>
                <a:cs typeface="Aptos"/>
              </a:rPr>
              <a:t>undefined</a:t>
            </a:r>
          </a:p>
        </p:txBody>
      </p:sp>
      <p:pic>
        <p:nvPicPr>
          <p:cNvPr id="17" name="Picture 16">
            <a:extLst>
              <a:ext uri="{FF2B5EF4-FFF2-40B4-BE49-F238E27FC236}">
                <a16:creationId xmlns:a16="http://schemas.microsoft.com/office/drawing/2014/main" id="{664CAD48-BD46-F30B-6035-EC95BA83154F}"/>
              </a:ext>
            </a:extLst>
          </p:cNvPr>
          <p:cNvPicPr>
            <a:picLocks noChangeAspect="1"/>
          </p:cNvPicPr>
          <p:nvPr/>
        </p:nvPicPr>
        <p:blipFill>
          <a:blip r:embed="rId3"/>
          <a:stretch>
            <a:fillRect/>
          </a:stretch>
        </p:blipFill>
        <p:spPr>
          <a:xfrm>
            <a:off x="6508159" y="1428750"/>
            <a:ext cx="4321766" cy="5023677"/>
          </a:xfrm>
          <a:prstGeom prst="rect">
            <a:avLst/>
          </a:prstGeom>
        </p:spPr>
      </p:pic>
    </p:spTree>
    <p:extLst>
      <p:ext uri="{BB962C8B-B14F-4D97-AF65-F5344CB8AC3E}">
        <p14:creationId xmlns:p14="http://schemas.microsoft.com/office/powerpoint/2010/main" val="839259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7DC5E67-1ABD-49FB-B6D3-675B40A738BF}"/>
              </a:ext>
            </a:extLst>
          </p:cNvPr>
          <p:cNvSpPr>
            <a:spLocks noGrp="1"/>
          </p:cNvSpPr>
          <p:nvPr/>
        </p:nvSpPr>
        <p:spPr>
          <a:xfrm>
            <a:off x="685800" y="419100"/>
            <a:ext cx="8191500" cy="495300"/>
          </a:xfrm>
          <a:prstGeom prst="rect">
            <a:avLst/>
          </a:prstGeom>
          <a:noFill/>
          <a:ln w="0">
            <a:noFill/>
          </a:ln>
        </p:spPr>
        <p:txBody>
          <a:bodyPr>
            <a:normAutofit/>
          </a:bodyPr>
          <a:lstStyle/>
          <a:p>
            <a:pPr>
              <a:defRPr sz="2625" b="1">
                <a:solidFill>
                  <a:srgbClr val="202124"/>
                </a:solidFill>
                <a:latin typeface="Aptos"/>
                <a:ea typeface="Aptos"/>
                <a:cs typeface="Aptos"/>
              </a:defRPr>
            </a:pPr>
            <a:r>
              <a:rPr sz="2625" b="1">
                <a:solidFill>
                  <a:srgbClr val="202124"/>
                </a:solidFill>
                <a:latin typeface="Aptos"/>
                <a:ea typeface="Aptos"/>
                <a:cs typeface="Aptos"/>
              </a:rPr>
              <a:t>Research question</a:t>
            </a:r>
          </a:p>
        </p:txBody>
      </p:sp>
      <p:sp>
        <p:nvSpPr>
          <p:cNvPr id="2" name="Rectangle 1">
            <a:extLst>
              <a:ext uri="{FF2B5EF4-FFF2-40B4-BE49-F238E27FC236}">
                <a16:creationId xmlns:a16="http://schemas.microsoft.com/office/drawing/2014/main" id="{794EF29A-97F2-4872-B461-A726A10A3514}"/>
              </a:ext>
            </a:extLst>
          </p:cNvPr>
          <p:cNvSpPr>
            <a:spLocks noGrp="1"/>
          </p:cNvSpPr>
          <p:nvPr/>
        </p:nvSpPr>
        <p:spPr>
          <a:xfrm>
            <a:off x="685800" y="914400"/>
            <a:ext cx="9144000" cy="400050"/>
          </a:xfrm>
          <a:prstGeom prst="rect">
            <a:avLst/>
          </a:prstGeom>
          <a:noFill/>
          <a:ln w="0">
            <a:noFill/>
          </a:ln>
        </p:spPr>
        <p:txBody>
          <a:bodyPr>
            <a:normAutofit/>
          </a:bodyPr>
          <a:lstStyle/>
          <a:p>
            <a:pPr>
              <a:defRPr sz="1425" b="0">
                <a:solidFill>
                  <a:srgbClr val="5F6368"/>
                </a:solidFill>
                <a:latin typeface="Aptos"/>
                <a:ea typeface="Aptos"/>
                <a:cs typeface="Aptos"/>
              </a:defRPr>
            </a:pPr>
            <a:r>
              <a:rPr sz="1425" b="0">
                <a:solidFill>
                  <a:srgbClr val="5F6368"/>
                </a:solidFill>
                <a:latin typeface="Aptos"/>
                <a:ea typeface="Aptos"/>
                <a:cs typeface="Aptos"/>
              </a:rPr>
              <a:t>The project tests one measurable piece of cosmic expansion</a:t>
            </a:r>
          </a:p>
        </p:txBody>
      </p:sp>
      <p:sp>
        <p:nvSpPr>
          <p:cNvPr id="3" name="Rectangle 2">
            <a:extLst>
              <a:ext uri="{FF2B5EF4-FFF2-40B4-BE49-F238E27FC236}">
                <a16:creationId xmlns:a16="http://schemas.microsoft.com/office/drawing/2014/main" id="{5F2741C0-10C1-48F2-A7AE-E7734579BF0E}"/>
              </a:ext>
            </a:extLst>
          </p:cNvPr>
          <p:cNvSpPr>
            <a:spLocks noGrp="1"/>
          </p:cNvSpPr>
          <p:nvPr/>
        </p:nvSpPr>
        <p:spPr>
          <a:xfrm>
            <a:off x="685800" y="1409700"/>
            <a:ext cx="10820400" cy="19050"/>
          </a:xfrm>
          <a:prstGeom prst="rect">
            <a:avLst/>
          </a:prstGeom>
          <a:solidFill>
            <a:srgbClr val="D9DEE5"/>
          </a:solidFill>
          <a:ln w="0">
            <a:noFill/>
          </a:ln>
        </p:spPr>
        <p:txBody>
          <a:bodyPr/>
          <a:lstStyle/>
          <a:p>
            <a:endParaRPr lang="en-US"/>
          </a:p>
        </p:txBody>
      </p:sp>
      <p:sp>
        <p:nvSpPr>
          <p:cNvPr id="4" name="Oval 3">
            <a:extLst>
              <a:ext uri="{FF2B5EF4-FFF2-40B4-BE49-F238E27FC236}">
                <a16:creationId xmlns:a16="http://schemas.microsoft.com/office/drawing/2014/main" id="{3580D326-5BCF-4ECA-9F14-C6EDF9CE7344}"/>
              </a:ext>
            </a:extLst>
          </p:cNvPr>
          <p:cNvSpPr>
            <a:spLocks noGrp="1"/>
          </p:cNvSpPr>
          <p:nvPr/>
        </p:nvSpPr>
        <p:spPr>
          <a:xfrm>
            <a:off x="895350" y="1905000"/>
            <a:ext cx="85725" cy="85725"/>
          </a:xfrm>
          <a:prstGeom prst="ellipse">
            <a:avLst/>
          </a:prstGeom>
          <a:solidFill>
            <a:srgbClr val="B84A3A"/>
          </a:solidFill>
          <a:ln w="0">
            <a:noFill/>
          </a:ln>
        </p:spPr>
        <p:txBody>
          <a:bodyPr/>
          <a:lstStyle/>
          <a:p>
            <a:endParaRPr lang="en-US"/>
          </a:p>
        </p:txBody>
      </p:sp>
      <p:sp>
        <p:nvSpPr>
          <p:cNvPr id="5" name="Rectangle 4">
            <a:extLst>
              <a:ext uri="{FF2B5EF4-FFF2-40B4-BE49-F238E27FC236}">
                <a16:creationId xmlns:a16="http://schemas.microsoft.com/office/drawing/2014/main" id="{1F3CE075-2FBC-4D26-9DDA-1B1234B4414A}"/>
              </a:ext>
            </a:extLst>
          </p:cNvPr>
          <p:cNvSpPr>
            <a:spLocks noGrp="1"/>
          </p:cNvSpPr>
          <p:nvPr/>
        </p:nvSpPr>
        <p:spPr>
          <a:xfrm>
            <a:off x="1104900" y="1809750"/>
            <a:ext cx="9601200" cy="381000"/>
          </a:xfrm>
          <a:prstGeom prst="rect">
            <a:avLst/>
          </a:prstGeom>
          <a:noFill/>
          <a:ln w="0">
            <a:noFill/>
          </a:ln>
        </p:spPr>
        <p:txBody>
          <a:bodyPr>
            <a:normAutofit fontScale="98293"/>
          </a:bodyPr>
          <a:lstStyle/>
          <a:p>
            <a:pPr>
              <a:defRPr sz="1575" b="0">
                <a:solidFill>
                  <a:srgbClr val="202124"/>
                </a:solidFill>
                <a:latin typeface="Aptos"/>
                <a:ea typeface="Aptos"/>
                <a:cs typeface="Aptos"/>
              </a:defRPr>
            </a:pPr>
            <a:r>
              <a:rPr sz="1575" b="0">
                <a:solidFill>
                  <a:srgbClr val="202124"/>
                </a:solidFill>
                <a:latin typeface="Aptos"/>
                <a:ea typeface="Aptos"/>
                <a:cs typeface="Aptos"/>
              </a:rPr>
              <a:t>Can high-resolution amateur spectroscopy measure galaxy redshifts well enough to support Hubble's Law?</a:t>
            </a:r>
          </a:p>
        </p:txBody>
      </p:sp>
      <p:sp>
        <p:nvSpPr>
          <p:cNvPr id="6" name="Oval 5">
            <a:extLst>
              <a:ext uri="{FF2B5EF4-FFF2-40B4-BE49-F238E27FC236}">
                <a16:creationId xmlns:a16="http://schemas.microsoft.com/office/drawing/2014/main" id="{F15273D4-A361-413A-A4F0-4A28034AB7FA}"/>
              </a:ext>
            </a:extLst>
          </p:cNvPr>
          <p:cNvSpPr>
            <a:spLocks noGrp="1"/>
          </p:cNvSpPr>
          <p:nvPr/>
        </p:nvSpPr>
        <p:spPr>
          <a:xfrm>
            <a:off x="895350" y="2305050"/>
            <a:ext cx="85725" cy="85725"/>
          </a:xfrm>
          <a:prstGeom prst="ellipse">
            <a:avLst/>
          </a:prstGeom>
          <a:solidFill>
            <a:srgbClr val="B84A3A"/>
          </a:solidFill>
          <a:ln w="0">
            <a:noFill/>
          </a:ln>
        </p:spPr>
        <p:txBody>
          <a:bodyPr/>
          <a:lstStyle/>
          <a:p>
            <a:endParaRPr lang="en-US"/>
          </a:p>
        </p:txBody>
      </p:sp>
      <p:sp>
        <p:nvSpPr>
          <p:cNvPr id="7" name="Rectangle 6">
            <a:extLst>
              <a:ext uri="{FF2B5EF4-FFF2-40B4-BE49-F238E27FC236}">
                <a16:creationId xmlns:a16="http://schemas.microsoft.com/office/drawing/2014/main" id="{C0ABCF91-1EF6-4364-9DF9-6127A5CF041C}"/>
              </a:ext>
            </a:extLst>
          </p:cNvPr>
          <p:cNvSpPr>
            <a:spLocks noGrp="1"/>
          </p:cNvSpPr>
          <p:nvPr/>
        </p:nvSpPr>
        <p:spPr>
          <a:xfrm>
            <a:off x="1104900" y="2209800"/>
            <a:ext cx="9601200" cy="381000"/>
          </a:xfrm>
          <a:prstGeom prst="rect">
            <a:avLst/>
          </a:prstGeom>
          <a:noFill/>
          <a:ln w="0">
            <a:noFill/>
          </a:ln>
        </p:spPr>
        <p:txBody>
          <a:bodyPr>
            <a:normAutofit/>
          </a:bodyPr>
          <a:lstStyle/>
          <a:p>
            <a:pPr>
              <a:defRPr sz="1575" b="0">
                <a:solidFill>
                  <a:srgbClr val="202124"/>
                </a:solidFill>
                <a:latin typeface="Aptos"/>
                <a:ea typeface="Aptos"/>
                <a:cs typeface="Aptos"/>
              </a:defRPr>
            </a:pPr>
            <a:r>
              <a:rPr sz="1575" b="0">
                <a:solidFill>
                  <a:srgbClr val="202124"/>
                </a:solidFill>
                <a:latin typeface="Aptos"/>
                <a:ea typeface="Aptos"/>
                <a:cs typeface="Aptos"/>
              </a:rPr>
              <a:t>Hypothesis: more distant galaxies will show larger recession velocities</a:t>
            </a:r>
          </a:p>
        </p:txBody>
      </p:sp>
      <p:sp>
        <p:nvSpPr>
          <p:cNvPr id="8" name="Oval 7">
            <a:extLst>
              <a:ext uri="{FF2B5EF4-FFF2-40B4-BE49-F238E27FC236}">
                <a16:creationId xmlns:a16="http://schemas.microsoft.com/office/drawing/2014/main" id="{D437A768-6378-4455-B173-ACA6E7A3FF55}"/>
              </a:ext>
            </a:extLst>
          </p:cNvPr>
          <p:cNvSpPr>
            <a:spLocks noGrp="1"/>
          </p:cNvSpPr>
          <p:nvPr/>
        </p:nvSpPr>
        <p:spPr>
          <a:xfrm>
            <a:off x="895350" y="2705100"/>
            <a:ext cx="85725" cy="85725"/>
          </a:xfrm>
          <a:prstGeom prst="ellipse">
            <a:avLst/>
          </a:prstGeom>
          <a:solidFill>
            <a:srgbClr val="B84A3A"/>
          </a:solidFill>
          <a:ln w="0">
            <a:noFill/>
          </a:ln>
        </p:spPr>
        <p:txBody>
          <a:bodyPr/>
          <a:lstStyle/>
          <a:p>
            <a:endParaRPr lang="en-US"/>
          </a:p>
        </p:txBody>
      </p:sp>
      <p:sp>
        <p:nvSpPr>
          <p:cNvPr id="9" name="Rectangle 8">
            <a:extLst>
              <a:ext uri="{FF2B5EF4-FFF2-40B4-BE49-F238E27FC236}">
                <a16:creationId xmlns:a16="http://schemas.microsoft.com/office/drawing/2014/main" id="{D0DABDCA-D073-46DE-8313-865DDF57DF9A}"/>
              </a:ext>
            </a:extLst>
          </p:cNvPr>
          <p:cNvSpPr>
            <a:spLocks noGrp="1"/>
          </p:cNvSpPr>
          <p:nvPr/>
        </p:nvSpPr>
        <p:spPr>
          <a:xfrm>
            <a:off x="1104900" y="2609850"/>
            <a:ext cx="9601200" cy="381000"/>
          </a:xfrm>
          <a:prstGeom prst="rect">
            <a:avLst/>
          </a:prstGeom>
          <a:noFill/>
          <a:ln w="0">
            <a:noFill/>
          </a:ln>
        </p:spPr>
        <p:txBody>
          <a:bodyPr>
            <a:normAutofit/>
          </a:bodyPr>
          <a:lstStyle/>
          <a:p>
            <a:pPr>
              <a:defRPr sz="1575" b="0">
                <a:solidFill>
                  <a:srgbClr val="202124"/>
                </a:solidFill>
                <a:latin typeface="Aptos"/>
                <a:ea typeface="Aptos"/>
                <a:cs typeface="Aptos"/>
              </a:defRPr>
            </a:pPr>
            <a:r>
              <a:rPr sz="1575" b="0">
                <a:solidFill>
                  <a:srgbClr val="202124"/>
                </a:solidFill>
                <a:latin typeface="Aptos"/>
                <a:ea typeface="Aptos"/>
                <a:cs typeface="Aptos"/>
              </a:rPr>
              <a:t>Measured result: observed wavelength shift of known spectral lines</a:t>
            </a:r>
          </a:p>
        </p:txBody>
      </p:sp>
      <p:sp>
        <p:nvSpPr>
          <p:cNvPr id="10" name="Oval 9">
            <a:extLst>
              <a:ext uri="{FF2B5EF4-FFF2-40B4-BE49-F238E27FC236}">
                <a16:creationId xmlns:a16="http://schemas.microsoft.com/office/drawing/2014/main" id="{97157D20-C8EF-4075-AA91-B93F072E6166}"/>
              </a:ext>
            </a:extLst>
          </p:cNvPr>
          <p:cNvSpPr>
            <a:spLocks noGrp="1"/>
          </p:cNvSpPr>
          <p:nvPr/>
        </p:nvSpPr>
        <p:spPr>
          <a:xfrm>
            <a:off x="895350" y="3105150"/>
            <a:ext cx="85725" cy="85725"/>
          </a:xfrm>
          <a:prstGeom prst="ellipse">
            <a:avLst/>
          </a:prstGeom>
          <a:solidFill>
            <a:srgbClr val="B84A3A"/>
          </a:solidFill>
          <a:ln w="0">
            <a:noFill/>
          </a:ln>
        </p:spPr>
        <p:txBody>
          <a:bodyPr/>
          <a:lstStyle/>
          <a:p>
            <a:endParaRPr lang="en-US"/>
          </a:p>
        </p:txBody>
      </p:sp>
      <p:sp>
        <p:nvSpPr>
          <p:cNvPr id="11" name="Rectangle 10">
            <a:extLst>
              <a:ext uri="{FF2B5EF4-FFF2-40B4-BE49-F238E27FC236}">
                <a16:creationId xmlns:a16="http://schemas.microsoft.com/office/drawing/2014/main" id="{CE7C381C-FF41-4266-8CFA-3961EE6138FD}"/>
              </a:ext>
            </a:extLst>
          </p:cNvPr>
          <p:cNvSpPr>
            <a:spLocks noGrp="1"/>
          </p:cNvSpPr>
          <p:nvPr/>
        </p:nvSpPr>
        <p:spPr>
          <a:xfrm>
            <a:off x="1104900" y="3009900"/>
            <a:ext cx="9601200" cy="381000"/>
          </a:xfrm>
          <a:prstGeom prst="rect">
            <a:avLst/>
          </a:prstGeom>
          <a:noFill/>
          <a:ln w="0">
            <a:noFill/>
          </a:ln>
        </p:spPr>
        <p:txBody>
          <a:bodyPr>
            <a:normAutofit/>
          </a:bodyPr>
          <a:lstStyle/>
          <a:p>
            <a:pPr>
              <a:defRPr sz="1575" b="0">
                <a:solidFill>
                  <a:srgbClr val="202124"/>
                </a:solidFill>
                <a:latin typeface="Aptos"/>
                <a:ea typeface="Aptos"/>
                <a:cs typeface="Aptos"/>
              </a:defRPr>
            </a:pPr>
            <a:r>
              <a:rPr sz="1575" b="0">
                <a:solidFill>
                  <a:srgbClr val="202124"/>
                </a:solidFill>
                <a:latin typeface="Aptos"/>
                <a:ea typeface="Aptos"/>
                <a:cs typeface="Aptos"/>
              </a:rPr>
              <a:t>Main graph: recession velocity against published galaxy distance</a:t>
            </a:r>
          </a:p>
        </p:txBody>
      </p:sp>
      <p:sp>
        <p:nvSpPr>
          <p:cNvPr id="12" name="Rectangle 11">
            <a:extLst>
              <a:ext uri="{FF2B5EF4-FFF2-40B4-BE49-F238E27FC236}">
                <a16:creationId xmlns:a16="http://schemas.microsoft.com/office/drawing/2014/main" id="{A406B719-495B-489B-BBC7-42DF7BFF4A14}"/>
              </a:ext>
            </a:extLst>
          </p:cNvPr>
          <p:cNvSpPr>
            <a:spLocks noGrp="1"/>
          </p:cNvSpPr>
          <p:nvPr/>
        </p:nvSpPr>
        <p:spPr>
          <a:xfrm>
            <a:off x="685800" y="6438900"/>
            <a:ext cx="4762500" cy="228600"/>
          </a:xfrm>
          <a:prstGeom prst="rect">
            <a:avLst/>
          </a:prstGeom>
          <a:noFill/>
          <a:ln w="0">
            <a:noFill/>
          </a:ln>
        </p:spPr>
        <p:txBody>
          <a:bodyPr>
            <a:normAutofit/>
          </a:bodyPr>
          <a:lstStyle/>
          <a:p>
            <a:pPr>
              <a:defRPr sz="900" b="0">
                <a:solidFill>
                  <a:srgbClr val="5F6368"/>
                </a:solidFill>
                <a:latin typeface="Aptos"/>
                <a:ea typeface="Aptos"/>
                <a:cs typeface="Aptos"/>
              </a:defRPr>
            </a:pPr>
            <a:r>
              <a:rPr sz="900" b="0">
                <a:solidFill>
                  <a:srgbClr val="5F6368"/>
                </a:solidFill>
                <a:latin typeface="Aptos"/>
                <a:ea typeface="Aptos"/>
                <a:cs typeface="Aptos"/>
              </a:rPr>
              <a:t>Hubble's Law spectroscopy</a:t>
            </a:r>
          </a:p>
        </p:txBody>
      </p:sp>
      <p:sp>
        <p:nvSpPr>
          <p:cNvPr id="13" name="Rectangle 12">
            <a:extLst>
              <a:ext uri="{FF2B5EF4-FFF2-40B4-BE49-F238E27FC236}">
                <a16:creationId xmlns:a16="http://schemas.microsoft.com/office/drawing/2014/main" id="{8EBFB256-7426-408B-9DD9-839E3DD9CAA7}"/>
              </a:ext>
            </a:extLst>
          </p:cNvPr>
          <p:cNvSpPr>
            <a:spLocks noGrp="1"/>
          </p:cNvSpPr>
          <p:nvPr/>
        </p:nvSpPr>
        <p:spPr>
          <a:xfrm>
            <a:off x="11125200" y="6438900"/>
            <a:ext cx="381000" cy="228600"/>
          </a:xfrm>
          <a:prstGeom prst="rect">
            <a:avLst/>
          </a:prstGeom>
          <a:noFill/>
          <a:ln w="0">
            <a:noFill/>
          </a:ln>
        </p:spPr>
        <p:txBody>
          <a:bodyPr>
            <a:normAutofit fontScale="57500" lnSpcReduction="20000"/>
          </a:bodyPr>
          <a:lstStyle/>
          <a:p>
            <a:pPr>
              <a:defRPr sz="900" b="0">
                <a:solidFill>
                  <a:srgbClr val="5F6368"/>
                </a:solidFill>
                <a:latin typeface="Aptos"/>
                <a:ea typeface="Aptos"/>
                <a:cs typeface="Aptos"/>
              </a:defRPr>
            </a:pPr>
            <a:r>
              <a:rPr sz="900" b="0">
                <a:solidFill>
                  <a:srgbClr val="5F6368"/>
                </a:solidFill>
                <a:latin typeface="Aptos"/>
                <a:ea typeface="Aptos"/>
                <a:cs typeface="Aptos"/>
              </a:rPr>
              <a:t>undefined</a:t>
            </a:r>
          </a:p>
        </p:txBody>
      </p:sp>
    </p:spTree>
    <p:extLst>
      <p:ext uri="{BB962C8B-B14F-4D97-AF65-F5344CB8AC3E}">
        <p14:creationId xmlns:p14="http://schemas.microsoft.com/office/powerpoint/2010/main" val="1384159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D988003-6093-40F5-A1A2-F484F634C739}"/>
              </a:ext>
            </a:extLst>
          </p:cNvPr>
          <p:cNvSpPr>
            <a:spLocks noGrp="1"/>
          </p:cNvSpPr>
          <p:nvPr/>
        </p:nvSpPr>
        <p:spPr>
          <a:xfrm>
            <a:off x="685800" y="419100"/>
            <a:ext cx="8191500" cy="495300"/>
          </a:xfrm>
          <a:prstGeom prst="rect">
            <a:avLst/>
          </a:prstGeom>
          <a:noFill/>
          <a:ln w="0">
            <a:noFill/>
          </a:ln>
        </p:spPr>
        <p:txBody>
          <a:bodyPr>
            <a:normAutofit/>
          </a:bodyPr>
          <a:lstStyle/>
          <a:p>
            <a:pPr>
              <a:defRPr sz="2625" b="1">
                <a:solidFill>
                  <a:srgbClr val="202124"/>
                </a:solidFill>
                <a:latin typeface="Aptos"/>
                <a:ea typeface="Aptos"/>
                <a:cs typeface="Aptos"/>
              </a:defRPr>
            </a:pPr>
            <a:r>
              <a:rPr sz="2625" b="1">
                <a:solidFill>
                  <a:srgbClr val="202124"/>
                </a:solidFill>
                <a:latin typeface="Aptos"/>
                <a:ea typeface="Aptos"/>
                <a:cs typeface="Aptos"/>
              </a:rPr>
              <a:t>Spectroscopy method</a:t>
            </a:r>
          </a:p>
        </p:txBody>
      </p:sp>
      <p:sp>
        <p:nvSpPr>
          <p:cNvPr id="2" name="Rectangle 1">
            <a:extLst>
              <a:ext uri="{FF2B5EF4-FFF2-40B4-BE49-F238E27FC236}">
                <a16:creationId xmlns:a16="http://schemas.microsoft.com/office/drawing/2014/main" id="{66F359B7-1EB7-4351-9AFE-530577974DD7}"/>
              </a:ext>
            </a:extLst>
          </p:cNvPr>
          <p:cNvSpPr>
            <a:spLocks noGrp="1"/>
          </p:cNvSpPr>
          <p:nvPr/>
        </p:nvSpPr>
        <p:spPr>
          <a:xfrm>
            <a:off x="685800" y="914400"/>
            <a:ext cx="9144000" cy="400050"/>
          </a:xfrm>
          <a:prstGeom prst="rect">
            <a:avLst/>
          </a:prstGeom>
          <a:noFill/>
          <a:ln w="0">
            <a:noFill/>
          </a:ln>
        </p:spPr>
        <p:txBody>
          <a:bodyPr>
            <a:normAutofit/>
          </a:bodyPr>
          <a:lstStyle/>
          <a:p>
            <a:pPr>
              <a:defRPr sz="1425" b="0">
                <a:solidFill>
                  <a:srgbClr val="5F6368"/>
                </a:solidFill>
                <a:latin typeface="Aptos"/>
                <a:ea typeface="Aptos"/>
                <a:cs typeface="Aptos"/>
              </a:defRPr>
            </a:pPr>
            <a:r>
              <a:rPr sz="1425" b="0">
                <a:solidFill>
                  <a:srgbClr val="5F6368"/>
                </a:solidFill>
                <a:latin typeface="Aptos"/>
                <a:ea typeface="Aptos"/>
                <a:cs typeface="Aptos"/>
              </a:rPr>
              <a:t>The students measure how far known spectral lines shift toward longer wavelengths</a:t>
            </a:r>
          </a:p>
        </p:txBody>
      </p:sp>
      <p:sp>
        <p:nvSpPr>
          <p:cNvPr id="3" name="Rectangle 2">
            <a:extLst>
              <a:ext uri="{FF2B5EF4-FFF2-40B4-BE49-F238E27FC236}">
                <a16:creationId xmlns:a16="http://schemas.microsoft.com/office/drawing/2014/main" id="{72CB5989-B55F-4DF8-9194-BE22243EAE5E}"/>
              </a:ext>
            </a:extLst>
          </p:cNvPr>
          <p:cNvSpPr>
            <a:spLocks noGrp="1"/>
          </p:cNvSpPr>
          <p:nvPr/>
        </p:nvSpPr>
        <p:spPr>
          <a:xfrm>
            <a:off x="685800" y="1409700"/>
            <a:ext cx="10820400" cy="19050"/>
          </a:xfrm>
          <a:prstGeom prst="rect">
            <a:avLst/>
          </a:prstGeom>
          <a:solidFill>
            <a:srgbClr val="D9DEE5"/>
          </a:solidFill>
          <a:ln w="0">
            <a:noFill/>
          </a:ln>
        </p:spPr>
        <p:txBody>
          <a:bodyPr/>
          <a:lstStyle/>
          <a:p>
            <a:endParaRPr lang="en-US"/>
          </a:p>
        </p:txBody>
      </p:sp>
      <p:pic>
        <p:nvPicPr>
          <p:cNvPr id="20" name="Picture 19"/>
          <p:cNvPicPr>
            <a:picLocks noChangeAspect="1"/>
          </p:cNvPicPr>
          <p:nvPr/>
        </p:nvPicPr>
        <p:blipFill>
          <a:blip r:embed="rId3"/>
          <a:srcRect l="10604" r="10604"/>
          <a:stretch>
            <a:fillRect/>
          </a:stretch>
        </p:blipFill>
        <p:spPr>
          <a:xfrm>
            <a:off x="6896100" y="1676400"/>
            <a:ext cx="4000500" cy="2857500"/>
          </a:xfrm>
          <a:prstGeom prst="rect">
            <a:avLst/>
          </a:prstGeom>
        </p:spPr>
      </p:pic>
      <p:sp>
        <p:nvSpPr>
          <p:cNvPr id="5" name="Rectangle 4">
            <a:extLst>
              <a:ext uri="{FF2B5EF4-FFF2-40B4-BE49-F238E27FC236}">
                <a16:creationId xmlns:a16="http://schemas.microsoft.com/office/drawing/2014/main" id="{EDC9D66F-DBB1-4AA4-9C13-2C457311B1BE}"/>
              </a:ext>
            </a:extLst>
          </p:cNvPr>
          <p:cNvSpPr>
            <a:spLocks noGrp="1"/>
          </p:cNvSpPr>
          <p:nvPr/>
        </p:nvSpPr>
        <p:spPr>
          <a:xfrm>
            <a:off x="838200" y="1809750"/>
            <a:ext cx="76200" cy="323850"/>
          </a:xfrm>
          <a:prstGeom prst="rect">
            <a:avLst/>
          </a:prstGeom>
          <a:solidFill>
            <a:srgbClr val="B84A3A"/>
          </a:solidFill>
          <a:ln w="0">
            <a:noFill/>
          </a:ln>
        </p:spPr>
        <p:txBody>
          <a:bodyPr/>
          <a:lstStyle/>
          <a:p>
            <a:endParaRPr lang="en-US"/>
          </a:p>
        </p:txBody>
      </p:sp>
      <p:sp>
        <p:nvSpPr>
          <p:cNvPr id="6" name="Rectangle 5">
            <a:extLst>
              <a:ext uri="{FF2B5EF4-FFF2-40B4-BE49-F238E27FC236}">
                <a16:creationId xmlns:a16="http://schemas.microsoft.com/office/drawing/2014/main" id="{393DDBCE-43B8-4089-895E-7577A499A4E4}"/>
              </a:ext>
            </a:extLst>
          </p:cNvPr>
          <p:cNvSpPr>
            <a:spLocks noGrp="1"/>
          </p:cNvSpPr>
          <p:nvPr/>
        </p:nvSpPr>
        <p:spPr>
          <a:xfrm>
            <a:off x="1009650" y="1800225"/>
            <a:ext cx="4476750" cy="361950"/>
          </a:xfrm>
          <a:prstGeom prst="rect">
            <a:avLst/>
          </a:prstGeom>
          <a:noFill/>
          <a:ln w="0">
            <a:noFill/>
          </a:ln>
        </p:spPr>
        <p:txBody>
          <a:bodyPr>
            <a:normAutofit fontScale="98611" lnSpcReduction="10000"/>
          </a:bodyPr>
          <a:lstStyle/>
          <a:p>
            <a:pPr>
              <a:defRPr sz="1800" b="1">
                <a:solidFill>
                  <a:srgbClr val="202124"/>
                </a:solidFill>
                <a:latin typeface="Aptos"/>
                <a:ea typeface="Aptos"/>
                <a:cs typeface="Aptos"/>
              </a:defRPr>
            </a:pPr>
            <a:r>
              <a:rPr sz="1800" b="1">
                <a:solidFill>
                  <a:srgbClr val="202124"/>
                </a:solidFill>
                <a:latin typeface="Aptos"/>
                <a:ea typeface="Aptos"/>
                <a:cs typeface="Aptos"/>
              </a:rPr>
              <a:t>What students collect</a:t>
            </a:r>
          </a:p>
        </p:txBody>
      </p:sp>
      <p:sp>
        <p:nvSpPr>
          <p:cNvPr id="7" name="Oval 6">
            <a:extLst>
              <a:ext uri="{FF2B5EF4-FFF2-40B4-BE49-F238E27FC236}">
                <a16:creationId xmlns:a16="http://schemas.microsoft.com/office/drawing/2014/main" id="{D89AC0FA-E4EC-4A9A-A853-2DAF67FC8937}"/>
              </a:ext>
            </a:extLst>
          </p:cNvPr>
          <p:cNvSpPr>
            <a:spLocks noGrp="1"/>
          </p:cNvSpPr>
          <p:nvPr/>
        </p:nvSpPr>
        <p:spPr>
          <a:xfrm>
            <a:off x="1047750" y="2476500"/>
            <a:ext cx="85725" cy="85725"/>
          </a:xfrm>
          <a:prstGeom prst="ellipse">
            <a:avLst/>
          </a:prstGeom>
          <a:solidFill>
            <a:srgbClr val="B84A3A"/>
          </a:solidFill>
          <a:ln w="0">
            <a:noFill/>
          </a:ln>
        </p:spPr>
        <p:txBody>
          <a:bodyPr/>
          <a:lstStyle/>
          <a:p>
            <a:endParaRPr lang="en-US"/>
          </a:p>
        </p:txBody>
      </p:sp>
      <p:sp>
        <p:nvSpPr>
          <p:cNvPr id="8" name="Rectangle 7">
            <a:extLst>
              <a:ext uri="{FF2B5EF4-FFF2-40B4-BE49-F238E27FC236}">
                <a16:creationId xmlns:a16="http://schemas.microsoft.com/office/drawing/2014/main" id="{8BF1EC70-F931-4BD2-8F44-8CD9FB39D83E}"/>
              </a:ext>
            </a:extLst>
          </p:cNvPr>
          <p:cNvSpPr>
            <a:spLocks noGrp="1"/>
          </p:cNvSpPr>
          <p:nvPr/>
        </p:nvSpPr>
        <p:spPr>
          <a:xfrm>
            <a:off x="1257300" y="2381250"/>
            <a:ext cx="5124450" cy="381000"/>
          </a:xfrm>
          <a:prstGeom prst="rect">
            <a:avLst/>
          </a:prstGeom>
          <a:noFill/>
          <a:ln w="0">
            <a:noFill/>
          </a:ln>
        </p:spPr>
        <p:txBody>
          <a:bodyPr>
            <a:normAutofit/>
          </a:bodyPr>
          <a:lstStyle/>
          <a:p>
            <a:pPr>
              <a:defRPr sz="1500" b="0">
                <a:solidFill>
                  <a:srgbClr val="202124"/>
                </a:solidFill>
                <a:latin typeface="Aptos"/>
                <a:ea typeface="Aptos"/>
                <a:cs typeface="Aptos"/>
              </a:defRPr>
            </a:pPr>
            <a:r>
              <a:rPr sz="1500" b="0">
                <a:solidFill>
                  <a:srgbClr val="202124"/>
                </a:solidFill>
                <a:latin typeface="Aptos"/>
                <a:ea typeface="Aptos"/>
                <a:cs typeface="Aptos"/>
              </a:rPr>
              <a:t>Calibration spectra or known stellar lines</a:t>
            </a:r>
          </a:p>
        </p:txBody>
      </p:sp>
      <p:sp>
        <p:nvSpPr>
          <p:cNvPr id="9" name="Oval 8">
            <a:extLst>
              <a:ext uri="{FF2B5EF4-FFF2-40B4-BE49-F238E27FC236}">
                <a16:creationId xmlns:a16="http://schemas.microsoft.com/office/drawing/2014/main" id="{AE13C8E0-972D-4618-9DB3-A59D8F5B8B45}"/>
              </a:ext>
            </a:extLst>
          </p:cNvPr>
          <p:cNvSpPr>
            <a:spLocks noGrp="1"/>
          </p:cNvSpPr>
          <p:nvPr/>
        </p:nvSpPr>
        <p:spPr>
          <a:xfrm>
            <a:off x="1047750" y="2876550"/>
            <a:ext cx="85725" cy="85725"/>
          </a:xfrm>
          <a:prstGeom prst="ellipse">
            <a:avLst/>
          </a:prstGeom>
          <a:solidFill>
            <a:srgbClr val="B84A3A"/>
          </a:solidFill>
          <a:ln w="0">
            <a:noFill/>
          </a:ln>
        </p:spPr>
        <p:txBody>
          <a:bodyPr/>
          <a:lstStyle/>
          <a:p>
            <a:endParaRPr lang="en-US"/>
          </a:p>
        </p:txBody>
      </p:sp>
      <p:sp>
        <p:nvSpPr>
          <p:cNvPr id="10" name="Rectangle 9">
            <a:extLst>
              <a:ext uri="{FF2B5EF4-FFF2-40B4-BE49-F238E27FC236}">
                <a16:creationId xmlns:a16="http://schemas.microsoft.com/office/drawing/2014/main" id="{B8568A58-ED19-46F1-987A-66BA58745F82}"/>
              </a:ext>
            </a:extLst>
          </p:cNvPr>
          <p:cNvSpPr>
            <a:spLocks noGrp="1"/>
          </p:cNvSpPr>
          <p:nvPr/>
        </p:nvSpPr>
        <p:spPr>
          <a:xfrm>
            <a:off x="1257300" y="2781300"/>
            <a:ext cx="5124450" cy="381000"/>
          </a:xfrm>
          <a:prstGeom prst="rect">
            <a:avLst/>
          </a:prstGeom>
          <a:noFill/>
          <a:ln w="0">
            <a:noFill/>
          </a:ln>
        </p:spPr>
        <p:txBody>
          <a:bodyPr>
            <a:normAutofit fontScale="98892"/>
          </a:bodyPr>
          <a:lstStyle/>
          <a:p>
            <a:pPr>
              <a:defRPr sz="1500" b="0">
                <a:solidFill>
                  <a:srgbClr val="202124"/>
                </a:solidFill>
                <a:latin typeface="Aptos"/>
                <a:ea typeface="Aptos"/>
                <a:cs typeface="Aptos"/>
              </a:defRPr>
            </a:pPr>
            <a:r>
              <a:rPr sz="1500" b="0">
                <a:solidFill>
                  <a:srgbClr val="202124"/>
                </a:solidFill>
                <a:latin typeface="Aptos"/>
                <a:ea typeface="Aptos"/>
                <a:cs typeface="Aptos"/>
              </a:rPr>
              <a:t>Galaxy spectra with visible emission or absorption features</a:t>
            </a:r>
          </a:p>
        </p:txBody>
      </p:sp>
      <p:sp>
        <p:nvSpPr>
          <p:cNvPr id="11" name="Oval 10">
            <a:extLst>
              <a:ext uri="{FF2B5EF4-FFF2-40B4-BE49-F238E27FC236}">
                <a16:creationId xmlns:a16="http://schemas.microsoft.com/office/drawing/2014/main" id="{0396AEB3-4C87-4DEE-B45A-4F583154D602}"/>
              </a:ext>
            </a:extLst>
          </p:cNvPr>
          <p:cNvSpPr>
            <a:spLocks noGrp="1"/>
          </p:cNvSpPr>
          <p:nvPr/>
        </p:nvSpPr>
        <p:spPr>
          <a:xfrm>
            <a:off x="1047750" y="3276600"/>
            <a:ext cx="85725" cy="85725"/>
          </a:xfrm>
          <a:prstGeom prst="ellipse">
            <a:avLst/>
          </a:prstGeom>
          <a:solidFill>
            <a:srgbClr val="B84A3A"/>
          </a:solidFill>
          <a:ln w="0">
            <a:noFill/>
          </a:ln>
        </p:spPr>
        <p:txBody>
          <a:bodyPr/>
          <a:lstStyle/>
          <a:p>
            <a:endParaRPr lang="en-US"/>
          </a:p>
        </p:txBody>
      </p:sp>
      <p:sp>
        <p:nvSpPr>
          <p:cNvPr id="12" name="Rectangle 11">
            <a:extLst>
              <a:ext uri="{FF2B5EF4-FFF2-40B4-BE49-F238E27FC236}">
                <a16:creationId xmlns:a16="http://schemas.microsoft.com/office/drawing/2014/main" id="{8134E92C-0E4A-4788-A5F5-26F4A5867C9E}"/>
              </a:ext>
            </a:extLst>
          </p:cNvPr>
          <p:cNvSpPr>
            <a:spLocks noGrp="1"/>
          </p:cNvSpPr>
          <p:nvPr/>
        </p:nvSpPr>
        <p:spPr>
          <a:xfrm>
            <a:off x="1257300" y="3181350"/>
            <a:ext cx="5124450" cy="381000"/>
          </a:xfrm>
          <a:prstGeom prst="rect">
            <a:avLst/>
          </a:prstGeom>
          <a:noFill/>
          <a:ln w="0">
            <a:noFill/>
          </a:ln>
        </p:spPr>
        <p:txBody>
          <a:bodyPr>
            <a:normAutofit/>
          </a:bodyPr>
          <a:lstStyle/>
          <a:p>
            <a:pPr>
              <a:defRPr sz="1500" b="0">
                <a:solidFill>
                  <a:srgbClr val="202124"/>
                </a:solidFill>
                <a:latin typeface="Aptos"/>
                <a:ea typeface="Aptos"/>
                <a:cs typeface="Aptos"/>
              </a:defRPr>
            </a:pPr>
            <a:r>
              <a:rPr sz="1500" b="0">
                <a:solidFill>
                  <a:srgbClr val="202124"/>
                </a:solidFill>
                <a:latin typeface="Aptos"/>
                <a:ea typeface="Aptos"/>
                <a:cs typeface="Aptos"/>
              </a:rPr>
              <a:t>Exposure time, target altitude and observing notes</a:t>
            </a:r>
          </a:p>
        </p:txBody>
      </p:sp>
      <p:sp>
        <p:nvSpPr>
          <p:cNvPr id="13" name="Oval 12">
            <a:extLst>
              <a:ext uri="{FF2B5EF4-FFF2-40B4-BE49-F238E27FC236}">
                <a16:creationId xmlns:a16="http://schemas.microsoft.com/office/drawing/2014/main" id="{08DE2384-99C4-4AB6-B97D-0FD69F9DCD31}"/>
              </a:ext>
            </a:extLst>
          </p:cNvPr>
          <p:cNvSpPr>
            <a:spLocks noGrp="1"/>
          </p:cNvSpPr>
          <p:nvPr/>
        </p:nvSpPr>
        <p:spPr>
          <a:xfrm>
            <a:off x="1047750" y="3676650"/>
            <a:ext cx="85725" cy="85725"/>
          </a:xfrm>
          <a:prstGeom prst="ellipse">
            <a:avLst/>
          </a:prstGeom>
          <a:solidFill>
            <a:srgbClr val="B84A3A"/>
          </a:solidFill>
          <a:ln w="0">
            <a:noFill/>
          </a:ln>
        </p:spPr>
        <p:txBody>
          <a:bodyPr/>
          <a:lstStyle/>
          <a:p>
            <a:endParaRPr lang="en-US"/>
          </a:p>
        </p:txBody>
      </p:sp>
      <p:sp>
        <p:nvSpPr>
          <p:cNvPr id="14" name="Rectangle 13">
            <a:extLst>
              <a:ext uri="{FF2B5EF4-FFF2-40B4-BE49-F238E27FC236}">
                <a16:creationId xmlns:a16="http://schemas.microsoft.com/office/drawing/2014/main" id="{A54CDC8C-72D2-421D-BD43-E57A0FD3522F}"/>
              </a:ext>
            </a:extLst>
          </p:cNvPr>
          <p:cNvSpPr>
            <a:spLocks noGrp="1"/>
          </p:cNvSpPr>
          <p:nvPr/>
        </p:nvSpPr>
        <p:spPr>
          <a:xfrm>
            <a:off x="1257300" y="3581400"/>
            <a:ext cx="5124450" cy="381000"/>
          </a:xfrm>
          <a:prstGeom prst="rect">
            <a:avLst/>
          </a:prstGeom>
          <a:noFill/>
          <a:ln w="0">
            <a:noFill/>
          </a:ln>
        </p:spPr>
        <p:txBody>
          <a:bodyPr>
            <a:normAutofit/>
          </a:bodyPr>
          <a:lstStyle/>
          <a:p>
            <a:pPr>
              <a:defRPr sz="1500" b="0">
                <a:solidFill>
                  <a:srgbClr val="202124"/>
                </a:solidFill>
                <a:latin typeface="Aptos"/>
                <a:ea typeface="Aptos"/>
                <a:cs typeface="Aptos"/>
              </a:defRPr>
            </a:pPr>
            <a:r>
              <a:rPr sz="1500" b="0">
                <a:solidFill>
                  <a:srgbClr val="202124"/>
                </a:solidFill>
                <a:latin typeface="Aptos"/>
                <a:ea typeface="Aptos"/>
                <a:cs typeface="Aptos"/>
              </a:rPr>
              <a:t>Published galaxy distance for each target</a:t>
            </a:r>
          </a:p>
        </p:txBody>
      </p:sp>
      <p:sp>
        <p:nvSpPr>
          <p:cNvPr id="15" name="Rectangle 14">
            <a:extLst>
              <a:ext uri="{FF2B5EF4-FFF2-40B4-BE49-F238E27FC236}">
                <a16:creationId xmlns:a16="http://schemas.microsoft.com/office/drawing/2014/main" id="{BC67014E-4F0F-4B7B-8C50-69AEC44A0C46}"/>
              </a:ext>
            </a:extLst>
          </p:cNvPr>
          <p:cNvSpPr>
            <a:spLocks noGrp="1"/>
          </p:cNvSpPr>
          <p:nvPr/>
        </p:nvSpPr>
        <p:spPr>
          <a:xfrm>
            <a:off x="685800" y="6438900"/>
            <a:ext cx="4762500" cy="228600"/>
          </a:xfrm>
          <a:prstGeom prst="rect">
            <a:avLst/>
          </a:prstGeom>
          <a:noFill/>
          <a:ln w="0">
            <a:noFill/>
          </a:ln>
        </p:spPr>
        <p:txBody>
          <a:bodyPr>
            <a:normAutofit/>
          </a:bodyPr>
          <a:lstStyle/>
          <a:p>
            <a:pPr>
              <a:defRPr sz="900" b="0">
                <a:solidFill>
                  <a:srgbClr val="5F6368"/>
                </a:solidFill>
                <a:latin typeface="Aptos"/>
                <a:ea typeface="Aptos"/>
                <a:cs typeface="Aptos"/>
              </a:defRPr>
            </a:pPr>
            <a:r>
              <a:rPr sz="900" b="0">
                <a:solidFill>
                  <a:srgbClr val="5F6368"/>
                </a:solidFill>
                <a:latin typeface="Aptos"/>
                <a:ea typeface="Aptos"/>
                <a:cs typeface="Aptos"/>
              </a:rPr>
              <a:t>Hubble's Law spectroscopy</a:t>
            </a:r>
          </a:p>
        </p:txBody>
      </p:sp>
      <p:sp>
        <p:nvSpPr>
          <p:cNvPr id="16" name="Rectangle 15">
            <a:extLst>
              <a:ext uri="{FF2B5EF4-FFF2-40B4-BE49-F238E27FC236}">
                <a16:creationId xmlns:a16="http://schemas.microsoft.com/office/drawing/2014/main" id="{04755F71-E96F-48F3-8A77-97ABC8197ABD}"/>
              </a:ext>
            </a:extLst>
          </p:cNvPr>
          <p:cNvSpPr>
            <a:spLocks noGrp="1"/>
          </p:cNvSpPr>
          <p:nvPr/>
        </p:nvSpPr>
        <p:spPr>
          <a:xfrm>
            <a:off x="11125200" y="6438900"/>
            <a:ext cx="381000" cy="228600"/>
          </a:xfrm>
          <a:prstGeom prst="rect">
            <a:avLst/>
          </a:prstGeom>
          <a:noFill/>
          <a:ln w="0">
            <a:noFill/>
          </a:ln>
        </p:spPr>
        <p:txBody>
          <a:bodyPr>
            <a:normAutofit fontScale="57500" lnSpcReduction="20000"/>
          </a:bodyPr>
          <a:lstStyle/>
          <a:p>
            <a:pPr>
              <a:defRPr sz="900" b="0">
                <a:solidFill>
                  <a:srgbClr val="5F6368"/>
                </a:solidFill>
                <a:latin typeface="Aptos"/>
                <a:ea typeface="Aptos"/>
                <a:cs typeface="Aptos"/>
              </a:defRPr>
            </a:pPr>
            <a:r>
              <a:rPr sz="900" b="0">
                <a:solidFill>
                  <a:srgbClr val="5F6368"/>
                </a:solidFill>
                <a:latin typeface="Aptos"/>
                <a:ea typeface="Aptos"/>
                <a:cs typeface="Aptos"/>
              </a:rPr>
              <a:t>undefined</a:t>
            </a:r>
          </a:p>
        </p:txBody>
      </p:sp>
    </p:spTree>
    <p:extLst>
      <p:ext uri="{BB962C8B-B14F-4D97-AF65-F5344CB8AC3E}">
        <p14:creationId xmlns:p14="http://schemas.microsoft.com/office/powerpoint/2010/main" val="1665270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9E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43D2500-EE85-46FE-A3F0-4B6E525C9619}"/>
              </a:ext>
            </a:extLst>
          </p:cNvPr>
          <p:cNvSpPr>
            <a:spLocks noGrp="1"/>
          </p:cNvSpPr>
          <p:nvPr/>
        </p:nvSpPr>
        <p:spPr>
          <a:xfrm>
            <a:off x="685800" y="419100"/>
            <a:ext cx="8191500" cy="495300"/>
          </a:xfrm>
          <a:prstGeom prst="rect">
            <a:avLst/>
          </a:prstGeom>
          <a:noFill/>
          <a:ln w="0">
            <a:noFill/>
          </a:ln>
        </p:spPr>
        <p:txBody>
          <a:bodyPr>
            <a:normAutofit/>
          </a:bodyPr>
          <a:lstStyle/>
          <a:p>
            <a:pPr>
              <a:defRPr sz="2625" b="1">
                <a:solidFill>
                  <a:srgbClr val="202124"/>
                </a:solidFill>
                <a:latin typeface="Aptos"/>
                <a:ea typeface="Aptos"/>
                <a:cs typeface="Aptos"/>
              </a:defRPr>
            </a:pPr>
            <a:r>
              <a:rPr sz="2625" b="1">
                <a:solidFill>
                  <a:srgbClr val="202124"/>
                </a:solidFill>
                <a:latin typeface="Aptos"/>
                <a:ea typeface="Aptos"/>
                <a:cs typeface="Aptos"/>
              </a:rPr>
              <a:t>Redshift calculation</a:t>
            </a:r>
          </a:p>
        </p:txBody>
      </p:sp>
      <p:sp>
        <p:nvSpPr>
          <p:cNvPr id="2" name="Rectangle 1">
            <a:extLst>
              <a:ext uri="{FF2B5EF4-FFF2-40B4-BE49-F238E27FC236}">
                <a16:creationId xmlns:a16="http://schemas.microsoft.com/office/drawing/2014/main" id="{677EBACD-04FE-4E63-82A5-9D7ED35C7C40}"/>
              </a:ext>
            </a:extLst>
          </p:cNvPr>
          <p:cNvSpPr>
            <a:spLocks noGrp="1"/>
          </p:cNvSpPr>
          <p:nvPr/>
        </p:nvSpPr>
        <p:spPr>
          <a:xfrm>
            <a:off x="685800" y="914400"/>
            <a:ext cx="9144000" cy="400050"/>
          </a:xfrm>
          <a:prstGeom prst="rect">
            <a:avLst/>
          </a:prstGeom>
          <a:noFill/>
          <a:ln w="0">
            <a:noFill/>
          </a:ln>
        </p:spPr>
        <p:txBody>
          <a:bodyPr>
            <a:normAutofit/>
          </a:bodyPr>
          <a:lstStyle/>
          <a:p>
            <a:pPr>
              <a:defRPr sz="1425" b="0">
                <a:solidFill>
                  <a:srgbClr val="5F6368"/>
                </a:solidFill>
                <a:latin typeface="Aptos"/>
                <a:ea typeface="Aptos"/>
                <a:cs typeface="Aptos"/>
              </a:defRPr>
            </a:pPr>
            <a:r>
              <a:rPr sz="1425" b="0">
                <a:solidFill>
                  <a:srgbClr val="5F6368"/>
                </a:solidFill>
                <a:latin typeface="Aptos"/>
                <a:ea typeface="Aptos"/>
                <a:cs typeface="Aptos"/>
              </a:rPr>
              <a:t>A shifted line gives redshift, and redshift gives velocity for nearby galaxies</a:t>
            </a:r>
          </a:p>
        </p:txBody>
      </p:sp>
      <p:sp>
        <p:nvSpPr>
          <p:cNvPr id="3" name="Rectangle 2">
            <a:extLst>
              <a:ext uri="{FF2B5EF4-FFF2-40B4-BE49-F238E27FC236}">
                <a16:creationId xmlns:a16="http://schemas.microsoft.com/office/drawing/2014/main" id="{067D56C0-C05C-4E19-807D-4BA9B65F5B5C}"/>
              </a:ext>
            </a:extLst>
          </p:cNvPr>
          <p:cNvSpPr>
            <a:spLocks noGrp="1"/>
          </p:cNvSpPr>
          <p:nvPr/>
        </p:nvSpPr>
        <p:spPr>
          <a:xfrm>
            <a:off x="685800" y="1409700"/>
            <a:ext cx="10820400" cy="19050"/>
          </a:xfrm>
          <a:prstGeom prst="rect">
            <a:avLst/>
          </a:prstGeom>
          <a:solidFill>
            <a:srgbClr val="D9DEE5"/>
          </a:solidFill>
          <a:ln w="0">
            <a:noFill/>
          </a:ln>
        </p:spPr>
        <p:txBody>
          <a:bodyPr/>
          <a:lstStyle/>
          <a:p>
            <a:endParaRPr lang="en-US"/>
          </a:p>
        </p:txBody>
      </p:sp>
      <p:sp>
        <p:nvSpPr>
          <p:cNvPr id="4" name="Rectangle 3">
            <a:extLst>
              <a:ext uri="{FF2B5EF4-FFF2-40B4-BE49-F238E27FC236}">
                <a16:creationId xmlns:a16="http://schemas.microsoft.com/office/drawing/2014/main" id="{F0D90B1D-B12B-4D05-B237-7BCF19AEB119}"/>
              </a:ext>
            </a:extLst>
          </p:cNvPr>
          <p:cNvSpPr>
            <a:spLocks noGrp="1"/>
          </p:cNvSpPr>
          <p:nvPr/>
        </p:nvSpPr>
        <p:spPr>
          <a:xfrm>
            <a:off x="1104900" y="1943100"/>
            <a:ext cx="9334500" cy="495300"/>
          </a:xfrm>
          <a:prstGeom prst="rect">
            <a:avLst/>
          </a:prstGeom>
          <a:noFill/>
          <a:ln w="0">
            <a:noFill/>
          </a:ln>
        </p:spPr>
        <p:txBody>
          <a:bodyPr>
            <a:normAutofit/>
          </a:bodyPr>
          <a:lstStyle/>
          <a:p>
            <a:pPr>
              <a:defRPr sz="2250" b="1">
                <a:solidFill>
                  <a:srgbClr val="0F4D55"/>
                </a:solidFill>
                <a:latin typeface="Aptos"/>
                <a:ea typeface="Aptos"/>
                <a:cs typeface="Aptos"/>
              </a:defRPr>
            </a:pPr>
            <a:r>
              <a:rPr sz="2250" b="1">
                <a:solidFill>
                  <a:srgbClr val="0F4D55"/>
                </a:solidFill>
                <a:latin typeface="Aptos"/>
                <a:ea typeface="Aptos"/>
                <a:cs typeface="Aptos"/>
              </a:rPr>
              <a:t>z = (observed wavelength - rest wavelength) / rest wavelength</a:t>
            </a:r>
          </a:p>
        </p:txBody>
      </p:sp>
      <p:sp>
        <p:nvSpPr>
          <p:cNvPr id="5" name="Rectangle 4">
            <a:extLst>
              <a:ext uri="{FF2B5EF4-FFF2-40B4-BE49-F238E27FC236}">
                <a16:creationId xmlns:a16="http://schemas.microsoft.com/office/drawing/2014/main" id="{6F178CB5-CF7B-4788-A26C-C286BB202695}"/>
              </a:ext>
            </a:extLst>
          </p:cNvPr>
          <p:cNvSpPr>
            <a:spLocks noGrp="1"/>
          </p:cNvSpPr>
          <p:nvPr/>
        </p:nvSpPr>
        <p:spPr>
          <a:xfrm>
            <a:off x="1104900" y="2724150"/>
            <a:ext cx="6858000" cy="495300"/>
          </a:xfrm>
          <a:prstGeom prst="rect">
            <a:avLst/>
          </a:prstGeom>
          <a:noFill/>
          <a:ln w="0">
            <a:noFill/>
          </a:ln>
        </p:spPr>
        <p:txBody>
          <a:bodyPr>
            <a:normAutofit/>
          </a:bodyPr>
          <a:lstStyle/>
          <a:p>
            <a:pPr>
              <a:defRPr sz="2250" b="1">
                <a:solidFill>
                  <a:srgbClr val="B84A3A"/>
                </a:solidFill>
                <a:latin typeface="Aptos"/>
                <a:ea typeface="Aptos"/>
                <a:cs typeface="Aptos"/>
              </a:defRPr>
            </a:pPr>
            <a:r>
              <a:rPr sz="2250" b="1">
                <a:solidFill>
                  <a:srgbClr val="B84A3A"/>
                </a:solidFill>
                <a:latin typeface="Aptos"/>
                <a:ea typeface="Aptos"/>
                <a:cs typeface="Aptos"/>
              </a:rPr>
              <a:t>velocity approx. z x 300,000 km/s</a:t>
            </a:r>
          </a:p>
        </p:txBody>
      </p:sp>
      <p:graphicFrame>
        <p:nvGraphicFramePr>
          <p:cNvPr id="14" name="Table 13"/>
          <p:cNvGraphicFramePr/>
          <p:nvPr/>
        </p:nvGraphicFramePr>
        <p:xfrm>
          <a:off x="1352550" y="3638550"/>
          <a:ext cx="7429500" cy="2095500"/>
        </p:xfrm>
        <a:graphic>
          <a:graphicData uri="http://schemas.openxmlformats.org/drawingml/2006/table">
            <a:tbl>
              <a:tblPr firstRow="1" bandRow="1"/>
              <a:tblGrid>
                <a:gridCol w="37147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tblGrid>
              <a:tr h="419100">
                <a:tc>
                  <a:txBody>
                    <a:bodyPr/>
                    <a:lstStyle/>
                    <a:p>
                      <a:r>
                        <a:rPr sz="1200" b="1">
                          <a:solidFill>
                            <a:srgbClr val="FFFFFF"/>
                          </a:solidFill>
                          <a:latin typeface="Aptos"/>
                          <a:ea typeface="Aptos"/>
                          <a:cs typeface="Aptos"/>
                        </a:rPr>
                        <a:t>Example</a:t>
                      </a:r>
                    </a:p>
                  </a:txBody>
                  <a:tcPr>
                    <a:solidFill>
                      <a:srgbClr val="0F4D55"/>
                    </a:solidFill>
                  </a:tcPr>
                </a:tc>
                <a:tc>
                  <a:txBody>
                    <a:bodyPr/>
                    <a:lstStyle/>
                    <a:p>
                      <a:r>
                        <a:rPr sz="1200" b="1">
                          <a:solidFill>
                            <a:srgbClr val="FFFFFF"/>
                          </a:solidFill>
                          <a:latin typeface="Aptos"/>
                          <a:ea typeface="Aptos"/>
                          <a:cs typeface="Aptos"/>
                        </a:rPr>
                        <a:t>Value</a:t>
                      </a:r>
                    </a:p>
                  </a:txBody>
                  <a:tcPr>
                    <a:solidFill>
                      <a:srgbClr val="0F4D55"/>
                    </a:solidFill>
                  </a:tcPr>
                </a:tc>
                <a:extLst>
                  <a:ext uri="{0D108BD9-81ED-4DB2-BD59-A6C34878D82A}">
                    <a16:rowId xmlns:a16="http://schemas.microsoft.com/office/drawing/2014/main" val="10000"/>
                  </a:ext>
                </a:extLst>
              </a:tr>
              <a:tr h="419100">
                <a:tc>
                  <a:txBody>
                    <a:bodyPr/>
                    <a:lstStyle/>
                    <a:p>
                      <a:r>
                        <a:rPr sz="1050">
                          <a:solidFill>
                            <a:srgbClr val="202124"/>
                          </a:solidFill>
                          <a:latin typeface="Aptos"/>
                          <a:ea typeface="Aptos"/>
                          <a:cs typeface="Aptos"/>
                        </a:rPr>
                        <a:t>Rest H-alpha line</a:t>
                      </a:r>
                    </a:p>
                  </a:txBody>
                  <a:tcPr>
                    <a:solidFill>
                      <a:srgbClr val="FFFFFF"/>
                    </a:solidFill>
                  </a:tcPr>
                </a:tc>
                <a:tc>
                  <a:txBody>
                    <a:bodyPr/>
                    <a:lstStyle/>
                    <a:p>
                      <a:r>
                        <a:rPr sz="1050">
                          <a:solidFill>
                            <a:srgbClr val="202124"/>
                          </a:solidFill>
                          <a:latin typeface="Aptos"/>
                          <a:ea typeface="Aptos"/>
                          <a:cs typeface="Aptos"/>
                        </a:rPr>
                        <a:t>656.3 nm</a:t>
                      </a:r>
                    </a:p>
                  </a:txBody>
                  <a:tcPr>
                    <a:solidFill>
                      <a:srgbClr val="FFFFFF"/>
                    </a:solidFill>
                  </a:tcPr>
                </a:tc>
                <a:extLst>
                  <a:ext uri="{0D108BD9-81ED-4DB2-BD59-A6C34878D82A}">
                    <a16:rowId xmlns:a16="http://schemas.microsoft.com/office/drawing/2014/main" val="10001"/>
                  </a:ext>
                </a:extLst>
              </a:tr>
              <a:tr h="419100">
                <a:tc>
                  <a:txBody>
                    <a:bodyPr/>
                    <a:lstStyle/>
                    <a:p>
                      <a:r>
                        <a:rPr sz="1050">
                          <a:solidFill>
                            <a:srgbClr val="202124"/>
                          </a:solidFill>
                          <a:latin typeface="Aptos"/>
                          <a:ea typeface="Aptos"/>
                          <a:cs typeface="Aptos"/>
                        </a:rPr>
                        <a:t>Measured H-alpha line</a:t>
                      </a:r>
                    </a:p>
                  </a:txBody>
                  <a:tcPr>
                    <a:solidFill>
                      <a:srgbClr val="F3F6F8"/>
                    </a:solidFill>
                  </a:tcPr>
                </a:tc>
                <a:tc>
                  <a:txBody>
                    <a:bodyPr/>
                    <a:lstStyle/>
                    <a:p>
                      <a:r>
                        <a:rPr sz="1050">
                          <a:solidFill>
                            <a:srgbClr val="202124"/>
                          </a:solidFill>
                          <a:latin typeface="Aptos"/>
                          <a:ea typeface="Aptos"/>
                          <a:cs typeface="Aptos"/>
                        </a:rPr>
                        <a:t>660.0 nm</a:t>
                      </a:r>
                    </a:p>
                  </a:txBody>
                  <a:tcPr>
                    <a:solidFill>
                      <a:srgbClr val="F3F6F8"/>
                    </a:solidFill>
                  </a:tcPr>
                </a:tc>
                <a:extLst>
                  <a:ext uri="{0D108BD9-81ED-4DB2-BD59-A6C34878D82A}">
                    <a16:rowId xmlns:a16="http://schemas.microsoft.com/office/drawing/2014/main" val="10002"/>
                  </a:ext>
                </a:extLst>
              </a:tr>
              <a:tr h="419100">
                <a:tc>
                  <a:txBody>
                    <a:bodyPr/>
                    <a:lstStyle/>
                    <a:p>
                      <a:r>
                        <a:rPr sz="1050">
                          <a:solidFill>
                            <a:srgbClr val="202124"/>
                          </a:solidFill>
                          <a:latin typeface="Aptos"/>
                          <a:ea typeface="Aptos"/>
                          <a:cs typeface="Aptos"/>
                        </a:rPr>
                        <a:t>Redshift</a:t>
                      </a:r>
                    </a:p>
                  </a:txBody>
                  <a:tcPr>
                    <a:solidFill>
                      <a:srgbClr val="FFFFFF"/>
                    </a:solidFill>
                  </a:tcPr>
                </a:tc>
                <a:tc>
                  <a:txBody>
                    <a:bodyPr/>
                    <a:lstStyle/>
                    <a:p>
                      <a:r>
                        <a:rPr sz="1050">
                          <a:solidFill>
                            <a:srgbClr val="202124"/>
                          </a:solidFill>
                          <a:latin typeface="Aptos"/>
                          <a:ea typeface="Aptos"/>
                          <a:cs typeface="Aptos"/>
                        </a:rPr>
                        <a:t>0.0056</a:t>
                      </a:r>
                    </a:p>
                  </a:txBody>
                  <a:tcPr>
                    <a:solidFill>
                      <a:srgbClr val="FFFFFF"/>
                    </a:solidFill>
                  </a:tcPr>
                </a:tc>
                <a:extLst>
                  <a:ext uri="{0D108BD9-81ED-4DB2-BD59-A6C34878D82A}">
                    <a16:rowId xmlns:a16="http://schemas.microsoft.com/office/drawing/2014/main" val="10003"/>
                  </a:ext>
                </a:extLst>
              </a:tr>
              <a:tr h="419100">
                <a:tc>
                  <a:txBody>
                    <a:bodyPr/>
                    <a:lstStyle/>
                    <a:p>
                      <a:r>
                        <a:rPr sz="1050">
                          <a:solidFill>
                            <a:srgbClr val="202124"/>
                          </a:solidFill>
                          <a:latin typeface="Aptos"/>
                          <a:ea typeface="Aptos"/>
                          <a:cs typeface="Aptos"/>
                        </a:rPr>
                        <a:t>Approx. velocity</a:t>
                      </a:r>
                    </a:p>
                  </a:txBody>
                  <a:tcPr>
                    <a:solidFill>
                      <a:srgbClr val="F3F6F8"/>
                    </a:solidFill>
                  </a:tcPr>
                </a:tc>
                <a:tc>
                  <a:txBody>
                    <a:bodyPr/>
                    <a:lstStyle/>
                    <a:p>
                      <a:r>
                        <a:rPr sz="1050">
                          <a:solidFill>
                            <a:srgbClr val="202124"/>
                          </a:solidFill>
                          <a:latin typeface="Aptos"/>
                          <a:ea typeface="Aptos"/>
                          <a:cs typeface="Aptos"/>
                        </a:rPr>
                        <a:t>1,680 km/s</a:t>
                      </a:r>
                    </a:p>
                  </a:txBody>
                  <a:tcPr>
                    <a:solidFill>
                      <a:srgbClr val="F3F6F8"/>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72E1CC2C-1A09-4666-B70A-3B70CF81F7C6}"/>
              </a:ext>
            </a:extLst>
          </p:cNvPr>
          <p:cNvSpPr>
            <a:spLocks noGrp="1"/>
          </p:cNvSpPr>
          <p:nvPr/>
        </p:nvSpPr>
        <p:spPr>
          <a:xfrm>
            <a:off x="685800" y="6438900"/>
            <a:ext cx="4762500" cy="228600"/>
          </a:xfrm>
          <a:prstGeom prst="rect">
            <a:avLst/>
          </a:prstGeom>
          <a:noFill/>
          <a:ln w="0">
            <a:noFill/>
          </a:ln>
        </p:spPr>
        <p:txBody>
          <a:bodyPr>
            <a:normAutofit/>
          </a:bodyPr>
          <a:lstStyle/>
          <a:p>
            <a:pPr>
              <a:defRPr sz="900" b="0">
                <a:solidFill>
                  <a:srgbClr val="5F6368"/>
                </a:solidFill>
                <a:latin typeface="Aptos"/>
                <a:ea typeface="Aptos"/>
                <a:cs typeface="Aptos"/>
              </a:defRPr>
            </a:pPr>
            <a:r>
              <a:rPr sz="900" b="0">
                <a:solidFill>
                  <a:srgbClr val="5F6368"/>
                </a:solidFill>
                <a:latin typeface="Aptos"/>
                <a:ea typeface="Aptos"/>
                <a:cs typeface="Aptos"/>
              </a:rPr>
              <a:t>Hubble's Law spectroscopy</a:t>
            </a:r>
          </a:p>
        </p:txBody>
      </p:sp>
      <p:sp>
        <p:nvSpPr>
          <p:cNvPr id="8" name="Rectangle 7">
            <a:extLst>
              <a:ext uri="{FF2B5EF4-FFF2-40B4-BE49-F238E27FC236}">
                <a16:creationId xmlns:a16="http://schemas.microsoft.com/office/drawing/2014/main" id="{F8527BB6-09C7-4D37-8402-1AD949DCC243}"/>
              </a:ext>
            </a:extLst>
          </p:cNvPr>
          <p:cNvSpPr>
            <a:spLocks noGrp="1"/>
          </p:cNvSpPr>
          <p:nvPr/>
        </p:nvSpPr>
        <p:spPr>
          <a:xfrm>
            <a:off x="11125200" y="6438900"/>
            <a:ext cx="381000" cy="228600"/>
          </a:xfrm>
          <a:prstGeom prst="rect">
            <a:avLst/>
          </a:prstGeom>
          <a:noFill/>
          <a:ln w="0">
            <a:noFill/>
          </a:ln>
        </p:spPr>
        <p:txBody>
          <a:bodyPr>
            <a:normAutofit fontScale="57500" lnSpcReduction="20000"/>
          </a:bodyPr>
          <a:lstStyle/>
          <a:p>
            <a:pPr>
              <a:defRPr sz="900" b="0">
                <a:solidFill>
                  <a:srgbClr val="5F6368"/>
                </a:solidFill>
                <a:latin typeface="Aptos"/>
                <a:ea typeface="Aptos"/>
                <a:cs typeface="Aptos"/>
              </a:defRPr>
            </a:pPr>
            <a:r>
              <a:rPr sz="900" b="0">
                <a:solidFill>
                  <a:srgbClr val="5F6368"/>
                </a:solidFill>
                <a:latin typeface="Aptos"/>
                <a:ea typeface="Aptos"/>
                <a:cs typeface="Aptos"/>
              </a:rPr>
              <a:t>undefined</a:t>
            </a:r>
          </a:p>
        </p:txBody>
      </p:sp>
    </p:spTree>
    <p:extLst>
      <p:ext uri="{BB962C8B-B14F-4D97-AF65-F5344CB8AC3E}">
        <p14:creationId xmlns:p14="http://schemas.microsoft.com/office/powerpoint/2010/main" val="503108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A483781-D242-4749-903B-DF8213B14B0D}"/>
              </a:ext>
            </a:extLst>
          </p:cNvPr>
          <p:cNvSpPr>
            <a:spLocks noGrp="1"/>
          </p:cNvSpPr>
          <p:nvPr/>
        </p:nvSpPr>
        <p:spPr>
          <a:xfrm>
            <a:off x="685800" y="419100"/>
            <a:ext cx="8191500" cy="495300"/>
          </a:xfrm>
          <a:prstGeom prst="rect">
            <a:avLst/>
          </a:prstGeom>
          <a:noFill/>
          <a:ln w="0">
            <a:noFill/>
          </a:ln>
        </p:spPr>
        <p:txBody>
          <a:bodyPr>
            <a:normAutofit/>
          </a:bodyPr>
          <a:lstStyle/>
          <a:p>
            <a:pPr>
              <a:defRPr sz="2625" b="1">
                <a:solidFill>
                  <a:srgbClr val="202124"/>
                </a:solidFill>
                <a:latin typeface="Aptos"/>
                <a:ea typeface="Aptos"/>
                <a:cs typeface="Aptos"/>
              </a:defRPr>
            </a:pPr>
            <a:r>
              <a:rPr sz="2625" b="1">
                <a:solidFill>
                  <a:srgbClr val="202124"/>
                </a:solidFill>
                <a:latin typeface="Aptos"/>
                <a:ea typeface="Aptos"/>
                <a:cs typeface="Aptos"/>
              </a:rPr>
              <a:t>Expected Hubble's Law graph</a:t>
            </a:r>
          </a:p>
        </p:txBody>
      </p:sp>
      <p:sp>
        <p:nvSpPr>
          <p:cNvPr id="2" name="Rectangle 1">
            <a:extLst>
              <a:ext uri="{FF2B5EF4-FFF2-40B4-BE49-F238E27FC236}">
                <a16:creationId xmlns:a16="http://schemas.microsoft.com/office/drawing/2014/main" id="{B3E874DF-B5A2-4DF9-8E1A-5E88AE484DB9}"/>
              </a:ext>
            </a:extLst>
          </p:cNvPr>
          <p:cNvSpPr>
            <a:spLocks noGrp="1"/>
          </p:cNvSpPr>
          <p:nvPr/>
        </p:nvSpPr>
        <p:spPr>
          <a:xfrm>
            <a:off x="685800" y="914400"/>
            <a:ext cx="9144000" cy="400050"/>
          </a:xfrm>
          <a:prstGeom prst="rect">
            <a:avLst/>
          </a:prstGeom>
          <a:noFill/>
          <a:ln w="0">
            <a:noFill/>
          </a:ln>
        </p:spPr>
        <p:txBody>
          <a:bodyPr>
            <a:normAutofit/>
          </a:bodyPr>
          <a:lstStyle/>
          <a:p>
            <a:pPr>
              <a:defRPr sz="1425" b="0">
                <a:solidFill>
                  <a:srgbClr val="5F6368"/>
                </a:solidFill>
                <a:latin typeface="Aptos"/>
                <a:ea typeface="Aptos"/>
                <a:cs typeface="Aptos"/>
              </a:defRPr>
            </a:pPr>
            <a:r>
              <a:rPr sz="1425" b="0">
                <a:solidFill>
                  <a:srgbClr val="5F6368"/>
                </a:solidFill>
                <a:latin typeface="Aptos"/>
                <a:ea typeface="Aptos"/>
                <a:cs typeface="Aptos"/>
              </a:rPr>
              <a:t>A positive trend supports the relationship between distance and recession velocity</a:t>
            </a:r>
          </a:p>
        </p:txBody>
      </p:sp>
      <p:sp>
        <p:nvSpPr>
          <p:cNvPr id="3" name="Rectangle 2">
            <a:extLst>
              <a:ext uri="{FF2B5EF4-FFF2-40B4-BE49-F238E27FC236}">
                <a16:creationId xmlns:a16="http://schemas.microsoft.com/office/drawing/2014/main" id="{108FFA1B-FBC4-49BF-B944-1C507FC19BC3}"/>
              </a:ext>
            </a:extLst>
          </p:cNvPr>
          <p:cNvSpPr>
            <a:spLocks noGrp="1"/>
          </p:cNvSpPr>
          <p:nvPr/>
        </p:nvSpPr>
        <p:spPr>
          <a:xfrm>
            <a:off x="685800" y="1409700"/>
            <a:ext cx="10820400" cy="19050"/>
          </a:xfrm>
          <a:prstGeom prst="rect">
            <a:avLst/>
          </a:prstGeom>
          <a:solidFill>
            <a:srgbClr val="D9DEE5"/>
          </a:solidFill>
          <a:ln w="0">
            <a:noFill/>
          </a:ln>
        </p:spPr>
        <p:txBody>
          <a:bodyPr/>
          <a:lstStyle/>
          <a:p>
            <a:endParaRPr lang="en-US"/>
          </a:p>
        </p:txBody>
      </p:sp>
      <p:graphicFrame>
        <p:nvGraphicFramePr>
          <p:cNvPr id="16" name="Chart"/>
          <p:cNvGraphicFramePr/>
          <p:nvPr/>
        </p:nvGraphicFramePr>
        <p:xfrm>
          <a:off x="952500" y="1790700"/>
          <a:ext cx="685800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5" name="Oval 4">
            <a:extLst>
              <a:ext uri="{FF2B5EF4-FFF2-40B4-BE49-F238E27FC236}">
                <a16:creationId xmlns:a16="http://schemas.microsoft.com/office/drawing/2014/main" id="{7462B429-7F9E-4F73-B121-6F7CC09896C0}"/>
              </a:ext>
            </a:extLst>
          </p:cNvPr>
          <p:cNvSpPr>
            <a:spLocks noGrp="1"/>
          </p:cNvSpPr>
          <p:nvPr/>
        </p:nvSpPr>
        <p:spPr>
          <a:xfrm>
            <a:off x="8477250" y="2286000"/>
            <a:ext cx="85725" cy="85725"/>
          </a:xfrm>
          <a:prstGeom prst="ellipse">
            <a:avLst/>
          </a:prstGeom>
          <a:solidFill>
            <a:srgbClr val="197C83"/>
          </a:solidFill>
          <a:ln w="0">
            <a:noFill/>
          </a:ln>
        </p:spPr>
        <p:txBody>
          <a:bodyPr/>
          <a:lstStyle/>
          <a:p>
            <a:endParaRPr lang="en-US"/>
          </a:p>
        </p:txBody>
      </p:sp>
      <p:sp>
        <p:nvSpPr>
          <p:cNvPr id="6" name="Rectangle 5">
            <a:extLst>
              <a:ext uri="{FF2B5EF4-FFF2-40B4-BE49-F238E27FC236}">
                <a16:creationId xmlns:a16="http://schemas.microsoft.com/office/drawing/2014/main" id="{4784C33C-7765-4281-BBD5-610DB119896D}"/>
              </a:ext>
            </a:extLst>
          </p:cNvPr>
          <p:cNvSpPr>
            <a:spLocks noGrp="1"/>
          </p:cNvSpPr>
          <p:nvPr/>
        </p:nvSpPr>
        <p:spPr>
          <a:xfrm>
            <a:off x="8686800" y="2190750"/>
            <a:ext cx="2647950" cy="514350"/>
          </a:xfrm>
          <a:prstGeom prst="rect">
            <a:avLst/>
          </a:prstGeom>
          <a:noFill/>
          <a:ln w="0">
            <a:noFill/>
          </a:ln>
        </p:spPr>
        <p:txBody>
          <a:bodyPr>
            <a:normAutofit/>
          </a:bodyPr>
          <a:lstStyle/>
          <a:p>
            <a:pPr>
              <a:defRPr sz="1350" b="0">
                <a:solidFill>
                  <a:srgbClr val="202124"/>
                </a:solidFill>
                <a:latin typeface="Aptos"/>
                <a:ea typeface="Aptos"/>
                <a:cs typeface="Aptos"/>
              </a:defRPr>
            </a:pPr>
            <a:r>
              <a:rPr sz="1350" b="0">
                <a:solidFill>
                  <a:srgbClr val="202124"/>
                </a:solidFill>
                <a:latin typeface="Aptos"/>
                <a:ea typeface="Aptos"/>
                <a:cs typeface="Aptos"/>
              </a:rPr>
              <a:t>Each point represents one galaxy</a:t>
            </a:r>
          </a:p>
        </p:txBody>
      </p:sp>
      <p:sp>
        <p:nvSpPr>
          <p:cNvPr id="7" name="Oval 6">
            <a:extLst>
              <a:ext uri="{FF2B5EF4-FFF2-40B4-BE49-F238E27FC236}">
                <a16:creationId xmlns:a16="http://schemas.microsoft.com/office/drawing/2014/main" id="{A37E45C7-D104-4A03-A4C6-0E40BA0B10EA}"/>
              </a:ext>
            </a:extLst>
          </p:cNvPr>
          <p:cNvSpPr>
            <a:spLocks noGrp="1"/>
          </p:cNvSpPr>
          <p:nvPr/>
        </p:nvSpPr>
        <p:spPr>
          <a:xfrm>
            <a:off x="8477250" y="2819400"/>
            <a:ext cx="85725" cy="85725"/>
          </a:xfrm>
          <a:prstGeom prst="ellipse">
            <a:avLst/>
          </a:prstGeom>
          <a:solidFill>
            <a:srgbClr val="197C83"/>
          </a:solidFill>
          <a:ln w="0">
            <a:noFill/>
          </a:ln>
        </p:spPr>
        <p:txBody>
          <a:bodyPr/>
          <a:lstStyle/>
          <a:p>
            <a:endParaRPr lang="en-US"/>
          </a:p>
        </p:txBody>
      </p:sp>
      <p:sp>
        <p:nvSpPr>
          <p:cNvPr id="8" name="Rectangle 7">
            <a:extLst>
              <a:ext uri="{FF2B5EF4-FFF2-40B4-BE49-F238E27FC236}">
                <a16:creationId xmlns:a16="http://schemas.microsoft.com/office/drawing/2014/main" id="{5DFFBB90-FCA2-47E4-9E15-688AEBB396AA}"/>
              </a:ext>
            </a:extLst>
          </p:cNvPr>
          <p:cNvSpPr>
            <a:spLocks noGrp="1"/>
          </p:cNvSpPr>
          <p:nvPr/>
        </p:nvSpPr>
        <p:spPr>
          <a:xfrm>
            <a:off x="8686800" y="2724150"/>
            <a:ext cx="2647950" cy="514350"/>
          </a:xfrm>
          <a:prstGeom prst="rect">
            <a:avLst/>
          </a:prstGeom>
          <a:noFill/>
          <a:ln w="0">
            <a:noFill/>
          </a:ln>
        </p:spPr>
        <p:txBody>
          <a:bodyPr>
            <a:normAutofit fontScale="87342"/>
          </a:bodyPr>
          <a:lstStyle/>
          <a:p>
            <a:pPr>
              <a:defRPr sz="1350" b="0">
                <a:solidFill>
                  <a:srgbClr val="202124"/>
                </a:solidFill>
                <a:latin typeface="Aptos"/>
                <a:ea typeface="Aptos"/>
                <a:cs typeface="Aptos"/>
              </a:defRPr>
            </a:pPr>
            <a:r>
              <a:rPr sz="1350" b="0">
                <a:solidFill>
                  <a:srgbClr val="202124"/>
                </a:solidFill>
                <a:latin typeface="Aptos"/>
                <a:ea typeface="Aptos"/>
                <a:cs typeface="Aptos"/>
              </a:rPr>
              <a:t>Large scatter can come from measurement noise and local motion</a:t>
            </a:r>
          </a:p>
        </p:txBody>
      </p:sp>
      <p:sp>
        <p:nvSpPr>
          <p:cNvPr id="9" name="Oval 8">
            <a:extLst>
              <a:ext uri="{FF2B5EF4-FFF2-40B4-BE49-F238E27FC236}">
                <a16:creationId xmlns:a16="http://schemas.microsoft.com/office/drawing/2014/main" id="{6F670C1D-DD83-4EC1-B35C-D30F530CE828}"/>
              </a:ext>
            </a:extLst>
          </p:cNvPr>
          <p:cNvSpPr>
            <a:spLocks noGrp="1"/>
          </p:cNvSpPr>
          <p:nvPr/>
        </p:nvSpPr>
        <p:spPr>
          <a:xfrm>
            <a:off x="8477250" y="3352800"/>
            <a:ext cx="85725" cy="85725"/>
          </a:xfrm>
          <a:prstGeom prst="ellipse">
            <a:avLst/>
          </a:prstGeom>
          <a:solidFill>
            <a:srgbClr val="197C83"/>
          </a:solidFill>
          <a:ln w="0">
            <a:noFill/>
          </a:ln>
        </p:spPr>
        <p:txBody>
          <a:bodyPr/>
          <a:lstStyle/>
          <a:p>
            <a:endParaRPr lang="en-US"/>
          </a:p>
        </p:txBody>
      </p:sp>
      <p:sp>
        <p:nvSpPr>
          <p:cNvPr id="10" name="Rectangle 9">
            <a:extLst>
              <a:ext uri="{FF2B5EF4-FFF2-40B4-BE49-F238E27FC236}">
                <a16:creationId xmlns:a16="http://schemas.microsoft.com/office/drawing/2014/main" id="{E25C721F-1977-4625-8609-080301019C87}"/>
              </a:ext>
            </a:extLst>
          </p:cNvPr>
          <p:cNvSpPr>
            <a:spLocks noGrp="1"/>
          </p:cNvSpPr>
          <p:nvPr/>
        </p:nvSpPr>
        <p:spPr>
          <a:xfrm>
            <a:off x="8686800" y="3257550"/>
            <a:ext cx="2647950" cy="514350"/>
          </a:xfrm>
          <a:prstGeom prst="rect">
            <a:avLst/>
          </a:prstGeom>
          <a:noFill/>
          <a:ln w="0">
            <a:noFill/>
          </a:ln>
        </p:spPr>
        <p:txBody>
          <a:bodyPr>
            <a:normAutofit/>
          </a:bodyPr>
          <a:lstStyle/>
          <a:p>
            <a:pPr>
              <a:defRPr sz="1350" b="0">
                <a:solidFill>
                  <a:srgbClr val="202124"/>
                </a:solidFill>
                <a:latin typeface="Aptos"/>
                <a:ea typeface="Aptos"/>
                <a:cs typeface="Aptos"/>
              </a:defRPr>
            </a:pPr>
            <a:r>
              <a:rPr sz="1350" b="0">
                <a:solidFill>
                  <a:srgbClr val="202124"/>
                </a:solidFill>
                <a:latin typeface="Aptos"/>
                <a:ea typeface="Aptos"/>
                <a:cs typeface="Aptos"/>
              </a:rPr>
              <a:t>The slope estimates the Hubble constant</a:t>
            </a:r>
          </a:p>
        </p:txBody>
      </p:sp>
      <p:sp>
        <p:nvSpPr>
          <p:cNvPr id="11" name="Rectangle 10">
            <a:extLst>
              <a:ext uri="{FF2B5EF4-FFF2-40B4-BE49-F238E27FC236}">
                <a16:creationId xmlns:a16="http://schemas.microsoft.com/office/drawing/2014/main" id="{9E745EFA-7DB7-48F8-8B6C-E2955946AFFB}"/>
              </a:ext>
            </a:extLst>
          </p:cNvPr>
          <p:cNvSpPr>
            <a:spLocks noGrp="1"/>
          </p:cNvSpPr>
          <p:nvPr/>
        </p:nvSpPr>
        <p:spPr>
          <a:xfrm>
            <a:off x="685800" y="6438900"/>
            <a:ext cx="4762500" cy="228600"/>
          </a:xfrm>
          <a:prstGeom prst="rect">
            <a:avLst/>
          </a:prstGeom>
          <a:noFill/>
          <a:ln w="0">
            <a:noFill/>
          </a:ln>
        </p:spPr>
        <p:txBody>
          <a:bodyPr>
            <a:normAutofit/>
          </a:bodyPr>
          <a:lstStyle/>
          <a:p>
            <a:pPr>
              <a:defRPr sz="900" b="0">
                <a:solidFill>
                  <a:srgbClr val="5F6368"/>
                </a:solidFill>
                <a:latin typeface="Aptos"/>
                <a:ea typeface="Aptos"/>
                <a:cs typeface="Aptos"/>
              </a:defRPr>
            </a:pPr>
            <a:r>
              <a:rPr sz="900" b="0">
                <a:solidFill>
                  <a:srgbClr val="5F6368"/>
                </a:solidFill>
                <a:latin typeface="Aptos"/>
                <a:ea typeface="Aptos"/>
                <a:cs typeface="Aptos"/>
              </a:rPr>
              <a:t>Hubble's Law spectroscopy</a:t>
            </a:r>
          </a:p>
        </p:txBody>
      </p:sp>
      <p:sp>
        <p:nvSpPr>
          <p:cNvPr id="12" name="Rectangle 11">
            <a:extLst>
              <a:ext uri="{FF2B5EF4-FFF2-40B4-BE49-F238E27FC236}">
                <a16:creationId xmlns:a16="http://schemas.microsoft.com/office/drawing/2014/main" id="{47CC1BBC-2F36-425E-8D74-707E6039534F}"/>
              </a:ext>
            </a:extLst>
          </p:cNvPr>
          <p:cNvSpPr>
            <a:spLocks noGrp="1"/>
          </p:cNvSpPr>
          <p:nvPr/>
        </p:nvSpPr>
        <p:spPr>
          <a:xfrm>
            <a:off x="11125200" y="6438900"/>
            <a:ext cx="381000" cy="228600"/>
          </a:xfrm>
          <a:prstGeom prst="rect">
            <a:avLst/>
          </a:prstGeom>
          <a:noFill/>
          <a:ln w="0">
            <a:noFill/>
          </a:ln>
        </p:spPr>
        <p:txBody>
          <a:bodyPr>
            <a:normAutofit fontScale="57500" lnSpcReduction="20000"/>
          </a:bodyPr>
          <a:lstStyle/>
          <a:p>
            <a:pPr>
              <a:defRPr sz="900" b="0">
                <a:solidFill>
                  <a:srgbClr val="5F6368"/>
                </a:solidFill>
                <a:latin typeface="Aptos"/>
                <a:ea typeface="Aptos"/>
                <a:cs typeface="Aptos"/>
              </a:defRPr>
            </a:pPr>
            <a:r>
              <a:rPr sz="900" b="0">
                <a:solidFill>
                  <a:srgbClr val="5F6368"/>
                </a:solidFill>
                <a:latin typeface="Aptos"/>
                <a:ea typeface="Aptos"/>
                <a:cs typeface="Aptos"/>
              </a:rPr>
              <a:t>undefined</a:t>
            </a:r>
          </a:p>
        </p:txBody>
      </p:sp>
    </p:spTree>
    <p:extLst>
      <p:ext uri="{BB962C8B-B14F-4D97-AF65-F5344CB8AC3E}">
        <p14:creationId xmlns:p14="http://schemas.microsoft.com/office/powerpoint/2010/main" val="844849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D0272AE-107A-492E-8F6C-FB941F0D3EE8}"/>
              </a:ext>
            </a:extLst>
          </p:cNvPr>
          <p:cNvSpPr>
            <a:spLocks noGrp="1"/>
          </p:cNvSpPr>
          <p:nvPr/>
        </p:nvSpPr>
        <p:spPr>
          <a:xfrm>
            <a:off x="685800" y="419100"/>
            <a:ext cx="8191500" cy="495300"/>
          </a:xfrm>
          <a:prstGeom prst="rect">
            <a:avLst/>
          </a:prstGeom>
          <a:noFill/>
          <a:ln w="0">
            <a:noFill/>
          </a:ln>
        </p:spPr>
        <p:txBody>
          <a:bodyPr>
            <a:normAutofit/>
          </a:bodyPr>
          <a:lstStyle/>
          <a:p>
            <a:pPr>
              <a:defRPr sz="2625" b="1">
                <a:solidFill>
                  <a:srgbClr val="202124"/>
                </a:solidFill>
                <a:latin typeface="Aptos"/>
                <a:ea typeface="Aptos"/>
                <a:cs typeface="Aptos"/>
              </a:defRPr>
            </a:pPr>
            <a:r>
              <a:rPr sz="2625" b="1">
                <a:solidFill>
                  <a:srgbClr val="202124"/>
                </a:solidFill>
                <a:latin typeface="Aptos"/>
                <a:ea typeface="Aptos"/>
                <a:cs typeface="Aptos"/>
              </a:rPr>
              <a:t>Project calendar</a:t>
            </a:r>
          </a:p>
        </p:txBody>
      </p:sp>
      <p:sp>
        <p:nvSpPr>
          <p:cNvPr id="2" name="Rectangle 1">
            <a:extLst>
              <a:ext uri="{FF2B5EF4-FFF2-40B4-BE49-F238E27FC236}">
                <a16:creationId xmlns:a16="http://schemas.microsoft.com/office/drawing/2014/main" id="{A7B7FF30-E7FF-4C7B-BDCA-801E60F62DF3}"/>
              </a:ext>
            </a:extLst>
          </p:cNvPr>
          <p:cNvSpPr>
            <a:spLocks noGrp="1"/>
          </p:cNvSpPr>
          <p:nvPr/>
        </p:nvSpPr>
        <p:spPr>
          <a:xfrm>
            <a:off x="685800" y="914400"/>
            <a:ext cx="9144000" cy="400050"/>
          </a:xfrm>
          <a:prstGeom prst="rect">
            <a:avLst/>
          </a:prstGeom>
          <a:noFill/>
          <a:ln w="0">
            <a:noFill/>
          </a:ln>
        </p:spPr>
        <p:txBody>
          <a:bodyPr>
            <a:normAutofit/>
          </a:bodyPr>
          <a:lstStyle/>
          <a:p>
            <a:pPr>
              <a:defRPr sz="1425" b="0">
                <a:solidFill>
                  <a:srgbClr val="5F6368"/>
                </a:solidFill>
                <a:latin typeface="Aptos"/>
                <a:ea typeface="Aptos"/>
                <a:cs typeface="Aptos"/>
              </a:defRPr>
            </a:pPr>
            <a:r>
              <a:rPr sz="1425" b="0">
                <a:solidFill>
                  <a:srgbClr val="5F6368"/>
                </a:solidFill>
                <a:latin typeface="Aptos"/>
                <a:ea typeface="Aptos"/>
                <a:cs typeface="Aptos"/>
              </a:rPr>
              <a:t>The first goal is reliable wavelength calibration before galaxy data</a:t>
            </a:r>
          </a:p>
        </p:txBody>
      </p:sp>
      <p:sp>
        <p:nvSpPr>
          <p:cNvPr id="3" name="Rectangle 2">
            <a:extLst>
              <a:ext uri="{FF2B5EF4-FFF2-40B4-BE49-F238E27FC236}">
                <a16:creationId xmlns:a16="http://schemas.microsoft.com/office/drawing/2014/main" id="{2BAACC6F-0B49-49F1-BA6A-AC7DD4496F22}"/>
              </a:ext>
            </a:extLst>
          </p:cNvPr>
          <p:cNvSpPr>
            <a:spLocks noGrp="1"/>
          </p:cNvSpPr>
          <p:nvPr/>
        </p:nvSpPr>
        <p:spPr>
          <a:xfrm>
            <a:off x="685800" y="1409700"/>
            <a:ext cx="10820400" cy="19050"/>
          </a:xfrm>
          <a:prstGeom prst="rect">
            <a:avLst/>
          </a:prstGeom>
          <a:solidFill>
            <a:srgbClr val="D9DEE5"/>
          </a:solidFill>
          <a:ln w="0">
            <a:noFill/>
          </a:ln>
        </p:spPr>
        <p:txBody>
          <a:bodyPr/>
          <a:lstStyle/>
          <a:p>
            <a:endParaRPr lang="en-US"/>
          </a:p>
        </p:txBody>
      </p:sp>
      <p:graphicFrame>
        <p:nvGraphicFramePr>
          <p:cNvPr id="10" name="Table 9"/>
          <p:cNvGraphicFramePr/>
          <p:nvPr/>
        </p:nvGraphicFramePr>
        <p:xfrm>
          <a:off x="685800" y="1714500"/>
          <a:ext cx="10820400" cy="3905248"/>
        </p:xfrm>
        <a:graphic>
          <a:graphicData uri="http://schemas.openxmlformats.org/drawingml/2006/table">
            <a:tbl>
              <a:tblPr firstRow="1" bandRow="1"/>
              <a:tblGrid>
                <a:gridCol w="3606800">
                  <a:extLst>
                    <a:ext uri="{9D8B030D-6E8A-4147-A177-3AD203B41FA5}">
                      <a16:colId xmlns:a16="http://schemas.microsoft.com/office/drawing/2014/main" val="20000"/>
                    </a:ext>
                  </a:extLst>
                </a:gridCol>
                <a:gridCol w="3606800">
                  <a:extLst>
                    <a:ext uri="{9D8B030D-6E8A-4147-A177-3AD203B41FA5}">
                      <a16:colId xmlns:a16="http://schemas.microsoft.com/office/drawing/2014/main" val="20001"/>
                    </a:ext>
                  </a:extLst>
                </a:gridCol>
                <a:gridCol w="3606800">
                  <a:extLst>
                    <a:ext uri="{9D8B030D-6E8A-4147-A177-3AD203B41FA5}">
                      <a16:colId xmlns:a16="http://schemas.microsoft.com/office/drawing/2014/main" val="20002"/>
                    </a:ext>
                  </a:extLst>
                </a:gridCol>
              </a:tblGrid>
              <a:tr h="488156">
                <a:tc>
                  <a:txBody>
                    <a:bodyPr/>
                    <a:lstStyle/>
                    <a:p>
                      <a:r>
                        <a:rPr sz="1200" b="1">
                          <a:solidFill>
                            <a:srgbClr val="FFFFFF"/>
                          </a:solidFill>
                          <a:latin typeface="Aptos"/>
                          <a:ea typeface="Aptos"/>
                          <a:cs typeface="Aptos"/>
                        </a:rPr>
                        <a:t>Month</a:t>
                      </a:r>
                    </a:p>
                  </a:txBody>
                  <a:tcPr>
                    <a:solidFill>
                      <a:srgbClr val="B84A3A"/>
                    </a:solidFill>
                  </a:tcPr>
                </a:tc>
                <a:tc>
                  <a:txBody>
                    <a:bodyPr/>
                    <a:lstStyle/>
                    <a:p>
                      <a:r>
                        <a:rPr sz="1200" b="1">
                          <a:solidFill>
                            <a:srgbClr val="FFFFFF"/>
                          </a:solidFill>
                          <a:latin typeface="Aptos"/>
                          <a:ea typeface="Aptos"/>
                          <a:cs typeface="Aptos"/>
                        </a:rPr>
                        <a:t>Student learning</a:t>
                      </a:r>
                    </a:p>
                  </a:txBody>
                  <a:tcPr>
                    <a:solidFill>
                      <a:srgbClr val="B84A3A"/>
                    </a:solidFill>
                  </a:tcPr>
                </a:tc>
                <a:tc>
                  <a:txBody>
                    <a:bodyPr/>
                    <a:lstStyle/>
                    <a:p>
                      <a:r>
                        <a:rPr sz="1200" b="1">
                          <a:solidFill>
                            <a:srgbClr val="FFFFFF"/>
                          </a:solidFill>
                          <a:latin typeface="Aptos"/>
                          <a:ea typeface="Aptos"/>
                          <a:cs typeface="Aptos"/>
                        </a:rPr>
                        <a:t>Project milestone</a:t>
                      </a:r>
                    </a:p>
                  </a:txBody>
                  <a:tcPr>
                    <a:solidFill>
                      <a:srgbClr val="B84A3A"/>
                    </a:solidFill>
                  </a:tcPr>
                </a:tc>
                <a:extLst>
                  <a:ext uri="{0D108BD9-81ED-4DB2-BD59-A6C34878D82A}">
                    <a16:rowId xmlns:a16="http://schemas.microsoft.com/office/drawing/2014/main" val="10000"/>
                  </a:ext>
                </a:extLst>
              </a:tr>
              <a:tr h="488156">
                <a:tc>
                  <a:txBody>
                    <a:bodyPr/>
                    <a:lstStyle/>
                    <a:p>
                      <a:r>
                        <a:rPr sz="1050">
                          <a:solidFill>
                            <a:srgbClr val="202124"/>
                          </a:solidFill>
                          <a:latin typeface="Aptos"/>
                          <a:ea typeface="Aptos"/>
                          <a:cs typeface="Aptos"/>
                        </a:rPr>
                        <a:t>Sep</a:t>
                      </a:r>
                    </a:p>
                  </a:txBody>
                  <a:tcPr>
                    <a:solidFill>
                      <a:srgbClr val="FFFFFF"/>
                    </a:solidFill>
                  </a:tcPr>
                </a:tc>
                <a:tc>
                  <a:txBody>
                    <a:bodyPr/>
                    <a:lstStyle/>
                    <a:p>
                      <a:r>
                        <a:rPr sz="1050">
                          <a:solidFill>
                            <a:srgbClr val="202124"/>
                          </a:solidFill>
                          <a:latin typeface="Aptos"/>
                          <a:ea typeface="Aptos"/>
                          <a:cs typeface="Aptos"/>
                        </a:rPr>
                        <a:t>Spectra, redshift, wavelength and Hubble's Law</a:t>
                      </a:r>
                    </a:p>
                  </a:txBody>
                  <a:tcPr>
                    <a:solidFill>
                      <a:srgbClr val="FFFFFF"/>
                    </a:solidFill>
                  </a:tcPr>
                </a:tc>
                <a:tc>
                  <a:txBody>
                    <a:bodyPr/>
                    <a:lstStyle/>
                    <a:p>
                      <a:r>
                        <a:rPr sz="1050">
                          <a:solidFill>
                            <a:srgbClr val="202124"/>
                          </a:solidFill>
                          <a:latin typeface="Aptos"/>
                          <a:ea typeface="Aptos"/>
                          <a:cs typeface="Aptos"/>
                        </a:rPr>
                        <a:t>Roles assigned and formula practice complete</a:t>
                      </a:r>
                    </a:p>
                  </a:txBody>
                  <a:tcPr>
                    <a:solidFill>
                      <a:srgbClr val="FFFFFF"/>
                    </a:solidFill>
                  </a:tcPr>
                </a:tc>
                <a:extLst>
                  <a:ext uri="{0D108BD9-81ED-4DB2-BD59-A6C34878D82A}">
                    <a16:rowId xmlns:a16="http://schemas.microsoft.com/office/drawing/2014/main" val="10001"/>
                  </a:ext>
                </a:extLst>
              </a:tr>
              <a:tr h="488156">
                <a:tc>
                  <a:txBody>
                    <a:bodyPr/>
                    <a:lstStyle/>
                    <a:p>
                      <a:r>
                        <a:rPr sz="1050" dirty="0">
                          <a:solidFill>
                            <a:srgbClr val="202124"/>
                          </a:solidFill>
                          <a:latin typeface="Aptos"/>
                          <a:ea typeface="Aptos"/>
                          <a:cs typeface="Aptos"/>
                        </a:rPr>
                        <a:t>Oct</a:t>
                      </a:r>
                    </a:p>
                  </a:txBody>
                  <a:tcPr>
                    <a:solidFill>
                      <a:srgbClr val="F3F6F8"/>
                    </a:solidFill>
                  </a:tcPr>
                </a:tc>
                <a:tc>
                  <a:txBody>
                    <a:bodyPr/>
                    <a:lstStyle/>
                    <a:p>
                      <a:r>
                        <a:rPr sz="1050">
                          <a:solidFill>
                            <a:srgbClr val="202124"/>
                          </a:solidFill>
                          <a:latin typeface="Aptos"/>
                          <a:ea typeface="Aptos"/>
                          <a:cs typeface="Aptos"/>
                        </a:rPr>
                        <a:t>Spectroscope setup and calibration</a:t>
                      </a:r>
                    </a:p>
                  </a:txBody>
                  <a:tcPr>
                    <a:solidFill>
                      <a:srgbClr val="F3F6F8"/>
                    </a:solidFill>
                  </a:tcPr>
                </a:tc>
                <a:tc>
                  <a:txBody>
                    <a:bodyPr/>
                    <a:lstStyle/>
                    <a:p>
                      <a:r>
                        <a:rPr sz="1050">
                          <a:solidFill>
                            <a:srgbClr val="202124"/>
                          </a:solidFill>
                          <a:latin typeface="Aptos"/>
                          <a:ea typeface="Aptos"/>
                          <a:cs typeface="Aptos"/>
                        </a:rPr>
                        <a:t>Calibrated stellar spectrum with labeled lines</a:t>
                      </a:r>
                    </a:p>
                  </a:txBody>
                  <a:tcPr>
                    <a:solidFill>
                      <a:srgbClr val="F3F6F8"/>
                    </a:solidFill>
                  </a:tcPr>
                </a:tc>
                <a:extLst>
                  <a:ext uri="{0D108BD9-81ED-4DB2-BD59-A6C34878D82A}">
                    <a16:rowId xmlns:a16="http://schemas.microsoft.com/office/drawing/2014/main" val="10002"/>
                  </a:ext>
                </a:extLst>
              </a:tr>
              <a:tr h="488156">
                <a:tc>
                  <a:txBody>
                    <a:bodyPr/>
                    <a:lstStyle/>
                    <a:p>
                      <a:r>
                        <a:rPr sz="1050">
                          <a:solidFill>
                            <a:srgbClr val="202124"/>
                          </a:solidFill>
                          <a:latin typeface="Aptos"/>
                          <a:ea typeface="Aptos"/>
                          <a:cs typeface="Aptos"/>
                        </a:rPr>
                        <a:t>Nov</a:t>
                      </a:r>
                    </a:p>
                  </a:txBody>
                  <a:tcPr>
                    <a:solidFill>
                      <a:srgbClr val="FFFFFF"/>
                    </a:solidFill>
                  </a:tcPr>
                </a:tc>
                <a:tc>
                  <a:txBody>
                    <a:bodyPr/>
                    <a:lstStyle/>
                    <a:p>
                      <a:r>
                        <a:rPr sz="1050">
                          <a:solidFill>
                            <a:srgbClr val="202124"/>
                          </a:solidFill>
                          <a:latin typeface="Aptos"/>
                          <a:ea typeface="Aptos"/>
                          <a:cs typeface="Aptos"/>
                        </a:rPr>
                        <a:t>Galaxy target choice and long exposures</a:t>
                      </a:r>
                    </a:p>
                  </a:txBody>
                  <a:tcPr>
                    <a:solidFill>
                      <a:srgbClr val="FFFFFF"/>
                    </a:solidFill>
                  </a:tcPr>
                </a:tc>
                <a:tc>
                  <a:txBody>
                    <a:bodyPr/>
                    <a:lstStyle/>
                    <a:p>
                      <a:r>
                        <a:rPr sz="1050">
                          <a:solidFill>
                            <a:srgbClr val="202124"/>
                          </a:solidFill>
                          <a:latin typeface="Aptos"/>
                          <a:ea typeface="Aptos"/>
                          <a:cs typeface="Aptos"/>
                        </a:rPr>
                        <a:t>First galaxy spectrum attempt</a:t>
                      </a:r>
                    </a:p>
                  </a:txBody>
                  <a:tcPr>
                    <a:solidFill>
                      <a:srgbClr val="FFFFFF"/>
                    </a:solidFill>
                  </a:tcPr>
                </a:tc>
                <a:extLst>
                  <a:ext uri="{0D108BD9-81ED-4DB2-BD59-A6C34878D82A}">
                    <a16:rowId xmlns:a16="http://schemas.microsoft.com/office/drawing/2014/main" val="10003"/>
                  </a:ext>
                </a:extLst>
              </a:tr>
              <a:tr h="488156">
                <a:tc>
                  <a:txBody>
                    <a:bodyPr/>
                    <a:lstStyle/>
                    <a:p>
                      <a:r>
                        <a:rPr sz="1050">
                          <a:solidFill>
                            <a:srgbClr val="202124"/>
                          </a:solidFill>
                          <a:latin typeface="Aptos"/>
                          <a:ea typeface="Aptos"/>
                          <a:cs typeface="Aptos"/>
                        </a:rPr>
                        <a:t>Dec</a:t>
                      </a:r>
                    </a:p>
                  </a:txBody>
                  <a:tcPr>
                    <a:solidFill>
                      <a:srgbClr val="F3F6F8"/>
                    </a:solidFill>
                  </a:tcPr>
                </a:tc>
                <a:tc>
                  <a:txBody>
                    <a:bodyPr/>
                    <a:lstStyle/>
                    <a:p>
                      <a:r>
                        <a:rPr sz="1050">
                          <a:solidFill>
                            <a:srgbClr val="202124"/>
                          </a:solidFill>
                          <a:latin typeface="Aptos"/>
                          <a:ea typeface="Aptos"/>
                          <a:cs typeface="Aptos"/>
                        </a:rPr>
                        <a:t>Line fitting and comparison with published redshifts</a:t>
                      </a:r>
                    </a:p>
                  </a:txBody>
                  <a:tcPr>
                    <a:solidFill>
                      <a:srgbClr val="F3F6F8"/>
                    </a:solidFill>
                  </a:tcPr>
                </a:tc>
                <a:tc>
                  <a:txBody>
                    <a:bodyPr/>
                    <a:lstStyle/>
                    <a:p>
                      <a:r>
                        <a:rPr sz="1050">
                          <a:solidFill>
                            <a:srgbClr val="202124"/>
                          </a:solidFill>
                          <a:latin typeface="Aptos"/>
                          <a:ea typeface="Aptos"/>
                          <a:cs typeface="Aptos"/>
                        </a:rPr>
                        <a:t>Quality review and target list revision</a:t>
                      </a:r>
                    </a:p>
                  </a:txBody>
                  <a:tcPr>
                    <a:solidFill>
                      <a:srgbClr val="F3F6F8"/>
                    </a:solidFill>
                  </a:tcPr>
                </a:tc>
                <a:extLst>
                  <a:ext uri="{0D108BD9-81ED-4DB2-BD59-A6C34878D82A}">
                    <a16:rowId xmlns:a16="http://schemas.microsoft.com/office/drawing/2014/main" val="10004"/>
                  </a:ext>
                </a:extLst>
              </a:tr>
              <a:tr h="488156">
                <a:tc>
                  <a:txBody>
                    <a:bodyPr/>
                    <a:lstStyle/>
                    <a:p>
                      <a:r>
                        <a:rPr sz="1050">
                          <a:solidFill>
                            <a:srgbClr val="202124"/>
                          </a:solidFill>
                          <a:latin typeface="Aptos"/>
                          <a:ea typeface="Aptos"/>
                          <a:cs typeface="Aptos"/>
                        </a:rPr>
                        <a:t>Jan</a:t>
                      </a:r>
                    </a:p>
                  </a:txBody>
                  <a:tcPr>
                    <a:solidFill>
                      <a:srgbClr val="FFFFFF"/>
                    </a:solidFill>
                  </a:tcPr>
                </a:tc>
                <a:tc>
                  <a:txBody>
                    <a:bodyPr/>
                    <a:lstStyle/>
                    <a:p>
                      <a:r>
                        <a:rPr sz="1050">
                          <a:solidFill>
                            <a:srgbClr val="202124"/>
                          </a:solidFill>
                          <a:latin typeface="Aptos"/>
                          <a:ea typeface="Aptos"/>
                          <a:cs typeface="Aptos"/>
                        </a:rPr>
                        <a:t>Final galaxy set or hybrid public dataset</a:t>
                      </a:r>
                    </a:p>
                  </a:txBody>
                  <a:tcPr>
                    <a:solidFill>
                      <a:srgbClr val="FFFFFF"/>
                    </a:solidFill>
                  </a:tcPr>
                </a:tc>
                <a:tc>
                  <a:txBody>
                    <a:bodyPr/>
                    <a:lstStyle/>
                    <a:p>
                      <a:r>
                        <a:rPr sz="1050">
                          <a:solidFill>
                            <a:srgbClr val="202124"/>
                          </a:solidFill>
                          <a:latin typeface="Aptos"/>
                          <a:ea typeface="Aptos"/>
                          <a:cs typeface="Aptos"/>
                        </a:rPr>
                        <a:t>Velocity-distance table ready</a:t>
                      </a:r>
                    </a:p>
                  </a:txBody>
                  <a:tcPr>
                    <a:solidFill>
                      <a:srgbClr val="FFFFFF"/>
                    </a:solidFill>
                  </a:tcPr>
                </a:tc>
                <a:extLst>
                  <a:ext uri="{0D108BD9-81ED-4DB2-BD59-A6C34878D82A}">
                    <a16:rowId xmlns:a16="http://schemas.microsoft.com/office/drawing/2014/main" val="10005"/>
                  </a:ext>
                </a:extLst>
              </a:tr>
              <a:tr h="488156">
                <a:tc>
                  <a:txBody>
                    <a:bodyPr/>
                    <a:lstStyle/>
                    <a:p>
                      <a:r>
                        <a:rPr sz="1050">
                          <a:solidFill>
                            <a:srgbClr val="202124"/>
                          </a:solidFill>
                          <a:latin typeface="Aptos"/>
                          <a:ea typeface="Aptos"/>
                          <a:cs typeface="Aptos"/>
                        </a:rPr>
                        <a:t>Feb</a:t>
                      </a:r>
                    </a:p>
                  </a:txBody>
                  <a:tcPr>
                    <a:solidFill>
                      <a:srgbClr val="F3F6F8"/>
                    </a:solidFill>
                  </a:tcPr>
                </a:tc>
                <a:tc>
                  <a:txBody>
                    <a:bodyPr/>
                    <a:lstStyle/>
                    <a:p>
                      <a:r>
                        <a:rPr sz="1050">
                          <a:solidFill>
                            <a:srgbClr val="202124"/>
                          </a:solidFill>
                          <a:latin typeface="Aptos"/>
                          <a:ea typeface="Aptos"/>
                          <a:cs typeface="Aptos"/>
                        </a:rPr>
                        <a:t>Graphs, uncertainty and judge questions</a:t>
                      </a:r>
                    </a:p>
                  </a:txBody>
                  <a:tcPr>
                    <a:solidFill>
                      <a:srgbClr val="F3F6F8"/>
                    </a:solidFill>
                  </a:tcPr>
                </a:tc>
                <a:tc>
                  <a:txBody>
                    <a:bodyPr/>
                    <a:lstStyle/>
                    <a:p>
                      <a:r>
                        <a:rPr sz="1050">
                          <a:solidFill>
                            <a:srgbClr val="202124"/>
                          </a:solidFill>
                          <a:latin typeface="Aptos"/>
                          <a:ea typeface="Aptos"/>
                          <a:cs typeface="Aptos"/>
                        </a:rPr>
                        <a:t>Board draft and oral practice</a:t>
                      </a:r>
                    </a:p>
                  </a:txBody>
                  <a:tcPr>
                    <a:solidFill>
                      <a:srgbClr val="F3F6F8"/>
                    </a:solidFill>
                  </a:tcPr>
                </a:tc>
                <a:extLst>
                  <a:ext uri="{0D108BD9-81ED-4DB2-BD59-A6C34878D82A}">
                    <a16:rowId xmlns:a16="http://schemas.microsoft.com/office/drawing/2014/main" val="10006"/>
                  </a:ext>
                </a:extLst>
              </a:tr>
              <a:tr h="488156">
                <a:tc>
                  <a:txBody>
                    <a:bodyPr/>
                    <a:lstStyle/>
                    <a:p>
                      <a:r>
                        <a:rPr sz="1050">
                          <a:solidFill>
                            <a:srgbClr val="202124"/>
                          </a:solidFill>
                          <a:latin typeface="Aptos"/>
                          <a:ea typeface="Aptos"/>
                          <a:cs typeface="Aptos"/>
                        </a:rPr>
                        <a:t>Mar</a:t>
                      </a:r>
                    </a:p>
                  </a:txBody>
                  <a:tcPr>
                    <a:solidFill>
                      <a:srgbClr val="FFFFFF"/>
                    </a:solidFill>
                  </a:tcPr>
                </a:tc>
                <a:tc>
                  <a:txBody>
                    <a:bodyPr/>
                    <a:lstStyle/>
                    <a:p>
                      <a:r>
                        <a:rPr sz="1050">
                          <a:solidFill>
                            <a:srgbClr val="202124"/>
                          </a:solidFill>
                          <a:latin typeface="Aptos"/>
                          <a:ea typeface="Aptos"/>
                          <a:cs typeface="Aptos"/>
                        </a:rPr>
                        <a:t>Final polish</a:t>
                      </a:r>
                    </a:p>
                  </a:txBody>
                  <a:tcPr>
                    <a:solidFill>
                      <a:srgbClr val="FFFFFF"/>
                    </a:solidFill>
                  </a:tcPr>
                </a:tc>
                <a:tc>
                  <a:txBody>
                    <a:bodyPr/>
                    <a:lstStyle/>
                    <a:p>
                      <a:r>
                        <a:rPr sz="1050" dirty="0">
                          <a:solidFill>
                            <a:srgbClr val="202124"/>
                          </a:solidFill>
                          <a:latin typeface="Aptos"/>
                          <a:ea typeface="Aptos"/>
                          <a:cs typeface="Aptos"/>
                        </a:rPr>
                        <a:t>Fair presentation ready</a:t>
                      </a:r>
                    </a:p>
                  </a:txBody>
                  <a:tcPr>
                    <a:solidFill>
                      <a:srgbClr val="FFFFFF"/>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E72B8F0D-3F1A-49DC-9B70-268A5DC7CC35}"/>
              </a:ext>
            </a:extLst>
          </p:cNvPr>
          <p:cNvSpPr>
            <a:spLocks noGrp="1"/>
          </p:cNvSpPr>
          <p:nvPr/>
        </p:nvSpPr>
        <p:spPr>
          <a:xfrm>
            <a:off x="685800" y="6438900"/>
            <a:ext cx="4762500" cy="228600"/>
          </a:xfrm>
          <a:prstGeom prst="rect">
            <a:avLst/>
          </a:prstGeom>
          <a:noFill/>
          <a:ln w="0">
            <a:noFill/>
          </a:ln>
        </p:spPr>
        <p:txBody>
          <a:bodyPr>
            <a:normAutofit/>
          </a:bodyPr>
          <a:lstStyle/>
          <a:p>
            <a:pPr>
              <a:defRPr sz="900" b="0">
                <a:solidFill>
                  <a:srgbClr val="5F6368"/>
                </a:solidFill>
                <a:latin typeface="Aptos"/>
                <a:ea typeface="Aptos"/>
                <a:cs typeface="Aptos"/>
              </a:defRPr>
            </a:pPr>
            <a:r>
              <a:rPr sz="900" b="0">
                <a:solidFill>
                  <a:srgbClr val="5F6368"/>
                </a:solidFill>
                <a:latin typeface="Aptos"/>
                <a:ea typeface="Aptos"/>
                <a:cs typeface="Aptos"/>
              </a:rPr>
              <a:t>Hubble's Law spectroscopy</a:t>
            </a:r>
          </a:p>
        </p:txBody>
      </p:sp>
      <p:sp>
        <p:nvSpPr>
          <p:cNvPr id="6" name="Rectangle 5">
            <a:extLst>
              <a:ext uri="{FF2B5EF4-FFF2-40B4-BE49-F238E27FC236}">
                <a16:creationId xmlns:a16="http://schemas.microsoft.com/office/drawing/2014/main" id="{3DB59970-0436-4D6B-A405-2A348451D2D6}"/>
              </a:ext>
            </a:extLst>
          </p:cNvPr>
          <p:cNvSpPr>
            <a:spLocks noGrp="1"/>
          </p:cNvSpPr>
          <p:nvPr/>
        </p:nvSpPr>
        <p:spPr>
          <a:xfrm>
            <a:off x="11125200" y="6438900"/>
            <a:ext cx="381000" cy="228600"/>
          </a:xfrm>
          <a:prstGeom prst="rect">
            <a:avLst/>
          </a:prstGeom>
          <a:noFill/>
          <a:ln w="0">
            <a:noFill/>
          </a:ln>
        </p:spPr>
        <p:txBody>
          <a:bodyPr>
            <a:normAutofit fontScale="57500" lnSpcReduction="20000"/>
          </a:bodyPr>
          <a:lstStyle/>
          <a:p>
            <a:pPr>
              <a:defRPr sz="900" b="0">
                <a:solidFill>
                  <a:srgbClr val="5F6368"/>
                </a:solidFill>
                <a:latin typeface="Aptos"/>
                <a:ea typeface="Aptos"/>
                <a:cs typeface="Aptos"/>
              </a:defRPr>
            </a:pPr>
            <a:r>
              <a:rPr sz="900" b="0">
                <a:solidFill>
                  <a:srgbClr val="5F6368"/>
                </a:solidFill>
                <a:latin typeface="Aptos"/>
                <a:ea typeface="Aptos"/>
                <a:cs typeface="Aptos"/>
              </a:rPr>
              <a:t>undefined</a:t>
            </a:r>
          </a:p>
        </p:txBody>
      </p:sp>
    </p:spTree>
    <p:extLst>
      <p:ext uri="{BB962C8B-B14F-4D97-AF65-F5344CB8AC3E}">
        <p14:creationId xmlns:p14="http://schemas.microsoft.com/office/powerpoint/2010/main" val="1704581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ADE27E9-D026-4985-93E7-3DF95746374F}"/>
              </a:ext>
            </a:extLst>
          </p:cNvPr>
          <p:cNvSpPr>
            <a:spLocks noGrp="1"/>
          </p:cNvSpPr>
          <p:nvPr/>
        </p:nvSpPr>
        <p:spPr>
          <a:xfrm>
            <a:off x="685800" y="419100"/>
            <a:ext cx="8191500" cy="495300"/>
          </a:xfrm>
          <a:prstGeom prst="rect">
            <a:avLst/>
          </a:prstGeom>
          <a:noFill/>
          <a:ln w="0">
            <a:noFill/>
          </a:ln>
        </p:spPr>
        <p:txBody>
          <a:bodyPr>
            <a:normAutofit/>
          </a:bodyPr>
          <a:lstStyle/>
          <a:p>
            <a:pPr>
              <a:defRPr sz="2625" b="1">
                <a:solidFill>
                  <a:srgbClr val="202124"/>
                </a:solidFill>
                <a:latin typeface="Aptos"/>
                <a:ea typeface="Aptos"/>
                <a:cs typeface="Aptos"/>
              </a:defRPr>
            </a:pPr>
            <a:r>
              <a:rPr sz="2625" b="1">
                <a:solidFill>
                  <a:srgbClr val="202124"/>
                </a:solidFill>
                <a:latin typeface="Aptos"/>
                <a:ea typeface="Aptos"/>
                <a:cs typeface="Aptos"/>
              </a:rPr>
              <a:t>Target strategy</a:t>
            </a:r>
          </a:p>
        </p:txBody>
      </p:sp>
      <p:sp>
        <p:nvSpPr>
          <p:cNvPr id="2" name="Rectangle 1">
            <a:extLst>
              <a:ext uri="{FF2B5EF4-FFF2-40B4-BE49-F238E27FC236}">
                <a16:creationId xmlns:a16="http://schemas.microsoft.com/office/drawing/2014/main" id="{6762BF9F-E700-4CA4-8AFC-62597863C176}"/>
              </a:ext>
            </a:extLst>
          </p:cNvPr>
          <p:cNvSpPr>
            <a:spLocks noGrp="1"/>
          </p:cNvSpPr>
          <p:nvPr/>
        </p:nvSpPr>
        <p:spPr>
          <a:xfrm>
            <a:off x="685800" y="914400"/>
            <a:ext cx="9144000" cy="400050"/>
          </a:xfrm>
          <a:prstGeom prst="rect">
            <a:avLst/>
          </a:prstGeom>
          <a:noFill/>
          <a:ln w="0">
            <a:noFill/>
          </a:ln>
        </p:spPr>
        <p:txBody>
          <a:bodyPr>
            <a:normAutofit/>
          </a:bodyPr>
          <a:lstStyle/>
          <a:p>
            <a:pPr>
              <a:defRPr sz="1425" b="0">
                <a:solidFill>
                  <a:srgbClr val="5F6368"/>
                </a:solidFill>
                <a:latin typeface="Aptos"/>
                <a:ea typeface="Aptos"/>
                <a:cs typeface="Aptos"/>
              </a:defRPr>
            </a:pPr>
            <a:r>
              <a:rPr sz="1425" b="0">
                <a:solidFill>
                  <a:srgbClr val="5F6368"/>
                </a:solidFill>
                <a:latin typeface="Aptos"/>
                <a:ea typeface="Aptos"/>
                <a:cs typeface="Aptos"/>
              </a:rPr>
              <a:t>Emission-line targets give the team the best chance of clear measurements</a:t>
            </a:r>
          </a:p>
        </p:txBody>
      </p:sp>
      <p:sp>
        <p:nvSpPr>
          <p:cNvPr id="3" name="Rectangle 2">
            <a:extLst>
              <a:ext uri="{FF2B5EF4-FFF2-40B4-BE49-F238E27FC236}">
                <a16:creationId xmlns:a16="http://schemas.microsoft.com/office/drawing/2014/main" id="{07DE73E6-087A-4D1E-9D90-A7A7AB0E6B65}"/>
              </a:ext>
            </a:extLst>
          </p:cNvPr>
          <p:cNvSpPr>
            <a:spLocks noGrp="1"/>
          </p:cNvSpPr>
          <p:nvPr/>
        </p:nvSpPr>
        <p:spPr>
          <a:xfrm>
            <a:off x="685800" y="1409700"/>
            <a:ext cx="10820400" cy="19050"/>
          </a:xfrm>
          <a:prstGeom prst="rect">
            <a:avLst/>
          </a:prstGeom>
          <a:solidFill>
            <a:srgbClr val="D9DEE5"/>
          </a:solidFill>
          <a:ln w="0">
            <a:noFill/>
          </a:ln>
        </p:spPr>
        <p:txBody>
          <a:bodyPr/>
          <a:lstStyle/>
          <a:p>
            <a:endParaRPr lang="en-US"/>
          </a:p>
        </p:txBody>
      </p:sp>
      <p:graphicFrame>
        <p:nvGraphicFramePr>
          <p:cNvPr id="14" name="Table 13"/>
          <p:cNvGraphicFramePr/>
          <p:nvPr/>
        </p:nvGraphicFramePr>
        <p:xfrm>
          <a:off x="838200" y="1809750"/>
          <a:ext cx="10515600" cy="2857500"/>
        </p:xfrm>
        <a:graphic>
          <a:graphicData uri="http://schemas.openxmlformats.org/drawingml/2006/table">
            <a:tbl>
              <a:tblPr firstRow="1" bandRow="1"/>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571500">
                <a:tc>
                  <a:txBody>
                    <a:bodyPr/>
                    <a:lstStyle/>
                    <a:p>
                      <a:r>
                        <a:rPr sz="1200" b="1">
                          <a:solidFill>
                            <a:srgbClr val="FFFFFF"/>
                          </a:solidFill>
                          <a:latin typeface="Aptos"/>
                          <a:ea typeface="Aptos"/>
                          <a:cs typeface="Aptos"/>
                        </a:rPr>
                        <a:t>Target type</a:t>
                      </a:r>
                    </a:p>
                  </a:txBody>
                  <a:tcPr>
                    <a:solidFill>
                      <a:srgbClr val="6E5AA8"/>
                    </a:solidFill>
                  </a:tcPr>
                </a:tc>
                <a:tc>
                  <a:txBody>
                    <a:bodyPr/>
                    <a:lstStyle/>
                    <a:p>
                      <a:r>
                        <a:rPr sz="1200" b="1">
                          <a:solidFill>
                            <a:srgbClr val="FFFFFF"/>
                          </a:solidFill>
                          <a:latin typeface="Aptos"/>
                          <a:ea typeface="Aptos"/>
                          <a:cs typeface="Aptos"/>
                        </a:rPr>
                        <a:t>Why it helps</a:t>
                      </a:r>
                    </a:p>
                  </a:txBody>
                  <a:tcPr>
                    <a:solidFill>
                      <a:srgbClr val="6E5AA8"/>
                    </a:solidFill>
                  </a:tcPr>
                </a:tc>
                <a:tc>
                  <a:txBody>
                    <a:bodyPr/>
                    <a:lstStyle/>
                    <a:p>
                      <a:r>
                        <a:rPr sz="1200" b="1">
                          <a:solidFill>
                            <a:srgbClr val="FFFFFF"/>
                          </a:solidFill>
                          <a:latin typeface="Aptos"/>
                          <a:ea typeface="Aptos"/>
                          <a:cs typeface="Aptos"/>
                        </a:rPr>
                        <a:t>Examples</a:t>
                      </a:r>
                    </a:p>
                  </a:txBody>
                  <a:tcPr>
                    <a:solidFill>
                      <a:srgbClr val="6E5AA8"/>
                    </a:solidFill>
                  </a:tcPr>
                </a:tc>
                <a:extLst>
                  <a:ext uri="{0D108BD9-81ED-4DB2-BD59-A6C34878D82A}">
                    <a16:rowId xmlns:a16="http://schemas.microsoft.com/office/drawing/2014/main" val="10000"/>
                  </a:ext>
                </a:extLst>
              </a:tr>
              <a:tr h="571500">
                <a:tc>
                  <a:txBody>
                    <a:bodyPr/>
                    <a:lstStyle/>
                    <a:p>
                      <a:r>
                        <a:rPr sz="1050">
                          <a:solidFill>
                            <a:srgbClr val="202124"/>
                          </a:solidFill>
                          <a:latin typeface="Aptos"/>
                          <a:ea typeface="Aptos"/>
                          <a:cs typeface="Aptos"/>
                        </a:rPr>
                        <a:t>Bright emission-line galaxies</a:t>
                      </a:r>
                    </a:p>
                  </a:txBody>
                  <a:tcPr>
                    <a:solidFill>
                      <a:srgbClr val="FFFFFF"/>
                    </a:solidFill>
                  </a:tcPr>
                </a:tc>
                <a:tc>
                  <a:txBody>
                    <a:bodyPr/>
                    <a:lstStyle/>
                    <a:p>
                      <a:r>
                        <a:rPr sz="1050">
                          <a:solidFill>
                            <a:srgbClr val="202124"/>
                          </a:solidFill>
                          <a:latin typeface="Aptos"/>
                          <a:ea typeface="Aptos"/>
                          <a:cs typeface="Aptos"/>
                        </a:rPr>
                        <a:t>Sharper lines can be easier to locate</a:t>
                      </a:r>
                    </a:p>
                  </a:txBody>
                  <a:tcPr>
                    <a:solidFill>
                      <a:srgbClr val="FFFFFF"/>
                    </a:solidFill>
                  </a:tcPr>
                </a:tc>
                <a:tc>
                  <a:txBody>
                    <a:bodyPr/>
                    <a:lstStyle/>
                    <a:p>
                      <a:r>
                        <a:rPr sz="1050">
                          <a:solidFill>
                            <a:srgbClr val="202124"/>
                          </a:solidFill>
                          <a:latin typeface="Aptos"/>
                          <a:ea typeface="Aptos"/>
                          <a:cs typeface="Aptos"/>
                        </a:rPr>
                        <a:t>M82, M77, NGC 4151</a:t>
                      </a:r>
                    </a:p>
                  </a:txBody>
                  <a:tcPr>
                    <a:solidFill>
                      <a:srgbClr val="FFFFFF"/>
                    </a:solidFill>
                  </a:tcPr>
                </a:tc>
                <a:extLst>
                  <a:ext uri="{0D108BD9-81ED-4DB2-BD59-A6C34878D82A}">
                    <a16:rowId xmlns:a16="http://schemas.microsoft.com/office/drawing/2014/main" val="10001"/>
                  </a:ext>
                </a:extLst>
              </a:tr>
              <a:tr h="571500">
                <a:tc>
                  <a:txBody>
                    <a:bodyPr/>
                    <a:lstStyle/>
                    <a:p>
                      <a:r>
                        <a:rPr sz="1050">
                          <a:solidFill>
                            <a:srgbClr val="202124"/>
                          </a:solidFill>
                          <a:latin typeface="Aptos"/>
                          <a:ea typeface="Aptos"/>
                          <a:cs typeface="Aptos"/>
                        </a:rPr>
                        <a:t>Nearby bright galaxies</a:t>
                      </a:r>
                    </a:p>
                  </a:txBody>
                  <a:tcPr>
                    <a:solidFill>
                      <a:srgbClr val="F3F6F8"/>
                    </a:solidFill>
                  </a:tcPr>
                </a:tc>
                <a:tc>
                  <a:txBody>
                    <a:bodyPr/>
                    <a:lstStyle/>
                    <a:p>
                      <a:r>
                        <a:rPr sz="1050">
                          <a:solidFill>
                            <a:srgbClr val="202124"/>
                          </a:solidFill>
                          <a:latin typeface="Aptos"/>
                          <a:ea typeface="Aptos"/>
                          <a:cs typeface="Aptos"/>
                        </a:rPr>
                        <a:t>Easier to acquire but smaller redshifts</a:t>
                      </a:r>
                    </a:p>
                  </a:txBody>
                  <a:tcPr>
                    <a:solidFill>
                      <a:srgbClr val="F3F6F8"/>
                    </a:solidFill>
                  </a:tcPr>
                </a:tc>
                <a:tc>
                  <a:txBody>
                    <a:bodyPr/>
                    <a:lstStyle/>
                    <a:p>
                      <a:r>
                        <a:rPr sz="1050">
                          <a:solidFill>
                            <a:srgbClr val="202124"/>
                          </a:solidFill>
                          <a:latin typeface="Aptos"/>
                          <a:ea typeface="Aptos"/>
                          <a:cs typeface="Aptos"/>
                        </a:rPr>
                        <a:t>M81, M87</a:t>
                      </a:r>
                    </a:p>
                  </a:txBody>
                  <a:tcPr>
                    <a:solidFill>
                      <a:srgbClr val="F3F6F8"/>
                    </a:solidFill>
                  </a:tcPr>
                </a:tc>
                <a:extLst>
                  <a:ext uri="{0D108BD9-81ED-4DB2-BD59-A6C34878D82A}">
                    <a16:rowId xmlns:a16="http://schemas.microsoft.com/office/drawing/2014/main" val="10002"/>
                  </a:ext>
                </a:extLst>
              </a:tr>
              <a:tr h="571500">
                <a:tc>
                  <a:txBody>
                    <a:bodyPr/>
                    <a:lstStyle/>
                    <a:p>
                      <a:r>
                        <a:rPr sz="1050">
                          <a:solidFill>
                            <a:srgbClr val="202124"/>
                          </a:solidFill>
                          <a:latin typeface="Aptos"/>
                          <a:ea typeface="Aptos"/>
                          <a:cs typeface="Aptos"/>
                        </a:rPr>
                        <a:t>Quasars</a:t>
                      </a:r>
                    </a:p>
                  </a:txBody>
                  <a:tcPr>
                    <a:solidFill>
                      <a:srgbClr val="FFFFFF"/>
                    </a:solidFill>
                  </a:tcPr>
                </a:tc>
                <a:tc>
                  <a:txBody>
                    <a:bodyPr/>
                    <a:lstStyle/>
                    <a:p>
                      <a:r>
                        <a:rPr sz="1050">
                          <a:solidFill>
                            <a:srgbClr val="202124"/>
                          </a:solidFill>
                          <a:latin typeface="Aptos"/>
                          <a:ea typeface="Aptos"/>
                          <a:cs typeface="Aptos"/>
                        </a:rPr>
                        <a:t>Large redshifts but faint targets</a:t>
                      </a:r>
                    </a:p>
                  </a:txBody>
                  <a:tcPr>
                    <a:solidFill>
                      <a:srgbClr val="FFFFFF"/>
                    </a:solidFill>
                  </a:tcPr>
                </a:tc>
                <a:tc>
                  <a:txBody>
                    <a:bodyPr/>
                    <a:lstStyle/>
                    <a:p>
                      <a:r>
                        <a:rPr sz="1050">
                          <a:solidFill>
                            <a:srgbClr val="202124"/>
                          </a:solidFill>
                          <a:latin typeface="Aptos"/>
                          <a:ea typeface="Aptos"/>
                          <a:cs typeface="Aptos"/>
                        </a:rPr>
                        <a:t>Use only after pilot tests</a:t>
                      </a:r>
                    </a:p>
                  </a:txBody>
                  <a:tcPr>
                    <a:solidFill>
                      <a:srgbClr val="FFFFFF"/>
                    </a:solidFill>
                  </a:tcPr>
                </a:tc>
                <a:extLst>
                  <a:ext uri="{0D108BD9-81ED-4DB2-BD59-A6C34878D82A}">
                    <a16:rowId xmlns:a16="http://schemas.microsoft.com/office/drawing/2014/main" val="10003"/>
                  </a:ext>
                </a:extLst>
              </a:tr>
              <a:tr h="571500">
                <a:tc>
                  <a:txBody>
                    <a:bodyPr/>
                    <a:lstStyle/>
                    <a:p>
                      <a:r>
                        <a:rPr sz="1050">
                          <a:solidFill>
                            <a:srgbClr val="202124"/>
                          </a:solidFill>
                          <a:latin typeface="Aptos"/>
                          <a:ea typeface="Aptos"/>
                          <a:cs typeface="Aptos"/>
                        </a:rPr>
                        <a:t>Public survey spectra</a:t>
                      </a:r>
                    </a:p>
                  </a:txBody>
                  <a:tcPr>
                    <a:solidFill>
                      <a:srgbClr val="F3F6F8"/>
                    </a:solidFill>
                  </a:tcPr>
                </a:tc>
                <a:tc>
                  <a:txBody>
                    <a:bodyPr/>
                    <a:lstStyle/>
                    <a:p>
                      <a:r>
                        <a:rPr sz="1050">
                          <a:solidFill>
                            <a:srgbClr val="202124"/>
                          </a:solidFill>
                          <a:latin typeface="Aptos"/>
                          <a:ea typeface="Aptos"/>
                          <a:cs typeface="Aptos"/>
                        </a:rPr>
                        <a:t>Reliable backup and larger sample</a:t>
                      </a:r>
                    </a:p>
                  </a:txBody>
                  <a:tcPr>
                    <a:solidFill>
                      <a:srgbClr val="F3F6F8"/>
                    </a:solidFill>
                  </a:tcPr>
                </a:tc>
                <a:tc>
                  <a:txBody>
                    <a:bodyPr/>
                    <a:lstStyle/>
                    <a:p>
                      <a:r>
                        <a:rPr sz="1050">
                          <a:solidFill>
                            <a:srgbClr val="202124"/>
                          </a:solidFill>
                          <a:latin typeface="Aptos"/>
                          <a:ea typeface="Aptos"/>
                          <a:cs typeface="Aptos"/>
                        </a:rPr>
                        <a:t>SDSS spectra</a:t>
                      </a:r>
                    </a:p>
                  </a:txBody>
                  <a:tcPr>
                    <a:solidFill>
                      <a:srgbClr val="F3F6F8"/>
                    </a:solidFill>
                  </a:tcPr>
                </a:tc>
                <a:extLst>
                  <a:ext uri="{0D108BD9-81ED-4DB2-BD59-A6C34878D82A}">
                    <a16:rowId xmlns:a16="http://schemas.microsoft.com/office/drawing/2014/main" val="10004"/>
                  </a:ext>
                </a:extLst>
              </a:tr>
            </a:tbl>
          </a:graphicData>
        </a:graphic>
      </p:graphicFrame>
      <p:sp>
        <p:nvSpPr>
          <p:cNvPr id="5" name="Oval 4">
            <a:extLst>
              <a:ext uri="{FF2B5EF4-FFF2-40B4-BE49-F238E27FC236}">
                <a16:creationId xmlns:a16="http://schemas.microsoft.com/office/drawing/2014/main" id="{8B9CB120-920F-4C2C-9A0E-033F67AADD0D}"/>
              </a:ext>
            </a:extLst>
          </p:cNvPr>
          <p:cNvSpPr>
            <a:spLocks noGrp="1"/>
          </p:cNvSpPr>
          <p:nvPr/>
        </p:nvSpPr>
        <p:spPr>
          <a:xfrm>
            <a:off x="1047750" y="5191125"/>
            <a:ext cx="85725" cy="85725"/>
          </a:xfrm>
          <a:prstGeom prst="ellipse">
            <a:avLst/>
          </a:prstGeom>
          <a:solidFill>
            <a:srgbClr val="6E5AA8"/>
          </a:solidFill>
          <a:ln w="0">
            <a:noFill/>
          </a:ln>
        </p:spPr>
        <p:txBody>
          <a:bodyPr/>
          <a:lstStyle/>
          <a:p>
            <a:endParaRPr lang="en-US"/>
          </a:p>
        </p:txBody>
      </p:sp>
      <p:sp>
        <p:nvSpPr>
          <p:cNvPr id="6" name="Rectangle 5">
            <a:extLst>
              <a:ext uri="{FF2B5EF4-FFF2-40B4-BE49-F238E27FC236}">
                <a16:creationId xmlns:a16="http://schemas.microsoft.com/office/drawing/2014/main" id="{F0E97905-AD6F-4926-882C-B995D721CD4B}"/>
              </a:ext>
            </a:extLst>
          </p:cNvPr>
          <p:cNvSpPr>
            <a:spLocks noGrp="1"/>
          </p:cNvSpPr>
          <p:nvPr/>
        </p:nvSpPr>
        <p:spPr>
          <a:xfrm>
            <a:off x="1257300" y="5095875"/>
            <a:ext cx="9124950" cy="381000"/>
          </a:xfrm>
          <a:prstGeom prst="rect">
            <a:avLst/>
          </a:prstGeom>
          <a:noFill/>
          <a:ln w="0">
            <a:noFill/>
          </a:ln>
        </p:spPr>
        <p:txBody>
          <a:bodyPr>
            <a:normAutofit/>
          </a:bodyPr>
          <a:lstStyle/>
          <a:p>
            <a:pPr>
              <a:defRPr sz="1500" b="0">
                <a:solidFill>
                  <a:srgbClr val="202124"/>
                </a:solidFill>
                <a:latin typeface="Aptos"/>
                <a:ea typeface="Aptos"/>
                <a:cs typeface="Aptos"/>
              </a:defRPr>
            </a:pPr>
            <a:r>
              <a:rPr sz="1500" b="0">
                <a:solidFill>
                  <a:srgbClr val="202124"/>
                </a:solidFill>
                <a:latin typeface="Aptos"/>
                <a:ea typeface="Aptos"/>
                <a:cs typeface="Aptos"/>
              </a:rPr>
              <a:t>Pilot test with one bright galaxy before committing to the final sample</a:t>
            </a:r>
          </a:p>
        </p:txBody>
      </p:sp>
      <p:sp>
        <p:nvSpPr>
          <p:cNvPr id="7" name="Oval 6">
            <a:extLst>
              <a:ext uri="{FF2B5EF4-FFF2-40B4-BE49-F238E27FC236}">
                <a16:creationId xmlns:a16="http://schemas.microsoft.com/office/drawing/2014/main" id="{941A1AF8-603A-4B9B-A18B-8B1A447663EC}"/>
              </a:ext>
            </a:extLst>
          </p:cNvPr>
          <p:cNvSpPr>
            <a:spLocks noGrp="1"/>
          </p:cNvSpPr>
          <p:nvPr/>
        </p:nvSpPr>
        <p:spPr>
          <a:xfrm>
            <a:off x="1047750" y="5591175"/>
            <a:ext cx="85725" cy="85725"/>
          </a:xfrm>
          <a:prstGeom prst="ellipse">
            <a:avLst/>
          </a:prstGeom>
          <a:solidFill>
            <a:srgbClr val="6E5AA8"/>
          </a:solidFill>
          <a:ln w="0">
            <a:noFill/>
          </a:ln>
        </p:spPr>
        <p:txBody>
          <a:bodyPr/>
          <a:lstStyle/>
          <a:p>
            <a:endParaRPr lang="en-US"/>
          </a:p>
        </p:txBody>
      </p:sp>
      <p:sp>
        <p:nvSpPr>
          <p:cNvPr id="8" name="Rectangle 7">
            <a:extLst>
              <a:ext uri="{FF2B5EF4-FFF2-40B4-BE49-F238E27FC236}">
                <a16:creationId xmlns:a16="http://schemas.microsoft.com/office/drawing/2014/main" id="{9520C544-B4A7-4DBB-8989-8227C62C57D7}"/>
              </a:ext>
            </a:extLst>
          </p:cNvPr>
          <p:cNvSpPr>
            <a:spLocks noGrp="1"/>
          </p:cNvSpPr>
          <p:nvPr/>
        </p:nvSpPr>
        <p:spPr>
          <a:xfrm>
            <a:off x="1257300" y="5495925"/>
            <a:ext cx="9124950" cy="381000"/>
          </a:xfrm>
          <a:prstGeom prst="rect">
            <a:avLst/>
          </a:prstGeom>
          <a:noFill/>
          <a:ln w="0">
            <a:noFill/>
          </a:ln>
        </p:spPr>
        <p:txBody>
          <a:bodyPr>
            <a:normAutofit/>
          </a:bodyPr>
          <a:lstStyle/>
          <a:p>
            <a:pPr>
              <a:defRPr sz="1500" b="0">
                <a:solidFill>
                  <a:srgbClr val="202124"/>
                </a:solidFill>
                <a:latin typeface="Aptos"/>
                <a:ea typeface="Aptos"/>
                <a:cs typeface="Aptos"/>
              </a:defRPr>
            </a:pPr>
            <a:r>
              <a:rPr sz="1500" b="0">
                <a:solidFill>
                  <a:srgbClr val="202124"/>
                </a:solidFill>
                <a:latin typeface="Aptos"/>
                <a:ea typeface="Aptos"/>
                <a:cs typeface="Aptos"/>
              </a:rPr>
              <a:t>Use public spectra if weather or signal strength limits student observations</a:t>
            </a:r>
          </a:p>
        </p:txBody>
      </p:sp>
      <p:sp>
        <p:nvSpPr>
          <p:cNvPr id="9" name="Rectangle 8">
            <a:extLst>
              <a:ext uri="{FF2B5EF4-FFF2-40B4-BE49-F238E27FC236}">
                <a16:creationId xmlns:a16="http://schemas.microsoft.com/office/drawing/2014/main" id="{BB16C41C-DEE1-4DFC-A43E-F228EB64595B}"/>
              </a:ext>
            </a:extLst>
          </p:cNvPr>
          <p:cNvSpPr>
            <a:spLocks noGrp="1"/>
          </p:cNvSpPr>
          <p:nvPr/>
        </p:nvSpPr>
        <p:spPr>
          <a:xfrm>
            <a:off x="685800" y="6438900"/>
            <a:ext cx="4762500" cy="228600"/>
          </a:xfrm>
          <a:prstGeom prst="rect">
            <a:avLst/>
          </a:prstGeom>
          <a:noFill/>
          <a:ln w="0">
            <a:noFill/>
          </a:ln>
        </p:spPr>
        <p:txBody>
          <a:bodyPr>
            <a:normAutofit/>
          </a:bodyPr>
          <a:lstStyle/>
          <a:p>
            <a:pPr>
              <a:defRPr sz="900" b="0">
                <a:solidFill>
                  <a:srgbClr val="5F6368"/>
                </a:solidFill>
                <a:latin typeface="Aptos"/>
                <a:ea typeface="Aptos"/>
                <a:cs typeface="Aptos"/>
              </a:defRPr>
            </a:pPr>
            <a:r>
              <a:rPr sz="900" b="0">
                <a:solidFill>
                  <a:srgbClr val="5F6368"/>
                </a:solidFill>
                <a:latin typeface="Aptos"/>
                <a:ea typeface="Aptos"/>
                <a:cs typeface="Aptos"/>
              </a:rPr>
              <a:t>Hubble's Law spectroscopy</a:t>
            </a:r>
          </a:p>
        </p:txBody>
      </p:sp>
      <p:sp>
        <p:nvSpPr>
          <p:cNvPr id="10" name="Rectangle 9">
            <a:extLst>
              <a:ext uri="{FF2B5EF4-FFF2-40B4-BE49-F238E27FC236}">
                <a16:creationId xmlns:a16="http://schemas.microsoft.com/office/drawing/2014/main" id="{8A537C77-003C-4C6E-BEA9-A2E5141CF09D}"/>
              </a:ext>
            </a:extLst>
          </p:cNvPr>
          <p:cNvSpPr>
            <a:spLocks noGrp="1"/>
          </p:cNvSpPr>
          <p:nvPr/>
        </p:nvSpPr>
        <p:spPr>
          <a:xfrm>
            <a:off x="11125200" y="6438900"/>
            <a:ext cx="381000" cy="228600"/>
          </a:xfrm>
          <a:prstGeom prst="rect">
            <a:avLst/>
          </a:prstGeom>
          <a:noFill/>
          <a:ln w="0">
            <a:noFill/>
          </a:ln>
        </p:spPr>
        <p:txBody>
          <a:bodyPr>
            <a:normAutofit fontScale="57500" lnSpcReduction="20000"/>
          </a:bodyPr>
          <a:lstStyle/>
          <a:p>
            <a:pPr>
              <a:defRPr sz="900" b="0">
                <a:solidFill>
                  <a:srgbClr val="5F6368"/>
                </a:solidFill>
                <a:latin typeface="Aptos"/>
                <a:ea typeface="Aptos"/>
                <a:cs typeface="Aptos"/>
              </a:defRPr>
            </a:pPr>
            <a:r>
              <a:rPr sz="900" b="0">
                <a:solidFill>
                  <a:srgbClr val="5F6368"/>
                </a:solidFill>
                <a:latin typeface="Aptos"/>
                <a:ea typeface="Aptos"/>
                <a:cs typeface="Aptos"/>
              </a:rPr>
              <a:t>undefined</a:t>
            </a:r>
          </a:p>
        </p:txBody>
      </p:sp>
    </p:spTree>
    <p:extLst>
      <p:ext uri="{BB962C8B-B14F-4D97-AF65-F5344CB8AC3E}">
        <p14:creationId xmlns:p14="http://schemas.microsoft.com/office/powerpoint/2010/main" val="845328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C480448-02FD-4747-85D7-B1ADB660855D}"/>
              </a:ext>
            </a:extLst>
          </p:cNvPr>
          <p:cNvSpPr>
            <a:spLocks noGrp="1"/>
          </p:cNvSpPr>
          <p:nvPr/>
        </p:nvSpPr>
        <p:spPr>
          <a:xfrm>
            <a:off x="685800" y="419100"/>
            <a:ext cx="8191500" cy="495300"/>
          </a:xfrm>
          <a:prstGeom prst="rect">
            <a:avLst/>
          </a:prstGeom>
          <a:noFill/>
          <a:ln w="0">
            <a:noFill/>
          </a:ln>
        </p:spPr>
        <p:txBody>
          <a:bodyPr>
            <a:normAutofit/>
          </a:bodyPr>
          <a:lstStyle/>
          <a:p>
            <a:pPr>
              <a:defRPr sz="2625" b="1">
                <a:solidFill>
                  <a:srgbClr val="202124"/>
                </a:solidFill>
                <a:latin typeface="Aptos"/>
                <a:ea typeface="Aptos"/>
                <a:cs typeface="Aptos"/>
              </a:defRPr>
            </a:pPr>
            <a:r>
              <a:rPr sz="2625" b="1">
                <a:solidFill>
                  <a:srgbClr val="202124"/>
                </a:solidFill>
                <a:latin typeface="Aptos"/>
                <a:ea typeface="Aptos"/>
                <a:cs typeface="Aptos"/>
              </a:rPr>
              <a:t>Risks and backup plan</a:t>
            </a:r>
          </a:p>
        </p:txBody>
      </p:sp>
      <p:sp>
        <p:nvSpPr>
          <p:cNvPr id="2" name="Rectangle 1">
            <a:extLst>
              <a:ext uri="{FF2B5EF4-FFF2-40B4-BE49-F238E27FC236}">
                <a16:creationId xmlns:a16="http://schemas.microsoft.com/office/drawing/2014/main" id="{AAF4FE43-A455-45A6-A2D3-3A39C2CF8E90}"/>
              </a:ext>
            </a:extLst>
          </p:cNvPr>
          <p:cNvSpPr>
            <a:spLocks noGrp="1"/>
          </p:cNvSpPr>
          <p:nvPr/>
        </p:nvSpPr>
        <p:spPr>
          <a:xfrm>
            <a:off x="685800" y="914400"/>
            <a:ext cx="9144000" cy="400050"/>
          </a:xfrm>
          <a:prstGeom prst="rect">
            <a:avLst/>
          </a:prstGeom>
          <a:noFill/>
          <a:ln w="0">
            <a:noFill/>
          </a:ln>
        </p:spPr>
        <p:txBody>
          <a:bodyPr>
            <a:normAutofit/>
          </a:bodyPr>
          <a:lstStyle/>
          <a:p>
            <a:pPr>
              <a:defRPr sz="1425" b="0">
                <a:solidFill>
                  <a:srgbClr val="5F6368"/>
                </a:solidFill>
                <a:latin typeface="Aptos"/>
                <a:ea typeface="Aptos"/>
                <a:cs typeface="Aptos"/>
              </a:defRPr>
            </a:pPr>
            <a:r>
              <a:rPr sz="1425" b="0">
                <a:solidFill>
                  <a:srgbClr val="5F6368"/>
                </a:solidFill>
                <a:latin typeface="Aptos"/>
                <a:ea typeface="Aptos"/>
                <a:cs typeface="Aptos"/>
              </a:rPr>
              <a:t>Galaxy spectroscopy has high reward and real technical risk</a:t>
            </a:r>
          </a:p>
        </p:txBody>
      </p:sp>
      <p:sp>
        <p:nvSpPr>
          <p:cNvPr id="3" name="Rectangle 2">
            <a:extLst>
              <a:ext uri="{FF2B5EF4-FFF2-40B4-BE49-F238E27FC236}">
                <a16:creationId xmlns:a16="http://schemas.microsoft.com/office/drawing/2014/main" id="{FF39BFD3-96D5-4DAA-9ABA-C1A9FF97B990}"/>
              </a:ext>
            </a:extLst>
          </p:cNvPr>
          <p:cNvSpPr>
            <a:spLocks noGrp="1"/>
          </p:cNvSpPr>
          <p:nvPr/>
        </p:nvSpPr>
        <p:spPr>
          <a:xfrm>
            <a:off x="685800" y="1409700"/>
            <a:ext cx="10820400" cy="19050"/>
          </a:xfrm>
          <a:prstGeom prst="rect">
            <a:avLst/>
          </a:prstGeom>
          <a:solidFill>
            <a:srgbClr val="D9DEE5"/>
          </a:solidFill>
          <a:ln w="0">
            <a:noFill/>
          </a:ln>
        </p:spPr>
        <p:txBody>
          <a:bodyPr/>
          <a:lstStyle/>
          <a:p>
            <a:endParaRPr lang="en-US"/>
          </a:p>
        </p:txBody>
      </p:sp>
      <p:graphicFrame>
        <p:nvGraphicFramePr>
          <p:cNvPr id="14" name="Table 13"/>
          <p:cNvGraphicFramePr/>
          <p:nvPr/>
        </p:nvGraphicFramePr>
        <p:xfrm>
          <a:off x="990600" y="1771650"/>
          <a:ext cx="9906000" cy="3238500"/>
        </p:xfrm>
        <a:graphic>
          <a:graphicData uri="http://schemas.openxmlformats.org/drawingml/2006/table">
            <a:tbl>
              <a:tblPr firstRow="1" bandRow="1"/>
              <a:tblGrid>
                <a:gridCol w="4953000">
                  <a:extLst>
                    <a:ext uri="{9D8B030D-6E8A-4147-A177-3AD203B41FA5}">
                      <a16:colId xmlns:a16="http://schemas.microsoft.com/office/drawing/2014/main" val="20000"/>
                    </a:ext>
                  </a:extLst>
                </a:gridCol>
                <a:gridCol w="4953000">
                  <a:extLst>
                    <a:ext uri="{9D8B030D-6E8A-4147-A177-3AD203B41FA5}">
                      <a16:colId xmlns:a16="http://schemas.microsoft.com/office/drawing/2014/main" val="20001"/>
                    </a:ext>
                  </a:extLst>
                </a:gridCol>
              </a:tblGrid>
              <a:tr h="539750">
                <a:tc>
                  <a:txBody>
                    <a:bodyPr/>
                    <a:lstStyle/>
                    <a:p>
                      <a:r>
                        <a:rPr sz="1200" b="1">
                          <a:solidFill>
                            <a:srgbClr val="FFFFFF"/>
                          </a:solidFill>
                          <a:latin typeface="Aptos"/>
                          <a:ea typeface="Aptos"/>
                          <a:cs typeface="Aptos"/>
                        </a:rPr>
                        <a:t>Risk</a:t>
                      </a:r>
                    </a:p>
                  </a:txBody>
                  <a:tcPr>
                    <a:solidFill>
                      <a:srgbClr val="0F4D55"/>
                    </a:solidFill>
                  </a:tcPr>
                </a:tc>
                <a:tc>
                  <a:txBody>
                    <a:bodyPr/>
                    <a:lstStyle/>
                    <a:p>
                      <a:r>
                        <a:rPr sz="1200" b="1">
                          <a:solidFill>
                            <a:srgbClr val="FFFFFF"/>
                          </a:solidFill>
                          <a:latin typeface="Aptos"/>
                          <a:ea typeface="Aptos"/>
                          <a:cs typeface="Aptos"/>
                        </a:rPr>
                        <a:t>Mitigation</a:t>
                      </a:r>
                    </a:p>
                  </a:txBody>
                  <a:tcPr>
                    <a:solidFill>
                      <a:srgbClr val="0F4D55"/>
                    </a:solidFill>
                  </a:tcPr>
                </a:tc>
                <a:extLst>
                  <a:ext uri="{0D108BD9-81ED-4DB2-BD59-A6C34878D82A}">
                    <a16:rowId xmlns:a16="http://schemas.microsoft.com/office/drawing/2014/main" val="10000"/>
                  </a:ext>
                </a:extLst>
              </a:tr>
              <a:tr h="539750">
                <a:tc>
                  <a:txBody>
                    <a:bodyPr/>
                    <a:lstStyle/>
                    <a:p>
                      <a:r>
                        <a:rPr sz="1050">
                          <a:solidFill>
                            <a:srgbClr val="202124"/>
                          </a:solidFill>
                          <a:latin typeface="Aptos"/>
                          <a:ea typeface="Aptos"/>
                          <a:cs typeface="Aptos"/>
                        </a:rPr>
                        <a:t>Galaxy spectra too faint</a:t>
                      </a:r>
                    </a:p>
                  </a:txBody>
                  <a:tcPr>
                    <a:solidFill>
                      <a:srgbClr val="FFFFFF"/>
                    </a:solidFill>
                  </a:tcPr>
                </a:tc>
                <a:tc>
                  <a:txBody>
                    <a:bodyPr/>
                    <a:lstStyle/>
                    <a:p>
                      <a:r>
                        <a:rPr sz="1050">
                          <a:solidFill>
                            <a:srgbClr val="202124"/>
                          </a:solidFill>
                          <a:latin typeface="Aptos"/>
                          <a:ea typeface="Aptos"/>
                          <a:cs typeface="Aptos"/>
                        </a:rPr>
                        <a:t>Use longer exposures or a lower-resolution mode if available</a:t>
                      </a:r>
                    </a:p>
                  </a:txBody>
                  <a:tcPr>
                    <a:solidFill>
                      <a:srgbClr val="FFFFFF"/>
                    </a:solidFill>
                  </a:tcPr>
                </a:tc>
                <a:extLst>
                  <a:ext uri="{0D108BD9-81ED-4DB2-BD59-A6C34878D82A}">
                    <a16:rowId xmlns:a16="http://schemas.microsoft.com/office/drawing/2014/main" val="10001"/>
                  </a:ext>
                </a:extLst>
              </a:tr>
              <a:tr h="539750">
                <a:tc>
                  <a:txBody>
                    <a:bodyPr/>
                    <a:lstStyle/>
                    <a:p>
                      <a:r>
                        <a:rPr sz="1050">
                          <a:solidFill>
                            <a:srgbClr val="202124"/>
                          </a:solidFill>
                          <a:latin typeface="Aptos"/>
                          <a:ea typeface="Aptos"/>
                          <a:cs typeface="Aptos"/>
                        </a:rPr>
                        <a:t>Line identification uncertain</a:t>
                      </a:r>
                    </a:p>
                  </a:txBody>
                  <a:tcPr>
                    <a:solidFill>
                      <a:srgbClr val="F3F6F8"/>
                    </a:solidFill>
                  </a:tcPr>
                </a:tc>
                <a:tc>
                  <a:txBody>
                    <a:bodyPr/>
                    <a:lstStyle/>
                    <a:p>
                      <a:r>
                        <a:rPr sz="1050">
                          <a:solidFill>
                            <a:srgbClr val="202124"/>
                          </a:solidFill>
                          <a:latin typeface="Aptos"/>
                          <a:ea typeface="Aptos"/>
                          <a:cs typeface="Aptos"/>
                        </a:rPr>
                        <a:t>Start with calibration stars and known line lists</a:t>
                      </a:r>
                    </a:p>
                  </a:txBody>
                  <a:tcPr>
                    <a:solidFill>
                      <a:srgbClr val="F3F6F8"/>
                    </a:solidFill>
                  </a:tcPr>
                </a:tc>
                <a:extLst>
                  <a:ext uri="{0D108BD9-81ED-4DB2-BD59-A6C34878D82A}">
                    <a16:rowId xmlns:a16="http://schemas.microsoft.com/office/drawing/2014/main" val="10002"/>
                  </a:ext>
                </a:extLst>
              </a:tr>
              <a:tr h="539750">
                <a:tc>
                  <a:txBody>
                    <a:bodyPr/>
                    <a:lstStyle/>
                    <a:p>
                      <a:r>
                        <a:rPr sz="1050">
                          <a:solidFill>
                            <a:srgbClr val="202124"/>
                          </a:solidFill>
                          <a:latin typeface="Aptos"/>
                          <a:ea typeface="Aptos"/>
                          <a:cs typeface="Aptos"/>
                        </a:rPr>
                        <a:t>Small redshift on nearby galaxies</a:t>
                      </a:r>
                    </a:p>
                  </a:txBody>
                  <a:tcPr>
                    <a:solidFill>
                      <a:srgbClr val="FFFFFF"/>
                    </a:solidFill>
                  </a:tcPr>
                </a:tc>
                <a:tc>
                  <a:txBody>
                    <a:bodyPr/>
                    <a:lstStyle/>
                    <a:p>
                      <a:r>
                        <a:rPr sz="1050">
                          <a:solidFill>
                            <a:srgbClr val="202124"/>
                          </a:solidFill>
                          <a:latin typeface="Aptos"/>
                          <a:ea typeface="Aptos"/>
                          <a:cs typeface="Aptos"/>
                        </a:rPr>
                        <a:t>Choose targets with stronger published redshifts</a:t>
                      </a:r>
                    </a:p>
                  </a:txBody>
                  <a:tcPr>
                    <a:solidFill>
                      <a:srgbClr val="FFFFFF"/>
                    </a:solidFill>
                  </a:tcPr>
                </a:tc>
                <a:extLst>
                  <a:ext uri="{0D108BD9-81ED-4DB2-BD59-A6C34878D82A}">
                    <a16:rowId xmlns:a16="http://schemas.microsoft.com/office/drawing/2014/main" val="10003"/>
                  </a:ext>
                </a:extLst>
              </a:tr>
              <a:tr h="539750">
                <a:tc>
                  <a:txBody>
                    <a:bodyPr/>
                    <a:lstStyle/>
                    <a:p>
                      <a:r>
                        <a:rPr sz="1050">
                          <a:solidFill>
                            <a:srgbClr val="202124"/>
                          </a:solidFill>
                          <a:latin typeface="Aptos"/>
                          <a:ea typeface="Aptos"/>
                          <a:cs typeface="Aptos"/>
                        </a:rPr>
                        <a:t>Distance estimates vary</a:t>
                      </a:r>
                    </a:p>
                  </a:txBody>
                  <a:tcPr>
                    <a:solidFill>
                      <a:srgbClr val="F3F6F8"/>
                    </a:solidFill>
                  </a:tcPr>
                </a:tc>
                <a:tc>
                  <a:txBody>
                    <a:bodyPr/>
                    <a:lstStyle/>
                    <a:p>
                      <a:r>
                        <a:rPr sz="1050">
                          <a:solidFill>
                            <a:srgbClr val="202124"/>
                          </a:solidFill>
                          <a:latin typeface="Aptos"/>
                          <a:ea typeface="Aptos"/>
                          <a:cs typeface="Aptos"/>
                        </a:rPr>
                        <a:t>Use one distance source consistently</a:t>
                      </a:r>
                    </a:p>
                  </a:txBody>
                  <a:tcPr>
                    <a:solidFill>
                      <a:srgbClr val="F3F6F8"/>
                    </a:solidFill>
                  </a:tcPr>
                </a:tc>
                <a:extLst>
                  <a:ext uri="{0D108BD9-81ED-4DB2-BD59-A6C34878D82A}">
                    <a16:rowId xmlns:a16="http://schemas.microsoft.com/office/drawing/2014/main" val="10004"/>
                  </a:ext>
                </a:extLst>
              </a:tr>
              <a:tr h="539750">
                <a:tc>
                  <a:txBody>
                    <a:bodyPr/>
                    <a:lstStyle/>
                    <a:p>
                      <a:r>
                        <a:rPr sz="1050">
                          <a:solidFill>
                            <a:srgbClr val="202124"/>
                          </a:solidFill>
                          <a:latin typeface="Aptos"/>
                          <a:ea typeface="Aptos"/>
                          <a:cs typeface="Aptos"/>
                        </a:rPr>
                        <a:t>Clouds or poor seeing</a:t>
                      </a:r>
                    </a:p>
                  </a:txBody>
                  <a:tcPr>
                    <a:solidFill>
                      <a:srgbClr val="FFFFFF"/>
                    </a:solidFill>
                  </a:tcPr>
                </a:tc>
                <a:tc>
                  <a:txBody>
                    <a:bodyPr/>
                    <a:lstStyle/>
                    <a:p>
                      <a:r>
                        <a:rPr sz="1050">
                          <a:solidFill>
                            <a:srgbClr val="202124"/>
                          </a:solidFill>
                          <a:latin typeface="Aptos"/>
                          <a:ea typeface="Aptos"/>
                          <a:cs typeface="Aptos"/>
                        </a:rPr>
                        <a:t>Use SDSS public spectra as a labeled backup dataset</a:t>
                      </a:r>
                    </a:p>
                  </a:txBody>
                  <a:tcPr>
                    <a:solidFill>
                      <a:srgbClr val="FFFFFF"/>
                    </a:solidFill>
                  </a:tcPr>
                </a:tc>
                <a:extLst>
                  <a:ext uri="{0D108BD9-81ED-4DB2-BD59-A6C34878D82A}">
                    <a16:rowId xmlns:a16="http://schemas.microsoft.com/office/drawing/2014/main" val="10005"/>
                  </a:ext>
                </a:extLst>
              </a:tr>
            </a:tbl>
          </a:graphicData>
        </a:graphic>
      </p:graphicFrame>
      <p:sp>
        <p:nvSpPr>
          <p:cNvPr id="5" name="Oval 4">
            <a:extLst>
              <a:ext uri="{FF2B5EF4-FFF2-40B4-BE49-F238E27FC236}">
                <a16:creationId xmlns:a16="http://schemas.microsoft.com/office/drawing/2014/main" id="{1FF4D0F0-4E7E-401E-8597-C8A160882CCB}"/>
              </a:ext>
            </a:extLst>
          </p:cNvPr>
          <p:cNvSpPr>
            <a:spLocks noGrp="1"/>
          </p:cNvSpPr>
          <p:nvPr/>
        </p:nvSpPr>
        <p:spPr>
          <a:xfrm>
            <a:off x="1219200" y="5429250"/>
            <a:ext cx="85725" cy="85725"/>
          </a:xfrm>
          <a:prstGeom prst="ellipse">
            <a:avLst/>
          </a:prstGeom>
          <a:solidFill>
            <a:srgbClr val="0F4D55"/>
          </a:solidFill>
          <a:ln w="0">
            <a:noFill/>
          </a:ln>
        </p:spPr>
        <p:txBody>
          <a:bodyPr/>
          <a:lstStyle/>
          <a:p>
            <a:endParaRPr lang="en-US"/>
          </a:p>
        </p:txBody>
      </p:sp>
      <p:sp>
        <p:nvSpPr>
          <p:cNvPr id="6" name="Rectangle 5">
            <a:extLst>
              <a:ext uri="{FF2B5EF4-FFF2-40B4-BE49-F238E27FC236}">
                <a16:creationId xmlns:a16="http://schemas.microsoft.com/office/drawing/2014/main" id="{4FDB427F-CCBA-49C9-BF51-2501A1F9B5E7}"/>
              </a:ext>
            </a:extLst>
          </p:cNvPr>
          <p:cNvSpPr>
            <a:spLocks noGrp="1"/>
          </p:cNvSpPr>
          <p:nvPr/>
        </p:nvSpPr>
        <p:spPr>
          <a:xfrm>
            <a:off x="1428750" y="5334000"/>
            <a:ext cx="8839200" cy="381000"/>
          </a:xfrm>
          <a:prstGeom prst="rect">
            <a:avLst/>
          </a:prstGeom>
          <a:noFill/>
          <a:ln w="0">
            <a:noFill/>
          </a:ln>
        </p:spPr>
        <p:txBody>
          <a:bodyPr>
            <a:normAutofit/>
          </a:bodyPr>
          <a:lstStyle/>
          <a:p>
            <a:pPr>
              <a:defRPr sz="1500" b="0">
                <a:solidFill>
                  <a:srgbClr val="202124"/>
                </a:solidFill>
                <a:latin typeface="Aptos"/>
                <a:ea typeface="Aptos"/>
                <a:cs typeface="Aptos"/>
              </a:defRPr>
            </a:pPr>
            <a:r>
              <a:rPr sz="1500" b="0">
                <a:solidFill>
                  <a:srgbClr val="202124"/>
                </a:solidFill>
                <a:latin typeface="Aptos"/>
                <a:ea typeface="Aptos"/>
                <a:cs typeface="Aptos"/>
              </a:rPr>
              <a:t>A hybrid project can still be strong: student spectra plus public spectra</a:t>
            </a:r>
          </a:p>
        </p:txBody>
      </p:sp>
      <p:sp>
        <p:nvSpPr>
          <p:cNvPr id="7" name="Oval 6">
            <a:extLst>
              <a:ext uri="{FF2B5EF4-FFF2-40B4-BE49-F238E27FC236}">
                <a16:creationId xmlns:a16="http://schemas.microsoft.com/office/drawing/2014/main" id="{F06FB5CD-5484-42C9-AC89-27611925BCA5}"/>
              </a:ext>
            </a:extLst>
          </p:cNvPr>
          <p:cNvSpPr>
            <a:spLocks noGrp="1"/>
          </p:cNvSpPr>
          <p:nvPr/>
        </p:nvSpPr>
        <p:spPr>
          <a:xfrm>
            <a:off x="1219200" y="5829300"/>
            <a:ext cx="85725" cy="85725"/>
          </a:xfrm>
          <a:prstGeom prst="ellipse">
            <a:avLst/>
          </a:prstGeom>
          <a:solidFill>
            <a:srgbClr val="0F4D55"/>
          </a:solidFill>
          <a:ln w="0">
            <a:noFill/>
          </a:ln>
        </p:spPr>
        <p:txBody>
          <a:bodyPr/>
          <a:lstStyle/>
          <a:p>
            <a:endParaRPr lang="en-US"/>
          </a:p>
        </p:txBody>
      </p:sp>
      <p:sp>
        <p:nvSpPr>
          <p:cNvPr id="8" name="Rectangle 7">
            <a:extLst>
              <a:ext uri="{FF2B5EF4-FFF2-40B4-BE49-F238E27FC236}">
                <a16:creationId xmlns:a16="http://schemas.microsoft.com/office/drawing/2014/main" id="{AE77CA14-10E4-4306-9346-43E2271711BD}"/>
              </a:ext>
            </a:extLst>
          </p:cNvPr>
          <p:cNvSpPr>
            <a:spLocks noGrp="1"/>
          </p:cNvSpPr>
          <p:nvPr/>
        </p:nvSpPr>
        <p:spPr>
          <a:xfrm>
            <a:off x="1428750" y="5734050"/>
            <a:ext cx="8839200" cy="381000"/>
          </a:xfrm>
          <a:prstGeom prst="rect">
            <a:avLst/>
          </a:prstGeom>
          <a:noFill/>
          <a:ln w="0">
            <a:noFill/>
          </a:ln>
        </p:spPr>
        <p:txBody>
          <a:bodyPr>
            <a:normAutofit/>
          </a:bodyPr>
          <a:lstStyle/>
          <a:p>
            <a:pPr>
              <a:defRPr sz="1500" b="0">
                <a:solidFill>
                  <a:srgbClr val="202124"/>
                </a:solidFill>
                <a:latin typeface="Aptos"/>
                <a:ea typeface="Aptos"/>
                <a:cs typeface="Aptos"/>
              </a:defRPr>
            </a:pPr>
            <a:r>
              <a:rPr sz="1500" b="0">
                <a:solidFill>
                  <a:srgbClr val="202124"/>
                </a:solidFill>
                <a:latin typeface="Aptos"/>
                <a:ea typeface="Aptos"/>
                <a:cs typeface="Aptos"/>
              </a:rPr>
              <a:t>Judges value a clear limit as much as a perfect result</a:t>
            </a:r>
          </a:p>
        </p:txBody>
      </p:sp>
      <p:sp>
        <p:nvSpPr>
          <p:cNvPr id="9" name="Rectangle 8">
            <a:extLst>
              <a:ext uri="{FF2B5EF4-FFF2-40B4-BE49-F238E27FC236}">
                <a16:creationId xmlns:a16="http://schemas.microsoft.com/office/drawing/2014/main" id="{369C5073-13EA-44EA-A856-2B1E1FA1BA77}"/>
              </a:ext>
            </a:extLst>
          </p:cNvPr>
          <p:cNvSpPr>
            <a:spLocks noGrp="1"/>
          </p:cNvSpPr>
          <p:nvPr/>
        </p:nvSpPr>
        <p:spPr>
          <a:xfrm>
            <a:off x="685800" y="6438900"/>
            <a:ext cx="4762500" cy="228600"/>
          </a:xfrm>
          <a:prstGeom prst="rect">
            <a:avLst/>
          </a:prstGeom>
          <a:noFill/>
          <a:ln w="0">
            <a:noFill/>
          </a:ln>
        </p:spPr>
        <p:txBody>
          <a:bodyPr>
            <a:normAutofit/>
          </a:bodyPr>
          <a:lstStyle/>
          <a:p>
            <a:pPr>
              <a:defRPr sz="900" b="0">
                <a:solidFill>
                  <a:srgbClr val="5F6368"/>
                </a:solidFill>
                <a:latin typeface="Aptos"/>
                <a:ea typeface="Aptos"/>
                <a:cs typeface="Aptos"/>
              </a:defRPr>
            </a:pPr>
            <a:r>
              <a:rPr sz="900" b="0">
                <a:solidFill>
                  <a:srgbClr val="5F6368"/>
                </a:solidFill>
                <a:latin typeface="Aptos"/>
                <a:ea typeface="Aptos"/>
                <a:cs typeface="Aptos"/>
              </a:rPr>
              <a:t>Hubble's Law spectroscopy</a:t>
            </a:r>
          </a:p>
        </p:txBody>
      </p:sp>
      <p:sp>
        <p:nvSpPr>
          <p:cNvPr id="10" name="Rectangle 9">
            <a:extLst>
              <a:ext uri="{FF2B5EF4-FFF2-40B4-BE49-F238E27FC236}">
                <a16:creationId xmlns:a16="http://schemas.microsoft.com/office/drawing/2014/main" id="{0644E976-96DC-4F16-8C98-76233C1812E3}"/>
              </a:ext>
            </a:extLst>
          </p:cNvPr>
          <p:cNvSpPr>
            <a:spLocks noGrp="1"/>
          </p:cNvSpPr>
          <p:nvPr/>
        </p:nvSpPr>
        <p:spPr>
          <a:xfrm>
            <a:off x="11125200" y="6438900"/>
            <a:ext cx="381000" cy="228600"/>
          </a:xfrm>
          <a:prstGeom prst="rect">
            <a:avLst/>
          </a:prstGeom>
          <a:noFill/>
          <a:ln w="0">
            <a:noFill/>
          </a:ln>
        </p:spPr>
        <p:txBody>
          <a:bodyPr>
            <a:normAutofit fontScale="57500" lnSpcReduction="20000"/>
          </a:bodyPr>
          <a:lstStyle/>
          <a:p>
            <a:pPr>
              <a:defRPr sz="900" b="0">
                <a:solidFill>
                  <a:srgbClr val="5F6368"/>
                </a:solidFill>
                <a:latin typeface="Aptos"/>
                <a:ea typeface="Aptos"/>
                <a:cs typeface="Aptos"/>
              </a:defRPr>
            </a:pPr>
            <a:r>
              <a:rPr sz="900" b="0">
                <a:solidFill>
                  <a:srgbClr val="5F6368"/>
                </a:solidFill>
                <a:latin typeface="Aptos"/>
                <a:ea typeface="Aptos"/>
                <a:cs typeface="Aptos"/>
              </a:rPr>
              <a:t>undefined</a:t>
            </a:r>
          </a:p>
        </p:txBody>
      </p:sp>
    </p:spTree>
    <p:extLst>
      <p:ext uri="{BB962C8B-B14F-4D97-AF65-F5344CB8AC3E}">
        <p14:creationId xmlns:p14="http://schemas.microsoft.com/office/powerpoint/2010/main" val="8380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D9B83EF-2747-4DF0-AB1B-5EC60C4B9152}"/>
              </a:ext>
            </a:extLst>
          </p:cNvPr>
          <p:cNvSpPr>
            <a:spLocks noGrp="1"/>
          </p:cNvSpPr>
          <p:nvPr/>
        </p:nvSpPr>
        <p:spPr>
          <a:xfrm>
            <a:off x="685800" y="419100"/>
            <a:ext cx="8191500" cy="495300"/>
          </a:xfrm>
          <a:prstGeom prst="rect">
            <a:avLst/>
          </a:prstGeom>
          <a:noFill/>
          <a:ln w="0">
            <a:noFill/>
          </a:ln>
        </p:spPr>
        <p:txBody>
          <a:bodyPr>
            <a:normAutofit/>
          </a:bodyPr>
          <a:lstStyle/>
          <a:p>
            <a:pPr>
              <a:defRPr sz="2625" b="1">
                <a:solidFill>
                  <a:srgbClr val="202124"/>
                </a:solidFill>
                <a:latin typeface="Aptos"/>
                <a:ea typeface="Aptos"/>
                <a:cs typeface="Aptos"/>
              </a:defRPr>
            </a:pPr>
            <a:r>
              <a:rPr sz="2625" b="1">
                <a:solidFill>
                  <a:srgbClr val="202124"/>
                </a:solidFill>
                <a:latin typeface="Aptos"/>
                <a:ea typeface="Aptos"/>
                <a:cs typeface="Aptos"/>
              </a:rPr>
              <a:t>Science fair deliverables</a:t>
            </a:r>
          </a:p>
        </p:txBody>
      </p:sp>
      <p:sp>
        <p:nvSpPr>
          <p:cNvPr id="2" name="Rectangle 1">
            <a:extLst>
              <a:ext uri="{FF2B5EF4-FFF2-40B4-BE49-F238E27FC236}">
                <a16:creationId xmlns:a16="http://schemas.microsoft.com/office/drawing/2014/main" id="{65240AE4-B22D-4016-9E65-7F3F1304C755}"/>
              </a:ext>
            </a:extLst>
          </p:cNvPr>
          <p:cNvSpPr>
            <a:spLocks noGrp="1"/>
          </p:cNvSpPr>
          <p:nvPr/>
        </p:nvSpPr>
        <p:spPr>
          <a:xfrm>
            <a:off x="685800" y="914400"/>
            <a:ext cx="9144000" cy="400050"/>
          </a:xfrm>
          <a:prstGeom prst="rect">
            <a:avLst/>
          </a:prstGeom>
          <a:noFill/>
          <a:ln w="0">
            <a:noFill/>
          </a:ln>
        </p:spPr>
        <p:txBody>
          <a:bodyPr>
            <a:normAutofit/>
          </a:bodyPr>
          <a:lstStyle/>
          <a:p>
            <a:pPr>
              <a:defRPr sz="1425" b="0">
                <a:solidFill>
                  <a:srgbClr val="5F6368"/>
                </a:solidFill>
                <a:latin typeface="Aptos"/>
                <a:ea typeface="Aptos"/>
                <a:cs typeface="Aptos"/>
              </a:defRPr>
            </a:pPr>
            <a:r>
              <a:rPr sz="1425" b="0">
                <a:solidFill>
                  <a:srgbClr val="5F6368"/>
                </a:solidFill>
                <a:latin typeface="Aptos"/>
                <a:ea typeface="Aptos"/>
                <a:cs typeface="Aptos"/>
              </a:rPr>
              <a:t>The final board should make the measurement chain visible</a:t>
            </a:r>
          </a:p>
        </p:txBody>
      </p:sp>
      <p:sp>
        <p:nvSpPr>
          <p:cNvPr id="3" name="Rectangle 2">
            <a:extLst>
              <a:ext uri="{FF2B5EF4-FFF2-40B4-BE49-F238E27FC236}">
                <a16:creationId xmlns:a16="http://schemas.microsoft.com/office/drawing/2014/main" id="{59927ABB-D79A-473D-91EF-4FA3D5C49021}"/>
              </a:ext>
            </a:extLst>
          </p:cNvPr>
          <p:cNvSpPr>
            <a:spLocks noGrp="1"/>
          </p:cNvSpPr>
          <p:nvPr/>
        </p:nvSpPr>
        <p:spPr>
          <a:xfrm>
            <a:off x="685800" y="1409700"/>
            <a:ext cx="10820400" cy="19050"/>
          </a:xfrm>
          <a:prstGeom prst="rect">
            <a:avLst/>
          </a:prstGeom>
          <a:solidFill>
            <a:srgbClr val="D9DEE5"/>
          </a:solidFill>
          <a:ln w="0">
            <a:noFill/>
          </a:ln>
        </p:spPr>
        <p:txBody>
          <a:bodyPr/>
          <a:lstStyle/>
          <a:p>
            <a:endParaRPr lang="en-US"/>
          </a:p>
        </p:txBody>
      </p:sp>
      <p:sp>
        <p:nvSpPr>
          <p:cNvPr id="4" name="Oval 3">
            <a:extLst>
              <a:ext uri="{FF2B5EF4-FFF2-40B4-BE49-F238E27FC236}">
                <a16:creationId xmlns:a16="http://schemas.microsoft.com/office/drawing/2014/main" id="{4EF64D50-8AF9-4FB5-AC92-A1467421BECA}"/>
              </a:ext>
            </a:extLst>
          </p:cNvPr>
          <p:cNvSpPr>
            <a:spLocks noGrp="1"/>
          </p:cNvSpPr>
          <p:nvPr/>
        </p:nvSpPr>
        <p:spPr>
          <a:xfrm>
            <a:off x="876300" y="1885950"/>
            <a:ext cx="85725" cy="85725"/>
          </a:xfrm>
          <a:prstGeom prst="ellipse">
            <a:avLst/>
          </a:prstGeom>
          <a:solidFill>
            <a:srgbClr val="B84A3A"/>
          </a:solidFill>
          <a:ln w="0">
            <a:noFill/>
          </a:ln>
        </p:spPr>
        <p:txBody>
          <a:bodyPr/>
          <a:lstStyle/>
          <a:p>
            <a:endParaRPr lang="en-US"/>
          </a:p>
        </p:txBody>
      </p:sp>
      <p:sp>
        <p:nvSpPr>
          <p:cNvPr id="5" name="Rectangle 4">
            <a:extLst>
              <a:ext uri="{FF2B5EF4-FFF2-40B4-BE49-F238E27FC236}">
                <a16:creationId xmlns:a16="http://schemas.microsoft.com/office/drawing/2014/main" id="{180E6B11-1B69-4008-9553-91D94A515D7F}"/>
              </a:ext>
            </a:extLst>
          </p:cNvPr>
          <p:cNvSpPr>
            <a:spLocks noGrp="1"/>
          </p:cNvSpPr>
          <p:nvPr/>
        </p:nvSpPr>
        <p:spPr>
          <a:xfrm>
            <a:off x="1085850" y="1790700"/>
            <a:ext cx="9505950" cy="438150"/>
          </a:xfrm>
          <a:prstGeom prst="rect">
            <a:avLst/>
          </a:prstGeom>
          <a:noFill/>
          <a:ln w="0">
            <a:noFill/>
          </a:ln>
        </p:spPr>
        <p:txBody>
          <a:bodyPr>
            <a:normAutofit/>
          </a:bodyPr>
          <a:lstStyle/>
          <a:p>
            <a:pPr>
              <a:defRPr sz="1575" b="0">
                <a:solidFill>
                  <a:srgbClr val="202124"/>
                </a:solidFill>
                <a:latin typeface="Aptos"/>
                <a:ea typeface="Aptos"/>
                <a:cs typeface="Aptos"/>
              </a:defRPr>
            </a:pPr>
            <a:r>
              <a:rPr sz="1575" b="0">
                <a:solidFill>
                  <a:srgbClr val="202124"/>
                </a:solidFill>
                <a:latin typeface="Aptos"/>
                <a:ea typeface="Aptos"/>
                <a:cs typeface="Aptos"/>
              </a:rPr>
              <a:t>Research question, hypothesis and variables</a:t>
            </a:r>
          </a:p>
        </p:txBody>
      </p:sp>
      <p:sp>
        <p:nvSpPr>
          <p:cNvPr id="6" name="Oval 5">
            <a:extLst>
              <a:ext uri="{FF2B5EF4-FFF2-40B4-BE49-F238E27FC236}">
                <a16:creationId xmlns:a16="http://schemas.microsoft.com/office/drawing/2014/main" id="{56CF8B01-04C4-41BD-947A-59E8EF382FCF}"/>
              </a:ext>
            </a:extLst>
          </p:cNvPr>
          <p:cNvSpPr>
            <a:spLocks noGrp="1"/>
          </p:cNvSpPr>
          <p:nvPr/>
        </p:nvSpPr>
        <p:spPr>
          <a:xfrm>
            <a:off x="876300" y="2343150"/>
            <a:ext cx="85725" cy="85725"/>
          </a:xfrm>
          <a:prstGeom prst="ellipse">
            <a:avLst/>
          </a:prstGeom>
          <a:solidFill>
            <a:srgbClr val="B84A3A"/>
          </a:solidFill>
          <a:ln w="0">
            <a:noFill/>
          </a:ln>
        </p:spPr>
        <p:txBody>
          <a:bodyPr/>
          <a:lstStyle/>
          <a:p>
            <a:endParaRPr lang="en-US"/>
          </a:p>
        </p:txBody>
      </p:sp>
      <p:sp>
        <p:nvSpPr>
          <p:cNvPr id="7" name="Rectangle 6">
            <a:extLst>
              <a:ext uri="{FF2B5EF4-FFF2-40B4-BE49-F238E27FC236}">
                <a16:creationId xmlns:a16="http://schemas.microsoft.com/office/drawing/2014/main" id="{DAD2C81E-4FD8-4CCA-9441-22F906625ABC}"/>
              </a:ext>
            </a:extLst>
          </p:cNvPr>
          <p:cNvSpPr>
            <a:spLocks noGrp="1"/>
          </p:cNvSpPr>
          <p:nvPr/>
        </p:nvSpPr>
        <p:spPr>
          <a:xfrm>
            <a:off x="1085850" y="2247900"/>
            <a:ext cx="9505950" cy="438150"/>
          </a:xfrm>
          <a:prstGeom prst="rect">
            <a:avLst/>
          </a:prstGeom>
          <a:noFill/>
          <a:ln w="0">
            <a:noFill/>
          </a:ln>
        </p:spPr>
        <p:txBody>
          <a:bodyPr>
            <a:normAutofit/>
          </a:bodyPr>
          <a:lstStyle/>
          <a:p>
            <a:pPr>
              <a:defRPr sz="1575" b="0">
                <a:solidFill>
                  <a:srgbClr val="202124"/>
                </a:solidFill>
                <a:latin typeface="Aptos"/>
                <a:ea typeface="Aptos"/>
                <a:cs typeface="Aptos"/>
              </a:defRPr>
            </a:pPr>
            <a:r>
              <a:rPr sz="1575" b="0">
                <a:solidFill>
                  <a:srgbClr val="202124"/>
                </a:solidFill>
                <a:latin typeface="Aptos"/>
                <a:ea typeface="Aptos"/>
                <a:cs typeface="Aptos"/>
              </a:rPr>
              <a:t>Equipment diagram or setup photo</a:t>
            </a:r>
          </a:p>
        </p:txBody>
      </p:sp>
      <p:sp>
        <p:nvSpPr>
          <p:cNvPr id="8" name="Oval 7">
            <a:extLst>
              <a:ext uri="{FF2B5EF4-FFF2-40B4-BE49-F238E27FC236}">
                <a16:creationId xmlns:a16="http://schemas.microsoft.com/office/drawing/2014/main" id="{CD2C5D9C-0F4F-4A3A-99F1-74D945397DF7}"/>
              </a:ext>
            </a:extLst>
          </p:cNvPr>
          <p:cNvSpPr>
            <a:spLocks noGrp="1"/>
          </p:cNvSpPr>
          <p:nvPr/>
        </p:nvSpPr>
        <p:spPr>
          <a:xfrm>
            <a:off x="876300" y="2800350"/>
            <a:ext cx="85725" cy="85725"/>
          </a:xfrm>
          <a:prstGeom prst="ellipse">
            <a:avLst/>
          </a:prstGeom>
          <a:solidFill>
            <a:srgbClr val="B84A3A"/>
          </a:solidFill>
          <a:ln w="0">
            <a:noFill/>
          </a:ln>
        </p:spPr>
        <p:txBody>
          <a:bodyPr/>
          <a:lstStyle/>
          <a:p>
            <a:endParaRPr lang="en-US"/>
          </a:p>
        </p:txBody>
      </p:sp>
      <p:sp>
        <p:nvSpPr>
          <p:cNvPr id="9" name="Rectangle 8">
            <a:extLst>
              <a:ext uri="{FF2B5EF4-FFF2-40B4-BE49-F238E27FC236}">
                <a16:creationId xmlns:a16="http://schemas.microsoft.com/office/drawing/2014/main" id="{E61ACC8D-B756-4812-8B78-D8818ABD4521}"/>
              </a:ext>
            </a:extLst>
          </p:cNvPr>
          <p:cNvSpPr>
            <a:spLocks noGrp="1"/>
          </p:cNvSpPr>
          <p:nvPr/>
        </p:nvSpPr>
        <p:spPr>
          <a:xfrm>
            <a:off x="1085850" y="2705100"/>
            <a:ext cx="9505950" cy="438150"/>
          </a:xfrm>
          <a:prstGeom prst="rect">
            <a:avLst/>
          </a:prstGeom>
          <a:noFill/>
          <a:ln w="0">
            <a:noFill/>
          </a:ln>
        </p:spPr>
        <p:txBody>
          <a:bodyPr>
            <a:normAutofit/>
          </a:bodyPr>
          <a:lstStyle/>
          <a:p>
            <a:pPr>
              <a:defRPr sz="1575" b="0">
                <a:solidFill>
                  <a:srgbClr val="202124"/>
                </a:solidFill>
                <a:latin typeface="Aptos"/>
                <a:ea typeface="Aptos"/>
                <a:cs typeface="Aptos"/>
              </a:defRPr>
            </a:pPr>
            <a:r>
              <a:rPr sz="1575" b="0">
                <a:solidFill>
                  <a:srgbClr val="202124"/>
                </a:solidFill>
                <a:latin typeface="Aptos"/>
                <a:ea typeface="Aptos"/>
                <a:cs typeface="Aptos"/>
              </a:rPr>
              <a:t>A calibrated spectrum with labeled spectral lines</a:t>
            </a:r>
          </a:p>
        </p:txBody>
      </p:sp>
      <p:sp>
        <p:nvSpPr>
          <p:cNvPr id="10" name="Oval 9">
            <a:extLst>
              <a:ext uri="{FF2B5EF4-FFF2-40B4-BE49-F238E27FC236}">
                <a16:creationId xmlns:a16="http://schemas.microsoft.com/office/drawing/2014/main" id="{753598ED-264A-434B-8DEB-BBF4FB4AEE90}"/>
              </a:ext>
            </a:extLst>
          </p:cNvPr>
          <p:cNvSpPr>
            <a:spLocks noGrp="1"/>
          </p:cNvSpPr>
          <p:nvPr/>
        </p:nvSpPr>
        <p:spPr>
          <a:xfrm>
            <a:off x="876300" y="3257550"/>
            <a:ext cx="85725" cy="85725"/>
          </a:xfrm>
          <a:prstGeom prst="ellipse">
            <a:avLst/>
          </a:prstGeom>
          <a:solidFill>
            <a:srgbClr val="B84A3A"/>
          </a:solidFill>
          <a:ln w="0">
            <a:noFill/>
          </a:ln>
        </p:spPr>
        <p:txBody>
          <a:bodyPr/>
          <a:lstStyle/>
          <a:p>
            <a:endParaRPr lang="en-US"/>
          </a:p>
        </p:txBody>
      </p:sp>
      <p:sp>
        <p:nvSpPr>
          <p:cNvPr id="11" name="Rectangle 10">
            <a:extLst>
              <a:ext uri="{FF2B5EF4-FFF2-40B4-BE49-F238E27FC236}">
                <a16:creationId xmlns:a16="http://schemas.microsoft.com/office/drawing/2014/main" id="{28F61840-6E16-4A69-9DC4-291710C7166E}"/>
              </a:ext>
            </a:extLst>
          </p:cNvPr>
          <p:cNvSpPr>
            <a:spLocks noGrp="1"/>
          </p:cNvSpPr>
          <p:nvPr/>
        </p:nvSpPr>
        <p:spPr>
          <a:xfrm>
            <a:off x="1085850" y="3162300"/>
            <a:ext cx="9505950" cy="438150"/>
          </a:xfrm>
          <a:prstGeom prst="rect">
            <a:avLst/>
          </a:prstGeom>
          <a:noFill/>
          <a:ln w="0">
            <a:noFill/>
          </a:ln>
        </p:spPr>
        <p:txBody>
          <a:bodyPr>
            <a:normAutofit/>
          </a:bodyPr>
          <a:lstStyle/>
          <a:p>
            <a:pPr>
              <a:defRPr sz="1575" b="0">
                <a:solidFill>
                  <a:srgbClr val="202124"/>
                </a:solidFill>
                <a:latin typeface="Aptos"/>
                <a:ea typeface="Aptos"/>
                <a:cs typeface="Aptos"/>
              </a:defRPr>
            </a:pPr>
            <a:r>
              <a:rPr sz="1575" b="0">
                <a:solidFill>
                  <a:srgbClr val="202124"/>
                </a:solidFill>
                <a:latin typeface="Aptos"/>
                <a:ea typeface="Aptos"/>
                <a:cs typeface="Aptos"/>
              </a:rPr>
              <a:t>Table of galaxies, redshifts, velocities and distances</a:t>
            </a:r>
          </a:p>
        </p:txBody>
      </p:sp>
      <p:sp>
        <p:nvSpPr>
          <p:cNvPr id="12" name="Oval 11">
            <a:extLst>
              <a:ext uri="{FF2B5EF4-FFF2-40B4-BE49-F238E27FC236}">
                <a16:creationId xmlns:a16="http://schemas.microsoft.com/office/drawing/2014/main" id="{7028D3AC-77AD-4FF9-A218-84B627C3E089}"/>
              </a:ext>
            </a:extLst>
          </p:cNvPr>
          <p:cNvSpPr>
            <a:spLocks noGrp="1"/>
          </p:cNvSpPr>
          <p:nvPr/>
        </p:nvSpPr>
        <p:spPr>
          <a:xfrm>
            <a:off x="876300" y="3714750"/>
            <a:ext cx="85725" cy="85725"/>
          </a:xfrm>
          <a:prstGeom prst="ellipse">
            <a:avLst/>
          </a:prstGeom>
          <a:solidFill>
            <a:srgbClr val="B84A3A"/>
          </a:solidFill>
          <a:ln w="0">
            <a:noFill/>
          </a:ln>
        </p:spPr>
        <p:txBody>
          <a:bodyPr/>
          <a:lstStyle/>
          <a:p>
            <a:endParaRPr lang="en-US"/>
          </a:p>
        </p:txBody>
      </p:sp>
      <p:sp>
        <p:nvSpPr>
          <p:cNvPr id="13" name="Rectangle 12">
            <a:extLst>
              <a:ext uri="{FF2B5EF4-FFF2-40B4-BE49-F238E27FC236}">
                <a16:creationId xmlns:a16="http://schemas.microsoft.com/office/drawing/2014/main" id="{B1478C36-3695-418E-B15A-6D988FD0ACBA}"/>
              </a:ext>
            </a:extLst>
          </p:cNvPr>
          <p:cNvSpPr>
            <a:spLocks noGrp="1"/>
          </p:cNvSpPr>
          <p:nvPr/>
        </p:nvSpPr>
        <p:spPr>
          <a:xfrm>
            <a:off x="1085850" y="3619500"/>
            <a:ext cx="9505950" cy="438150"/>
          </a:xfrm>
          <a:prstGeom prst="rect">
            <a:avLst/>
          </a:prstGeom>
          <a:noFill/>
          <a:ln w="0">
            <a:noFill/>
          </a:ln>
        </p:spPr>
        <p:txBody>
          <a:bodyPr>
            <a:normAutofit/>
          </a:bodyPr>
          <a:lstStyle/>
          <a:p>
            <a:pPr>
              <a:defRPr sz="1575" b="0">
                <a:solidFill>
                  <a:srgbClr val="202124"/>
                </a:solidFill>
                <a:latin typeface="Aptos"/>
                <a:ea typeface="Aptos"/>
                <a:cs typeface="Aptos"/>
              </a:defRPr>
            </a:pPr>
            <a:r>
              <a:rPr sz="1575" b="0">
                <a:solidFill>
                  <a:srgbClr val="202124"/>
                </a:solidFill>
                <a:latin typeface="Aptos"/>
                <a:ea typeface="Aptos"/>
                <a:cs typeface="Aptos"/>
              </a:rPr>
              <a:t>Velocity-distance graph with trendline</a:t>
            </a:r>
          </a:p>
        </p:txBody>
      </p:sp>
      <p:sp>
        <p:nvSpPr>
          <p:cNvPr id="14" name="Oval 13">
            <a:extLst>
              <a:ext uri="{FF2B5EF4-FFF2-40B4-BE49-F238E27FC236}">
                <a16:creationId xmlns:a16="http://schemas.microsoft.com/office/drawing/2014/main" id="{36B07F37-B2BF-44F3-8244-90B6538B4BEC}"/>
              </a:ext>
            </a:extLst>
          </p:cNvPr>
          <p:cNvSpPr>
            <a:spLocks noGrp="1"/>
          </p:cNvSpPr>
          <p:nvPr/>
        </p:nvSpPr>
        <p:spPr>
          <a:xfrm>
            <a:off x="876300" y="4171950"/>
            <a:ext cx="85725" cy="85725"/>
          </a:xfrm>
          <a:prstGeom prst="ellipse">
            <a:avLst/>
          </a:prstGeom>
          <a:solidFill>
            <a:srgbClr val="B84A3A"/>
          </a:solidFill>
          <a:ln w="0">
            <a:noFill/>
          </a:ln>
        </p:spPr>
        <p:txBody>
          <a:bodyPr/>
          <a:lstStyle/>
          <a:p>
            <a:endParaRPr lang="en-US"/>
          </a:p>
        </p:txBody>
      </p:sp>
      <p:sp>
        <p:nvSpPr>
          <p:cNvPr id="15" name="Rectangle 14">
            <a:extLst>
              <a:ext uri="{FF2B5EF4-FFF2-40B4-BE49-F238E27FC236}">
                <a16:creationId xmlns:a16="http://schemas.microsoft.com/office/drawing/2014/main" id="{21CCD735-14E4-415B-BF69-E4B16FC1FF4C}"/>
              </a:ext>
            </a:extLst>
          </p:cNvPr>
          <p:cNvSpPr>
            <a:spLocks noGrp="1"/>
          </p:cNvSpPr>
          <p:nvPr/>
        </p:nvSpPr>
        <p:spPr>
          <a:xfrm>
            <a:off x="1085850" y="4076700"/>
            <a:ext cx="9505950" cy="438150"/>
          </a:xfrm>
          <a:prstGeom prst="rect">
            <a:avLst/>
          </a:prstGeom>
          <a:noFill/>
          <a:ln w="0">
            <a:noFill/>
          </a:ln>
        </p:spPr>
        <p:txBody>
          <a:bodyPr>
            <a:normAutofit/>
          </a:bodyPr>
          <a:lstStyle/>
          <a:p>
            <a:pPr>
              <a:defRPr sz="1575" b="0">
                <a:solidFill>
                  <a:srgbClr val="202124"/>
                </a:solidFill>
                <a:latin typeface="Aptos"/>
                <a:ea typeface="Aptos"/>
                <a:cs typeface="Aptos"/>
              </a:defRPr>
            </a:pPr>
            <a:r>
              <a:rPr sz="1575" b="0">
                <a:solidFill>
                  <a:srgbClr val="202124"/>
                </a:solidFill>
                <a:latin typeface="Aptos"/>
                <a:ea typeface="Aptos"/>
                <a:cs typeface="Aptos"/>
              </a:rPr>
              <a:t>Conclusion with uncertainty and limits</a:t>
            </a:r>
          </a:p>
        </p:txBody>
      </p:sp>
      <p:sp>
        <p:nvSpPr>
          <p:cNvPr id="16" name="Rectangle 15">
            <a:extLst>
              <a:ext uri="{FF2B5EF4-FFF2-40B4-BE49-F238E27FC236}">
                <a16:creationId xmlns:a16="http://schemas.microsoft.com/office/drawing/2014/main" id="{1C0E69F7-4FD8-4661-9435-53F2665550DD}"/>
              </a:ext>
            </a:extLst>
          </p:cNvPr>
          <p:cNvSpPr>
            <a:spLocks noGrp="1"/>
          </p:cNvSpPr>
          <p:nvPr/>
        </p:nvSpPr>
        <p:spPr>
          <a:xfrm>
            <a:off x="685800" y="6438900"/>
            <a:ext cx="4762500" cy="228600"/>
          </a:xfrm>
          <a:prstGeom prst="rect">
            <a:avLst/>
          </a:prstGeom>
          <a:noFill/>
          <a:ln w="0">
            <a:noFill/>
          </a:ln>
        </p:spPr>
        <p:txBody>
          <a:bodyPr>
            <a:normAutofit/>
          </a:bodyPr>
          <a:lstStyle/>
          <a:p>
            <a:pPr>
              <a:defRPr sz="900" b="0">
                <a:solidFill>
                  <a:srgbClr val="5F6368"/>
                </a:solidFill>
                <a:latin typeface="Aptos"/>
                <a:ea typeface="Aptos"/>
                <a:cs typeface="Aptos"/>
              </a:defRPr>
            </a:pPr>
            <a:r>
              <a:rPr sz="900" b="0">
                <a:solidFill>
                  <a:srgbClr val="5F6368"/>
                </a:solidFill>
                <a:latin typeface="Aptos"/>
                <a:ea typeface="Aptos"/>
                <a:cs typeface="Aptos"/>
              </a:rPr>
              <a:t>Hubble's Law spectroscopy</a:t>
            </a:r>
          </a:p>
        </p:txBody>
      </p:sp>
      <p:sp>
        <p:nvSpPr>
          <p:cNvPr id="17" name="Rectangle 16">
            <a:extLst>
              <a:ext uri="{FF2B5EF4-FFF2-40B4-BE49-F238E27FC236}">
                <a16:creationId xmlns:a16="http://schemas.microsoft.com/office/drawing/2014/main" id="{D9E37B0C-F915-413E-96A9-80EEBB6C094D}"/>
              </a:ext>
            </a:extLst>
          </p:cNvPr>
          <p:cNvSpPr>
            <a:spLocks noGrp="1"/>
          </p:cNvSpPr>
          <p:nvPr/>
        </p:nvSpPr>
        <p:spPr>
          <a:xfrm>
            <a:off x="11125200" y="6438900"/>
            <a:ext cx="381000" cy="228600"/>
          </a:xfrm>
          <a:prstGeom prst="rect">
            <a:avLst/>
          </a:prstGeom>
          <a:noFill/>
          <a:ln w="0">
            <a:noFill/>
          </a:ln>
        </p:spPr>
        <p:txBody>
          <a:bodyPr>
            <a:normAutofit fontScale="57500" lnSpcReduction="20000"/>
          </a:bodyPr>
          <a:lstStyle/>
          <a:p>
            <a:pPr>
              <a:defRPr sz="900" b="0">
                <a:solidFill>
                  <a:srgbClr val="5F6368"/>
                </a:solidFill>
                <a:latin typeface="Aptos"/>
                <a:ea typeface="Aptos"/>
                <a:cs typeface="Aptos"/>
              </a:defRPr>
            </a:pPr>
            <a:r>
              <a:rPr sz="900" b="0">
                <a:solidFill>
                  <a:srgbClr val="5F6368"/>
                </a:solidFill>
                <a:latin typeface="Aptos"/>
                <a:ea typeface="Aptos"/>
                <a:cs typeface="Aptos"/>
              </a:rPr>
              <a:t>undefined</a:t>
            </a:r>
          </a:p>
        </p:txBody>
      </p:sp>
    </p:spTree>
    <p:extLst>
      <p:ext uri="{BB962C8B-B14F-4D97-AF65-F5344CB8AC3E}">
        <p14:creationId xmlns:p14="http://schemas.microsoft.com/office/powerpoint/2010/main" val="1167658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09111E-9ECF-4DE7-A513-7D6AD00CBAAE}"/>
              </a:ext>
            </a:extLst>
          </p:cNvPr>
          <p:cNvSpPr>
            <a:spLocks noGrp="1"/>
          </p:cNvSpPr>
          <p:nvPr/>
        </p:nvSpPr>
        <p:spPr>
          <a:xfrm>
            <a:off x="685800" y="419100"/>
            <a:ext cx="8191500" cy="495300"/>
          </a:xfrm>
          <a:prstGeom prst="rect">
            <a:avLst/>
          </a:prstGeom>
          <a:noFill/>
          <a:ln w="0">
            <a:noFill/>
          </a:ln>
        </p:spPr>
        <p:txBody>
          <a:bodyPr>
            <a:normAutofit/>
          </a:bodyPr>
          <a:lstStyle/>
          <a:p>
            <a:pPr>
              <a:defRPr sz="2625" b="1">
                <a:solidFill>
                  <a:srgbClr val="202124"/>
                </a:solidFill>
                <a:latin typeface="Aptos"/>
                <a:ea typeface="Aptos"/>
                <a:cs typeface="Aptos"/>
              </a:defRPr>
            </a:pPr>
            <a:r>
              <a:rPr sz="2625" b="1">
                <a:solidFill>
                  <a:srgbClr val="202124"/>
                </a:solidFill>
                <a:latin typeface="Aptos"/>
                <a:ea typeface="Aptos"/>
                <a:cs typeface="Aptos"/>
              </a:rPr>
              <a:t>Starter resources</a:t>
            </a:r>
          </a:p>
        </p:txBody>
      </p:sp>
      <p:sp>
        <p:nvSpPr>
          <p:cNvPr id="2" name="Rectangle 1">
            <a:extLst>
              <a:ext uri="{FF2B5EF4-FFF2-40B4-BE49-F238E27FC236}">
                <a16:creationId xmlns:a16="http://schemas.microsoft.com/office/drawing/2014/main" id="{7F4FE642-2B14-418B-8470-22CE2C191083}"/>
              </a:ext>
            </a:extLst>
          </p:cNvPr>
          <p:cNvSpPr>
            <a:spLocks noGrp="1"/>
          </p:cNvSpPr>
          <p:nvPr/>
        </p:nvSpPr>
        <p:spPr>
          <a:xfrm>
            <a:off x="685800" y="914400"/>
            <a:ext cx="9144000" cy="400050"/>
          </a:xfrm>
          <a:prstGeom prst="rect">
            <a:avLst/>
          </a:prstGeom>
          <a:noFill/>
          <a:ln w="0">
            <a:noFill/>
          </a:ln>
        </p:spPr>
        <p:txBody>
          <a:bodyPr>
            <a:normAutofit/>
          </a:bodyPr>
          <a:lstStyle/>
          <a:p>
            <a:pPr>
              <a:defRPr sz="1425" b="0">
                <a:solidFill>
                  <a:srgbClr val="5F6368"/>
                </a:solidFill>
                <a:latin typeface="Aptos"/>
                <a:ea typeface="Aptos"/>
                <a:cs typeface="Aptos"/>
              </a:defRPr>
            </a:pPr>
            <a:r>
              <a:rPr sz="1425" b="0">
                <a:solidFill>
                  <a:srgbClr val="5F6368"/>
                </a:solidFill>
                <a:latin typeface="Aptos"/>
                <a:ea typeface="Aptos"/>
                <a:cs typeface="Aptos"/>
              </a:rPr>
              <a:t>Use these references for calibration, public data and interpretation</a:t>
            </a:r>
          </a:p>
        </p:txBody>
      </p:sp>
      <p:sp>
        <p:nvSpPr>
          <p:cNvPr id="3" name="Rectangle 2">
            <a:extLst>
              <a:ext uri="{FF2B5EF4-FFF2-40B4-BE49-F238E27FC236}">
                <a16:creationId xmlns:a16="http://schemas.microsoft.com/office/drawing/2014/main" id="{6E69904D-2F73-424A-837F-3EA82ABEE8AF}"/>
              </a:ext>
            </a:extLst>
          </p:cNvPr>
          <p:cNvSpPr>
            <a:spLocks noGrp="1"/>
          </p:cNvSpPr>
          <p:nvPr/>
        </p:nvSpPr>
        <p:spPr>
          <a:xfrm>
            <a:off x="685800" y="1409700"/>
            <a:ext cx="10820400" cy="19050"/>
          </a:xfrm>
          <a:prstGeom prst="rect">
            <a:avLst/>
          </a:prstGeom>
          <a:solidFill>
            <a:srgbClr val="D9DEE5"/>
          </a:solidFill>
          <a:ln w="0">
            <a:noFill/>
          </a:ln>
        </p:spPr>
        <p:txBody>
          <a:bodyPr/>
          <a:lstStyle/>
          <a:p>
            <a:endParaRPr lang="en-US"/>
          </a:p>
        </p:txBody>
      </p:sp>
      <p:graphicFrame>
        <p:nvGraphicFramePr>
          <p:cNvPr id="11" name="Table 10"/>
          <p:cNvGraphicFramePr/>
          <p:nvPr/>
        </p:nvGraphicFramePr>
        <p:xfrm>
          <a:off x="1123950" y="1885950"/>
          <a:ext cx="9944100" cy="2714625"/>
        </p:xfrm>
        <a:graphic>
          <a:graphicData uri="http://schemas.openxmlformats.org/drawingml/2006/table">
            <a:tbl>
              <a:tblPr firstRow="1" bandRow="1"/>
              <a:tblGrid>
                <a:gridCol w="4972050">
                  <a:extLst>
                    <a:ext uri="{9D8B030D-6E8A-4147-A177-3AD203B41FA5}">
                      <a16:colId xmlns:a16="http://schemas.microsoft.com/office/drawing/2014/main" val="20000"/>
                    </a:ext>
                  </a:extLst>
                </a:gridCol>
                <a:gridCol w="4972050">
                  <a:extLst>
                    <a:ext uri="{9D8B030D-6E8A-4147-A177-3AD203B41FA5}">
                      <a16:colId xmlns:a16="http://schemas.microsoft.com/office/drawing/2014/main" val="20001"/>
                    </a:ext>
                  </a:extLst>
                </a:gridCol>
              </a:tblGrid>
              <a:tr h="542925">
                <a:tc>
                  <a:txBody>
                    <a:bodyPr/>
                    <a:lstStyle/>
                    <a:p>
                      <a:r>
                        <a:rPr sz="1200" b="1">
                          <a:solidFill>
                            <a:srgbClr val="FFFFFF"/>
                          </a:solidFill>
                          <a:latin typeface="Aptos"/>
                          <a:ea typeface="Aptos"/>
                          <a:cs typeface="Aptos"/>
                        </a:rPr>
                        <a:t>Resource</a:t>
                      </a:r>
                    </a:p>
                  </a:txBody>
                  <a:tcPr>
                    <a:solidFill>
                      <a:srgbClr val="B84A3A"/>
                    </a:solidFill>
                  </a:tcPr>
                </a:tc>
                <a:tc>
                  <a:txBody>
                    <a:bodyPr/>
                    <a:lstStyle/>
                    <a:p>
                      <a:r>
                        <a:rPr sz="1200" b="1">
                          <a:solidFill>
                            <a:srgbClr val="FFFFFF"/>
                          </a:solidFill>
                          <a:latin typeface="Aptos"/>
                          <a:ea typeface="Aptos"/>
                          <a:cs typeface="Aptos"/>
                        </a:rPr>
                        <a:t>Use</a:t>
                      </a:r>
                    </a:p>
                  </a:txBody>
                  <a:tcPr>
                    <a:solidFill>
                      <a:srgbClr val="B84A3A"/>
                    </a:solidFill>
                  </a:tcPr>
                </a:tc>
                <a:extLst>
                  <a:ext uri="{0D108BD9-81ED-4DB2-BD59-A6C34878D82A}">
                    <a16:rowId xmlns:a16="http://schemas.microsoft.com/office/drawing/2014/main" val="10000"/>
                  </a:ext>
                </a:extLst>
              </a:tr>
              <a:tr h="542925">
                <a:tc>
                  <a:txBody>
                    <a:bodyPr/>
                    <a:lstStyle/>
                    <a:p>
                      <a:r>
                        <a:rPr sz="1050">
                          <a:solidFill>
                            <a:srgbClr val="202124"/>
                          </a:solidFill>
                          <a:latin typeface="Aptos"/>
                          <a:ea typeface="Aptos"/>
                          <a:cs typeface="Aptos"/>
                        </a:rPr>
                        <a:t>AAVSO spectroscopy guide</a:t>
                      </a:r>
                    </a:p>
                  </a:txBody>
                  <a:tcPr>
                    <a:solidFill>
                      <a:srgbClr val="FFFFFF"/>
                    </a:solidFill>
                  </a:tcPr>
                </a:tc>
                <a:tc>
                  <a:txBody>
                    <a:bodyPr/>
                    <a:lstStyle/>
                    <a:p>
                      <a:r>
                        <a:rPr sz="1050">
                          <a:solidFill>
                            <a:srgbClr val="202124"/>
                          </a:solidFill>
                          <a:latin typeface="Aptos"/>
                          <a:ea typeface="Aptos"/>
                          <a:cs typeface="Aptos"/>
                        </a:rPr>
                        <a:t>Beginner workflow for astronomical spectroscopy</a:t>
                      </a:r>
                    </a:p>
                  </a:txBody>
                  <a:tcPr>
                    <a:solidFill>
                      <a:srgbClr val="FFFFFF"/>
                    </a:solidFill>
                  </a:tcPr>
                </a:tc>
                <a:extLst>
                  <a:ext uri="{0D108BD9-81ED-4DB2-BD59-A6C34878D82A}">
                    <a16:rowId xmlns:a16="http://schemas.microsoft.com/office/drawing/2014/main" val="10001"/>
                  </a:ext>
                </a:extLst>
              </a:tr>
              <a:tr h="542925">
                <a:tc>
                  <a:txBody>
                    <a:bodyPr/>
                    <a:lstStyle/>
                    <a:p>
                      <a:r>
                        <a:rPr sz="1050">
                          <a:solidFill>
                            <a:srgbClr val="202124"/>
                          </a:solidFill>
                          <a:latin typeface="Aptos"/>
                          <a:ea typeface="Aptos"/>
                          <a:cs typeface="Aptos"/>
                        </a:rPr>
                        <a:t>Sloan Digital Sky Survey</a:t>
                      </a:r>
                    </a:p>
                  </a:txBody>
                  <a:tcPr>
                    <a:solidFill>
                      <a:srgbClr val="F3F6F8"/>
                    </a:solidFill>
                  </a:tcPr>
                </a:tc>
                <a:tc>
                  <a:txBody>
                    <a:bodyPr/>
                    <a:lstStyle/>
                    <a:p>
                      <a:r>
                        <a:rPr sz="1050">
                          <a:solidFill>
                            <a:srgbClr val="202124"/>
                          </a:solidFill>
                          <a:latin typeface="Aptos"/>
                          <a:ea typeface="Aptos"/>
                          <a:cs typeface="Aptos"/>
                        </a:rPr>
                        <a:t>Public galaxy spectra for backup or comparison</a:t>
                      </a:r>
                    </a:p>
                  </a:txBody>
                  <a:tcPr>
                    <a:solidFill>
                      <a:srgbClr val="F3F6F8"/>
                    </a:solidFill>
                  </a:tcPr>
                </a:tc>
                <a:extLst>
                  <a:ext uri="{0D108BD9-81ED-4DB2-BD59-A6C34878D82A}">
                    <a16:rowId xmlns:a16="http://schemas.microsoft.com/office/drawing/2014/main" val="10002"/>
                  </a:ext>
                </a:extLst>
              </a:tr>
              <a:tr h="542925">
                <a:tc>
                  <a:txBody>
                    <a:bodyPr/>
                    <a:lstStyle/>
                    <a:p>
                      <a:r>
                        <a:rPr sz="1050">
                          <a:solidFill>
                            <a:srgbClr val="202124"/>
                          </a:solidFill>
                          <a:latin typeface="Aptos"/>
                          <a:ea typeface="Aptos"/>
                          <a:cs typeface="Aptos"/>
                        </a:rPr>
                        <a:t>NASA/IPAC Extragalactic Database</a:t>
                      </a:r>
                    </a:p>
                  </a:txBody>
                  <a:tcPr>
                    <a:solidFill>
                      <a:srgbClr val="FFFFFF"/>
                    </a:solidFill>
                  </a:tcPr>
                </a:tc>
                <a:tc>
                  <a:txBody>
                    <a:bodyPr/>
                    <a:lstStyle/>
                    <a:p>
                      <a:r>
                        <a:rPr sz="1050">
                          <a:solidFill>
                            <a:srgbClr val="202124"/>
                          </a:solidFill>
                          <a:latin typeface="Aptos"/>
                          <a:ea typeface="Aptos"/>
                          <a:cs typeface="Aptos"/>
                        </a:rPr>
                        <a:t>Published galaxy properties and distances</a:t>
                      </a:r>
                    </a:p>
                  </a:txBody>
                  <a:tcPr>
                    <a:solidFill>
                      <a:srgbClr val="FFFFFF"/>
                    </a:solidFill>
                  </a:tcPr>
                </a:tc>
                <a:extLst>
                  <a:ext uri="{0D108BD9-81ED-4DB2-BD59-A6C34878D82A}">
                    <a16:rowId xmlns:a16="http://schemas.microsoft.com/office/drawing/2014/main" val="10003"/>
                  </a:ext>
                </a:extLst>
              </a:tr>
              <a:tr h="542925">
                <a:tc>
                  <a:txBody>
                    <a:bodyPr/>
                    <a:lstStyle/>
                    <a:p>
                      <a:r>
                        <a:rPr sz="1050">
                          <a:solidFill>
                            <a:srgbClr val="202124"/>
                          </a:solidFill>
                          <a:latin typeface="Aptos"/>
                          <a:ea typeface="Aptos"/>
                          <a:cs typeface="Aptos"/>
                        </a:rPr>
                        <a:t>Astro spectroscopy software</a:t>
                      </a:r>
                    </a:p>
                  </a:txBody>
                  <a:tcPr>
                    <a:solidFill>
                      <a:srgbClr val="F3F6F8"/>
                    </a:solidFill>
                  </a:tcPr>
                </a:tc>
                <a:tc>
                  <a:txBody>
                    <a:bodyPr/>
                    <a:lstStyle/>
                    <a:p>
                      <a:r>
                        <a:rPr sz="1050">
                          <a:solidFill>
                            <a:srgbClr val="202124"/>
                          </a:solidFill>
                          <a:latin typeface="Aptos"/>
                          <a:ea typeface="Aptos"/>
                          <a:cs typeface="Aptos"/>
                        </a:rPr>
                        <a:t>Wavelength calibration and line measurements</a:t>
                      </a:r>
                    </a:p>
                  </a:txBody>
                  <a:tcPr>
                    <a:solidFill>
                      <a:srgbClr val="F3F6F8"/>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31154303-63DD-475C-BA5E-AEF653BF26BC}"/>
              </a:ext>
            </a:extLst>
          </p:cNvPr>
          <p:cNvSpPr>
            <a:spLocks noGrp="1"/>
          </p:cNvSpPr>
          <p:nvPr/>
        </p:nvSpPr>
        <p:spPr>
          <a:xfrm>
            <a:off x="1200150" y="5000625"/>
            <a:ext cx="9525000" cy="533400"/>
          </a:xfrm>
          <a:prstGeom prst="rect">
            <a:avLst/>
          </a:prstGeom>
          <a:noFill/>
          <a:ln w="0">
            <a:noFill/>
          </a:ln>
        </p:spPr>
        <p:txBody>
          <a:bodyPr>
            <a:normAutofit/>
          </a:bodyPr>
          <a:lstStyle/>
          <a:p>
            <a:pPr>
              <a:defRPr sz="1500" b="0">
                <a:solidFill>
                  <a:srgbClr val="202124"/>
                </a:solidFill>
                <a:latin typeface="Aptos"/>
                <a:ea typeface="Aptos"/>
                <a:cs typeface="Aptos"/>
              </a:defRPr>
            </a:pPr>
            <a:r>
              <a:rPr sz="1500" b="0">
                <a:solidFill>
                  <a:srgbClr val="202124"/>
                </a:solidFill>
                <a:latin typeface="Aptos"/>
                <a:ea typeface="Aptos"/>
                <a:cs typeface="Aptos"/>
              </a:rPr>
              <a:t>Notes for mentors: keep a record of calibration accuracy, line choices and each distance source.</a:t>
            </a:r>
          </a:p>
        </p:txBody>
      </p:sp>
      <p:sp>
        <p:nvSpPr>
          <p:cNvPr id="6" name="Rectangle 5">
            <a:extLst>
              <a:ext uri="{FF2B5EF4-FFF2-40B4-BE49-F238E27FC236}">
                <a16:creationId xmlns:a16="http://schemas.microsoft.com/office/drawing/2014/main" id="{E5769CD9-B0E1-4939-AE68-665DA2BBCE64}"/>
              </a:ext>
            </a:extLst>
          </p:cNvPr>
          <p:cNvSpPr>
            <a:spLocks noGrp="1"/>
          </p:cNvSpPr>
          <p:nvPr/>
        </p:nvSpPr>
        <p:spPr>
          <a:xfrm>
            <a:off x="685800" y="6438900"/>
            <a:ext cx="4762500" cy="228600"/>
          </a:xfrm>
          <a:prstGeom prst="rect">
            <a:avLst/>
          </a:prstGeom>
          <a:noFill/>
          <a:ln w="0">
            <a:noFill/>
          </a:ln>
        </p:spPr>
        <p:txBody>
          <a:bodyPr>
            <a:normAutofit/>
          </a:bodyPr>
          <a:lstStyle/>
          <a:p>
            <a:pPr>
              <a:defRPr sz="900" b="0">
                <a:solidFill>
                  <a:srgbClr val="5F6368"/>
                </a:solidFill>
                <a:latin typeface="Aptos"/>
                <a:ea typeface="Aptos"/>
                <a:cs typeface="Aptos"/>
              </a:defRPr>
            </a:pPr>
            <a:r>
              <a:rPr sz="900" b="0">
                <a:solidFill>
                  <a:srgbClr val="5F6368"/>
                </a:solidFill>
                <a:latin typeface="Aptos"/>
                <a:ea typeface="Aptos"/>
                <a:cs typeface="Aptos"/>
              </a:rPr>
              <a:t>Hubble's Law spectroscopy</a:t>
            </a:r>
          </a:p>
        </p:txBody>
      </p:sp>
      <p:sp>
        <p:nvSpPr>
          <p:cNvPr id="7" name="Rectangle 6">
            <a:extLst>
              <a:ext uri="{FF2B5EF4-FFF2-40B4-BE49-F238E27FC236}">
                <a16:creationId xmlns:a16="http://schemas.microsoft.com/office/drawing/2014/main" id="{02EA0ADF-6F0D-4CB6-AB13-0CB7946B7226}"/>
              </a:ext>
            </a:extLst>
          </p:cNvPr>
          <p:cNvSpPr>
            <a:spLocks noGrp="1"/>
          </p:cNvSpPr>
          <p:nvPr/>
        </p:nvSpPr>
        <p:spPr>
          <a:xfrm>
            <a:off x="11125200" y="6438900"/>
            <a:ext cx="381000" cy="228600"/>
          </a:xfrm>
          <a:prstGeom prst="rect">
            <a:avLst/>
          </a:prstGeom>
          <a:noFill/>
          <a:ln w="0">
            <a:noFill/>
          </a:ln>
        </p:spPr>
        <p:txBody>
          <a:bodyPr>
            <a:normAutofit fontScale="57500" lnSpcReduction="20000"/>
          </a:bodyPr>
          <a:lstStyle/>
          <a:p>
            <a:pPr>
              <a:defRPr sz="900" b="0">
                <a:solidFill>
                  <a:srgbClr val="5F6368"/>
                </a:solidFill>
                <a:latin typeface="Aptos"/>
                <a:ea typeface="Aptos"/>
                <a:cs typeface="Aptos"/>
              </a:defRPr>
            </a:pPr>
            <a:r>
              <a:rPr sz="900" b="0">
                <a:solidFill>
                  <a:srgbClr val="5F6368"/>
                </a:solidFill>
                <a:latin typeface="Aptos"/>
                <a:ea typeface="Aptos"/>
                <a:cs typeface="Aptos"/>
              </a:rPr>
              <a:t>undefined</a:t>
            </a:r>
          </a:p>
        </p:txBody>
      </p:sp>
    </p:spTree>
    <p:extLst>
      <p:ext uri="{BB962C8B-B14F-4D97-AF65-F5344CB8AC3E}">
        <p14:creationId xmlns:p14="http://schemas.microsoft.com/office/powerpoint/2010/main" val="149569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9CBEDCA-7034-64F4-FB0D-F370B7C46848}"/>
              </a:ext>
            </a:extLst>
          </p:cNvPr>
          <p:cNvPicPr>
            <a:picLocks noChangeAspect="1"/>
          </p:cNvPicPr>
          <p:nvPr/>
        </p:nvPicPr>
        <p:blipFill>
          <a:blip r:embed="rId2"/>
          <a:stretch>
            <a:fillRect/>
          </a:stretch>
        </p:blipFill>
        <p:spPr>
          <a:xfrm>
            <a:off x="1028404" y="675167"/>
            <a:ext cx="9791406" cy="5507666"/>
          </a:xfrm>
          <a:prstGeom prst="rect">
            <a:avLst/>
          </a:prstGeom>
        </p:spPr>
      </p:pic>
    </p:spTree>
    <p:extLst>
      <p:ext uri="{BB962C8B-B14F-4D97-AF65-F5344CB8AC3E}">
        <p14:creationId xmlns:p14="http://schemas.microsoft.com/office/powerpoint/2010/main" val="2256729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Voyager 1's Pale Blue Dot - NASA Science">
            <a:extLst>
              <a:ext uri="{FF2B5EF4-FFF2-40B4-BE49-F238E27FC236}">
                <a16:creationId xmlns:a16="http://schemas.microsoft.com/office/drawing/2014/main" id="{19C7AB83-FC3A-AE3F-62CD-F0F8094CDCC5}"/>
              </a:ext>
            </a:extLst>
          </p:cNvPr>
          <p:cNvPicPr>
            <a:picLocks noChangeAspect="1"/>
          </p:cNvPicPr>
          <p:nvPr/>
        </p:nvPicPr>
        <p:blipFill>
          <a:blip r:embed="rId2"/>
          <a:stretch>
            <a:fillRect/>
          </a:stretch>
        </p:blipFill>
        <p:spPr>
          <a:xfrm>
            <a:off x="6096000" y="822619"/>
            <a:ext cx="5207231" cy="5151475"/>
          </a:xfrm>
          <a:prstGeom prst="rect">
            <a:avLst/>
          </a:prstGeom>
        </p:spPr>
      </p:pic>
      <p:sp>
        <p:nvSpPr>
          <p:cNvPr id="3" name="TextBox 2">
            <a:extLst>
              <a:ext uri="{FF2B5EF4-FFF2-40B4-BE49-F238E27FC236}">
                <a16:creationId xmlns:a16="http://schemas.microsoft.com/office/drawing/2014/main" id="{CBFE314C-B406-D84E-EEFD-6493C86F820A}"/>
              </a:ext>
            </a:extLst>
          </p:cNvPr>
          <p:cNvSpPr txBox="1"/>
          <p:nvPr/>
        </p:nvSpPr>
        <p:spPr>
          <a:xfrm>
            <a:off x="616690" y="637953"/>
            <a:ext cx="4901608" cy="4801314"/>
          </a:xfrm>
          <a:prstGeom prst="rect">
            <a:avLst/>
          </a:prstGeom>
          <a:noFill/>
        </p:spPr>
        <p:txBody>
          <a:bodyPr wrap="square" rtlCol="0">
            <a:spAutoFit/>
          </a:bodyPr>
          <a:lstStyle/>
          <a:p>
            <a:r>
              <a:rPr lang="en-US" b="1" u="sng" dirty="0"/>
              <a:t>The Pale Blue dot</a:t>
            </a:r>
          </a:p>
          <a:p>
            <a:endParaRPr lang="en-US" dirty="0"/>
          </a:p>
          <a:p>
            <a:r>
              <a:rPr lang="en-US" dirty="0"/>
              <a:t>“Look again at that dot. That's here. That's home. That's us. On it everyone you love, everyone you know, everyone you ever heard of, every human being who ever was, lived out their lives. The aggregate of our joy and suffering, thousands of confident religions, ideologies, and economic doctrines, every hunter and forager, every hero and coward, every creator and destroyer of civilization, every king and peasant, every young couple in love, every mother and father, hopeful child, inventor and explorer, every teacher of morals, every corrupt politician, every "superstar," every "supreme leader," every saint and sinner in the history of our species lived there-on a mote of dust suspended in a sunbeam.</a:t>
            </a:r>
          </a:p>
        </p:txBody>
      </p:sp>
    </p:spTree>
    <p:extLst>
      <p:ext uri="{BB962C8B-B14F-4D97-AF65-F5344CB8AC3E}">
        <p14:creationId xmlns:p14="http://schemas.microsoft.com/office/powerpoint/2010/main" val="3127569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464529-FE4E-ABC3-562B-6CB838687E2D}"/>
              </a:ext>
            </a:extLst>
          </p:cNvPr>
          <p:cNvPicPr>
            <a:picLocks noChangeAspect="1"/>
          </p:cNvPicPr>
          <p:nvPr/>
        </p:nvPicPr>
        <p:blipFill>
          <a:blip r:embed="rId2"/>
          <a:stretch>
            <a:fillRect/>
          </a:stretch>
        </p:blipFill>
        <p:spPr>
          <a:xfrm>
            <a:off x="1048634" y="778736"/>
            <a:ext cx="9520127" cy="5300528"/>
          </a:xfrm>
          <a:prstGeom prst="rect">
            <a:avLst/>
          </a:prstGeom>
        </p:spPr>
      </p:pic>
    </p:spTree>
    <p:extLst>
      <p:ext uri="{BB962C8B-B14F-4D97-AF65-F5344CB8AC3E}">
        <p14:creationId xmlns:p14="http://schemas.microsoft.com/office/powerpoint/2010/main" val="2197406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1A1B4B8-F8C1-4F18-A9E0-14D6E090AE32}"/>
              </a:ext>
            </a:extLst>
          </p:cNvPr>
          <p:cNvPicPr>
            <a:picLocks noChangeAspect="1"/>
          </p:cNvPicPr>
          <p:nvPr/>
        </p:nvPicPr>
        <p:blipFill>
          <a:blip r:embed="rId2"/>
          <a:stretch>
            <a:fillRect/>
          </a:stretch>
        </p:blipFill>
        <p:spPr>
          <a:xfrm>
            <a:off x="4776676" y="394456"/>
            <a:ext cx="5813351" cy="5813351"/>
          </a:xfrm>
          <a:prstGeom prst="rect">
            <a:avLst/>
          </a:prstGeom>
        </p:spPr>
      </p:pic>
      <p:sp>
        <p:nvSpPr>
          <p:cNvPr id="4" name="TextBox 3">
            <a:extLst>
              <a:ext uri="{FF2B5EF4-FFF2-40B4-BE49-F238E27FC236}">
                <a16:creationId xmlns:a16="http://schemas.microsoft.com/office/drawing/2014/main" id="{103A32EB-8D7B-8A56-722B-081B4E345482}"/>
              </a:ext>
            </a:extLst>
          </p:cNvPr>
          <p:cNvSpPr txBox="1"/>
          <p:nvPr/>
        </p:nvSpPr>
        <p:spPr>
          <a:xfrm>
            <a:off x="87719" y="1563762"/>
            <a:ext cx="4197202" cy="2123658"/>
          </a:xfrm>
          <a:prstGeom prst="rect">
            <a:avLst/>
          </a:prstGeom>
          <a:noFill/>
        </p:spPr>
        <p:txBody>
          <a:bodyPr wrap="square">
            <a:spAutoFit/>
          </a:bodyPr>
          <a:lstStyle/>
          <a:p>
            <a:r>
              <a:rPr lang="en-US" sz="2400" b="1" i="0" spc="-18" dirty="0">
                <a:solidFill>
                  <a:schemeClr val="tx1"/>
                </a:solidFill>
                <a:effectLst/>
                <a:latin typeface="+mn-lt"/>
              </a:rPr>
              <a:t>Local Interstellar Cloud (LIC)</a:t>
            </a:r>
          </a:p>
          <a:p>
            <a:r>
              <a:rPr lang="en-US" dirty="0"/>
              <a:t>Expected diameter of 300 light years</a:t>
            </a:r>
          </a:p>
          <a:p>
            <a:endParaRPr lang="en-US" dirty="0"/>
          </a:p>
          <a:p>
            <a:endParaRPr lang="en-US" dirty="0"/>
          </a:p>
          <a:p>
            <a:r>
              <a:rPr lang="en-US" dirty="0"/>
              <a:t>The existence of these sparsely dense gaseous regions can be attributed to 10–20 million old supernovae.</a:t>
            </a:r>
            <a:endParaRPr lang="en-US" sz="2400" b="1" spc="-18" dirty="0"/>
          </a:p>
        </p:txBody>
      </p:sp>
    </p:spTree>
    <p:extLst>
      <p:ext uri="{BB962C8B-B14F-4D97-AF65-F5344CB8AC3E}">
        <p14:creationId xmlns:p14="http://schemas.microsoft.com/office/powerpoint/2010/main" val="7812835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890287E-1D97-45EF-A956-20F4696E619A}"/>
              </a:ext>
            </a:extLst>
          </p:cNvPr>
          <p:cNvPicPr>
            <a:picLocks noChangeAspect="1"/>
          </p:cNvPicPr>
          <p:nvPr/>
        </p:nvPicPr>
        <p:blipFill>
          <a:blip r:embed="rId2"/>
          <a:stretch>
            <a:fillRect/>
          </a:stretch>
        </p:blipFill>
        <p:spPr>
          <a:xfrm>
            <a:off x="5159449" y="346887"/>
            <a:ext cx="6164226" cy="6164226"/>
          </a:xfrm>
          <a:prstGeom prst="rect">
            <a:avLst/>
          </a:prstGeom>
        </p:spPr>
      </p:pic>
      <p:sp>
        <p:nvSpPr>
          <p:cNvPr id="4" name="TextBox 3">
            <a:extLst>
              <a:ext uri="{FF2B5EF4-FFF2-40B4-BE49-F238E27FC236}">
                <a16:creationId xmlns:a16="http://schemas.microsoft.com/office/drawing/2014/main" id="{4FE0364D-A804-FE71-665D-4E69F4803A42}"/>
              </a:ext>
            </a:extLst>
          </p:cNvPr>
          <p:cNvSpPr txBox="1"/>
          <p:nvPr/>
        </p:nvSpPr>
        <p:spPr>
          <a:xfrm>
            <a:off x="130249" y="2158133"/>
            <a:ext cx="4643770" cy="2308324"/>
          </a:xfrm>
          <a:prstGeom prst="rect">
            <a:avLst/>
          </a:prstGeom>
          <a:noFill/>
        </p:spPr>
        <p:txBody>
          <a:bodyPr wrap="square">
            <a:spAutoFit/>
          </a:bodyPr>
          <a:lstStyle/>
          <a:p>
            <a:r>
              <a:rPr lang="en-US" dirty="0"/>
              <a:t>Orion–Cygnus Arm: </a:t>
            </a:r>
            <a:r>
              <a:rPr lang="en-US" sz="1800" b="0" i="0" spc="-18" dirty="0">
                <a:solidFill>
                  <a:schemeClr val="tx1"/>
                </a:solidFill>
                <a:effectLst/>
                <a:latin typeface="+mn-lt"/>
              </a:rPr>
              <a:t>3,500 light-years across and 10,000 light-years in length</a:t>
            </a:r>
          </a:p>
          <a:p>
            <a:endParaRPr lang="en-US" sz="1800" b="0" i="0" spc="-18" dirty="0">
              <a:solidFill>
                <a:schemeClr val="tx1"/>
              </a:solidFill>
              <a:effectLst/>
              <a:latin typeface="+mn-lt"/>
            </a:endParaRPr>
          </a:p>
          <a:p>
            <a:r>
              <a:rPr lang="en-US" dirty="0"/>
              <a:t>It is estimated the galaxy contains between 100 and 400 billion stars, spanning 100,000 light-years across</a:t>
            </a:r>
          </a:p>
          <a:p>
            <a:endParaRPr lang="en-US" sz="1800" b="0" i="0" spc="-18" dirty="0">
              <a:solidFill>
                <a:schemeClr val="tx1"/>
              </a:solidFill>
              <a:effectLst/>
              <a:latin typeface="+mn-lt"/>
            </a:endParaRPr>
          </a:p>
          <a:p>
            <a:endParaRPr lang="en-US" dirty="0"/>
          </a:p>
        </p:txBody>
      </p:sp>
    </p:spTree>
    <p:extLst>
      <p:ext uri="{BB962C8B-B14F-4D97-AF65-F5344CB8AC3E}">
        <p14:creationId xmlns:p14="http://schemas.microsoft.com/office/powerpoint/2010/main" val="716602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CC3266-7A03-1573-8DBB-532EFCB87140}"/>
              </a:ext>
            </a:extLst>
          </p:cNvPr>
          <p:cNvPicPr>
            <a:picLocks noChangeAspect="1"/>
          </p:cNvPicPr>
          <p:nvPr/>
        </p:nvPicPr>
        <p:blipFill>
          <a:blip r:embed="rId2"/>
          <a:stretch>
            <a:fillRect/>
          </a:stretch>
        </p:blipFill>
        <p:spPr>
          <a:xfrm>
            <a:off x="4255682" y="185120"/>
            <a:ext cx="6185491" cy="6185491"/>
          </a:xfrm>
          <a:prstGeom prst="rect">
            <a:avLst/>
          </a:prstGeom>
        </p:spPr>
      </p:pic>
      <p:sp>
        <p:nvSpPr>
          <p:cNvPr id="4" name="TextBox 3">
            <a:extLst>
              <a:ext uri="{FF2B5EF4-FFF2-40B4-BE49-F238E27FC236}">
                <a16:creationId xmlns:a16="http://schemas.microsoft.com/office/drawing/2014/main" id="{63B7F14B-3A5E-6887-F23F-E96F3B3A7392}"/>
              </a:ext>
            </a:extLst>
          </p:cNvPr>
          <p:cNvSpPr txBox="1"/>
          <p:nvPr/>
        </p:nvSpPr>
        <p:spPr>
          <a:xfrm>
            <a:off x="470490" y="1523540"/>
            <a:ext cx="2974459" cy="1754326"/>
          </a:xfrm>
          <a:prstGeom prst="rect">
            <a:avLst/>
          </a:prstGeom>
          <a:noFill/>
        </p:spPr>
        <p:txBody>
          <a:bodyPr wrap="square">
            <a:spAutoFit/>
          </a:bodyPr>
          <a:lstStyle/>
          <a:p>
            <a:r>
              <a:rPr lang="en-US" sz="1800" b="0" i="0" spc="-18" dirty="0">
                <a:solidFill>
                  <a:schemeClr val="tx1"/>
                </a:solidFill>
                <a:effectLst/>
                <a:latin typeface="+mn-lt"/>
              </a:rPr>
              <a:t>Milky Way is just one of an estimated </a:t>
            </a:r>
            <a:r>
              <a:rPr lang="en-US" sz="1800" b="0" i="0" u="none" strike="noStrike" spc="-18" dirty="0">
                <a:solidFill>
                  <a:schemeClr val="tx1"/>
                </a:solidFill>
                <a:effectLst/>
                <a:latin typeface="+mn-lt"/>
                <a:hlinkClick r:id="rId3"/>
              </a:rPr>
              <a:t>30–50</a:t>
            </a:r>
            <a:r>
              <a:rPr lang="en-US" sz="1800" b="0" i="0" spc="-18" dirty="0">
                <a:solidFill>
                  <a:schemeClr val="tx1"/>
                </a:solidFill>
                <a:effectLst/>
                <a:latin typeface="+mn-lt"/>
              </a:rPr>
              <a:t> galaxies located in the Local Galactic Group. It spans approximately </a:t>
            </a:r>
            <a:r>
              <a:rPr lang="en-US" sz="1800" b="0" i="0" u="none" strike="noStrike" spc="-18" dirty="0">
                <a:solidFill>
                  <a:schemeClr val="tx1"/>
                </a:solidFill>
                <a:effectLst/>
                <a:latin typeface="+mn-lt"/>
                <a:hlinkClick r:id="rId4"/>
              </a:rPr>
              <a:t>10 million light years</a:t>
            </a:r>
            <a:r>
              <a:rPr lang="en-US" sz="1800" b="0" i="0" spc="-18" dirty="0">
                <a:solidFill>
                  <a:schemeClr val="tx1"/>
                </a:solidFill>
                <a:effectLst/>
                <a:latin typeface="+mn-lt"/>
              </a:rPr>
              <a:t> in diameter</a:t>
            </a:r>
            <a:endParaRPr lang="en-US" dirty="0"/>
          </a:p>
        </p:txBody>
      </p:sp>
    </p:spTree>
    <p:extLst>
      <p:ext uri="{BB962C8B-B14F-4D97-AF65-F5344CB8AC3E}">
        <p14:creationId xmlns:p14="http://schemas.microsoft.com/office/powerpoint/2010/main" val="4020319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D7262D-6D36-FFFE-A683-98339E76918D}"/>
              </a:ext>
            </a:extLst>
          </p:cNvPr>
          <p:cNvPicPr>
            <a:picLocks noChangeAspect="1"/>
          </p:cNvPicPr>
          <p:nvPr/>
        </p:nvPicPr>
        <p:blipFill>
          <a:blip r:embed="rId2"/>
          <a:stretch>
            <a:fillRect/>
          </a:stretch>
        </p:blipFill>
        <p:spPr>
          <a:xfrm>
            <a:off x="3301417" y="784151"/>
            <a:ext cx="7543792" cy="5521113"/>
          </a:xfrm>
          <a:prstGeom prst="rect">
            <a:avLst/>
          </a:prstGeom>
        </p:spPr>
      </p:pic>
      <p:sp>
        <p:nvSpPr>
          <p:cNvPr id="4" name="TextBox 3">
            <a:extLst>
              <a:ext uri="{FF2B5EF4-FFF2-40B4-BE49-F238E27FC236}">
                <a16:creationId xmlns:a16="http://schemas.microsoft.com/office/drawing/2014/main" id="{476DEB16-C21E-6A42-74FF-E03D0A159D0B}"/>
              </a:ext>
            </a:extLst>
          </p:cNvPr>
          <p:cNvSpPr txBox="1"/>
          <p:nvPr/>
        </p:nvSpPr>
        <p:spPr>
          <a:xfrm>
            <a:off x="108984" y="2172126"/>
            <a:ext cx="2793704" cy="1754326"/>
          </a:xfrm>
          <a:prstGeom prst="rect">
            <a:avLst/>
          </a:prstGeom>
          <a:noFill/>
        </p:spPr>
        <p:txBody>
          <a:bodyPr wrap="square">
            <a:spAutoFit/>
          </a:bodyPr>
          <a:lstStyle/>
          <a:p>
            <a:r>
              <a:rPr lang="en-US" sz="1800" b="0" i="0" spc="-18" dirty="0">
                <a:solidFill>
                  <a:schemeClr val="tx1"/>
                </a:solidFill>
                <a:effectLst/>
                <a:latin typeface="+mn-lt"/>
              </a:rPr>
              <a:t>This Super</a:t>
            </a:r>
            <a:r>
              <a:rPr lang="en-US" spc="-18" dirty="0"/>
              <a:t> </a:t>
            </a:r>
            <a:r>
              <a:rPr lang="en-US" sz="1800" b="0" i="0" spc="-18" dirty="0">
                <a:solidFill>
                  <a:schemeClr val="tx1"/>
                </a:solidFill>
                <a:effectLst/>
                <a:latin typeface="+mn-lt"/>
              </a:rPr>
              <a:t>cluster is </a:t>
            </a:r>
            <a:r>
              <a:rPr lang="en-US" sz="1800" b="0" i="0" u="none" strike="noStrike" spc="-18" dirty="0">
                <a:solidFill>
                  <a:schemeClr val="tx1"/>
                </a:solidFill>
                <a:effectLst/>
                <a:latin typeface="+mn-lt"/>
                <a:hlinkClick r:id="rId3"/>
              </a:rPr>
              <a:t>520 million light-years wide,</a:t>
            </a:r>
            <a:r>
              <a:rPr lang="en-US" sz="1800" b="0" i="0" spc="-18" dirty="0">
                <a:solidFill>
                  <a:schemeClr val="tx1"/>
                </a:solidFill>
                <a:effectLst/>
                <a:latin typeface="+mn-lt"/>
              </a:rPr>
              <a:t> composed of about 300–500 smaller clusters, amounting to 100,000 galaxies</a:t>
            </a:r>
            <a:endParaRPr lang="en-US" dirty="0"/>
          </a:p>
        </p:txBody>
      </p:sp>
    </p:spTree>
    <p:extLst>
      <p:ext uri="{BB962C8B-B14F-4D97-AF65-F5344CB8AC3E}">
        <p14:creationId xmlns:p14="http://schemas.microsoft.com/office/powerpoint/2010/main" val="1011670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om the 8 planets in our Solar System to millions of superclusters spread across the observable universe, the cosmos is far bigger than we can truly imagine. Every star you see is just a tiny piece ...">
            <a:extLst>
              <a:ext uri="{FF2B5EF4-FFF2-40B4-BE49-F238E27FC236}">
                <a16:creationId xmlns:a16="http://schemas.microsoft.com/office/drawing/2014/main" id="{F7D0F9C2-8C21-175D-6721-DCE96462A7EF}"/>
              </a:ext>
            </a:extLst>
          </p:cNvPr>
          <p:cNvPicPr>
            <a:picLocks noChangeAspect="1"/>
          </p:cNvPicPr>
          <p:nvPr/>
        </p:nvPicPr>
        <p:blipFill>
          <a:blip r:embed="rId2"/>
          <a:stretch>
            <a:fillRect/>
          </a:stretch>
        </p:blipFill>
        <p:spPr>
          <a:xfrm>
            <a:off x="776177" y="1196819"/>
            <a:ext cx="2785729" cy="4970942"/>
          </a:xfrm>
          <a:prstGeom prst="rect">
            <a:avLst/>
          </a:prstGeom>
        </p:spPr>
      </p:pic>
      <p:pic>
        <p:nvPicPr>
          <p:cNvPr id="3" name="Picture 2" descr="Cmb-in-a-sphere">
            <a:extLst>
              <a:ext uri="{FF2B5EF4-FFF2-40B4-BE49-F238E27FC236}">
                <a16:creationId xmlns:a16="http://schemas.microsoft.com/office/drawing/2014/main" id="{9136B639-ED59-6F2A-7246-310EFF7CBEB4}"/>
              </a:ext>
            </a:extLst>
          </p:cNvPr>
          <p:cNvPicPr>
            <a:picLocks noChangeAspect="1"/>
          </p:cNvPicPr>
          <p:nvPr/>
        </p:nvPicPr>
        <p:blipFill>
          <a:blip r:embed="rId3"/>
          <a:stretch>
            <a:fillRect/>
          </a:stretch>
        </p:blipFill>
        <p:spPr>
          <a:xfrm>
            <a:off x="5382140" y="1196819"/>
            <a:ext cx="5003800" cy="5003800"/>
          </a:xfrm>
          <a:prstGeom prst="rect">
            <a:avLst/>
          </a:prstGeom>
        </p:spPr>
      </p:pic>
      <p:sp>
        <p:nvSpPr>
          <p:cNvPr id="4" name="TextBox 3">
            <a:extLst>
              <a:ext uri="{FF2B5EF4-FFF2-40B4-BE49-F238E27FC236}">
                <a16:creationId xmlns:a16="http://schemas.microsoft.com/office/drawing/2014/main" id="{ED64F057-536E-75BB-AA94-C98F350CE9C1}"/>
              </a:ext>
            </a:extLst>
          </p:cNvPr>
          <p:cNvSpPr txBox="1"/>
          <p:nvPr/>
        </p:nvSpPr>
        <p:spPr>
          <a:xfrm>
            <a:off x="3657599" y="382772"/>
            <a:ext cx="2173352" cy="369332"/>
          </a:xfrm>
          <a:prstGeom prst="rect">
            <a:avLst/>
          </a:prstGeom>
          <a:noFill/>
        </p:spPr>
        <p:txBody>
          <a:bodyPr wrap="none" rtlCol="0">
            <a:spAutoFit/>
          </a:bodyPr>
          <a:lstStyle/>
          <a:p>
            <a:r>
              <a:rPr lang="en-US" dirty="0"/>
              <a:t>Observable Universe </a:t>
            </a:r>
          </a:p>
        </p:txBody>
      </p:sp>
    </p:spTree>
    <p:extLst>
      <p:ext uri="{BB962C8B-B14F-4D97-AF65-F5344CB8AC3E}">
        <p14:creationId xmlns:p14="http://schemas.microsoft.com/office/powerpoint/2010/main" val="29955270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ircles Of Latitude And Longitude">
            <a:extLst>
              <a:ext uri="{FF2B5EF4-FFF2-40B4-BE49-F238E27FC236}">
                <a16:creationId xmlns:a16="http://schemas.microsoft.com/office/drawing/2014/main" id="{22D6AEB0-B8E2-E82A-FDBB-850E5436E948}"/>
              </a:ext>
            </a:extLst>
          </p:cNvPr>
          <p:cNvPicPr>
            <a:picLocks noChangeAspect="1"/>
          </p:cNvPicPr>
          <p:nvPr/>
        </p:nvPicPr>
        <p:blipFill>
          <a:blip r:embed="rId2"/>
          <a:stretch>
            <a:fillRect/>
          </a:stretch>
        </p:blipFill>
        <p:spPr>
          <a:xfrm>
            <a:off x="1843968" y="858579"/>
            <a:ext cx="7772400" cy="4718089"/>
          </a:xfrm>
          <a:prstGeom prst="rect">
            <a:avLst/>
          </a:prstGeom>
        </p:spPr>
      </p:pic>
    </p:spTree>
    <p:extLst>
      <p:ext uri="{BB962C8B-B14F-4D97-AF65-F5344CB8AC3E}">
        <p14:creationId xmlns:p14="http://schemas.microsoft.com/office/powerpoint/2010/main" val="2963952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et of 2 globes compares the First day of northern summer, June 20, to the First day of northern winter December 21. ">
            <a:extLst>
              <a:ext uri="{FF2B5EF4-FFF2-40B4-BE49-F238E27FC236}">
                <a16:creationId xmlns:a16="http://schemas.microsoft.com/office/drawing/2014/main" id="{8BFEC89B-B0D4-5304-6727-E8749F96E6B1}"/>
              </a:ext>
            </a:extLst>
          </p:cNvPr>
          <p:cNvPicPr>
            <a:picLocks noChangeAspect="1"/>
          </p:cNvPicPr>
          <p:nvPr/>
        </p:nvPicPr>
        <p:blipFill>
          <a:blip r:embed="rId2"/>
          <a:stretch>
            <a:fillRect/>
          </a:stretch>
        </p:blipFill>
        <p:spPr>
          <a:xfrm>
            <a:off x="2401484" y="894273"/>
            <a:ext cx="7378700" cy="5092700"/>
          </a:xfrm>
          <a:prstGeom prst="rect">
            <a:avLst/>
          </a:prstGeom>
        </p:spPr>
      </p:pic>
    </p:spTree>
    <p:extLst>
      <p:ext uri="{BB962C8B-B14F-4D97-AF65-F5344CB8AC3E}">
        <p14:creationId xmlns:p14="http://schemas.microsoft.com/office/powerpoint/2010/main" val="4255610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ime lapse photography shows 24 hours of the rising and setting of the Sun, which is visible at midnight due to a high latitude position, 66.5 degrees or greater.">
            <a:extLst>
              <a:ext uri="{FF2B5EF4-FFF2-40B4-BE49-F238E27FC236}">
                <a16:creationId xmlns:a16="http://schemas.microsoft.com/office/drawing/2014/main" id="{9E87D876-7C6E-7C43-2F63-E83EEE5E0A7F}"/>
              </a:ext>
            </a:extLst>
          </p:cNvPr>
          <p:cNvPicPr>
            <a:picLocks noChangeAspect="1"/>
          </p:cNvPicPr>
          <p:nvPr/>
        </p:nvPicPr>
        <p:blipFill>
          <a:blip r:embed="rId2"/>
          <a:stretch>
            <a:fillRect/>
          </a:stretch>
        </p:blipFill>
        <p:spPr>
          <a:xfrm>
            <a:off x="1929541" y="1249167"/>
            <a:ext cx="7772400" cy="799590"/>
          </a:xfrm>
          <a:prstGeom prst="rect">
            <a:avLst/>
          </a:prstGeom>
        </p:spPr>
      </p:pic>
      <p:pic>
        <p:nvPicPr>
          <p:cNvPr id="3" name="Picture 2" descr="A diagram comparing the moving reference point of the Earth's rotational axis to that of a spinning top.">
            <a:extLst>
              <a:ext uri="{FF2B5EF4-FFF2-40B4-BE49-F238E27FC236}">
                <a16:creationId xmlns:a16="http://schemas.microsoft.com/office/drawing/2014/main" id="{78347DBC-9A71-6B79-E64F-67560574C936}"/>
              </a:ext>
            </a:extLst>
          </p:cNvPr>
          <p:cNvPicPr>
            <a:picLocks noChangeAspect="1"/>
          </p:cNvPicPr>
          <p:nvPr/>
        </p:nvPicPr>
        <p:blipFill>
          <a:blip r:embed="rId3"/>
          <a:stretch>
            <a:fillRect/>
          </a:stretch>
        </p:blipFill>
        <p:spPr>
          <a:xfrm>
            <a:off x="2316999" y="2342289"/>
            <a:ext cx="2679700" cy="3746500"/>
          </a:xfrm>
          <a:prstGeom prst="rect">
            <a:avLst/>
          </a:prstGeom>
        </p:spPr>
      </p:pic>
      <p:pic>
        <p:nvPicPr>
          <p:cNvPr id="4" name="Picture 3" descr="The zodiac constellations have a circle representing the Earth's rotational axis rotating in a circle centered on the north ecliptic pole, signified by a plus symbol near the Draco constellation.">
            <a:extLst>
              <a:ext uri="{FF2B5EF4-FFF2-40B4-BE49-F238E27FC236}">
                <a16:creationId xmlns:a16="http://schemas.microsoft.com/office/drawing/2014/main" id="{7F606C09-205E-D5B3-4D91-5CEB69C4EE5F}"/>
              </a:ext>
            </a:extLst>
          </p:cNvPr>
          <p:cNvPicPr>
            <a:picLocks noChangeAspect="1"/>
          </p:cNvPicPr>
          <p:nvPr/>
        </p:nvPicPr>
        <p:blipFill>
          <a:blip r:embed="rId4"/>
          <a:stretch>
            <a:fillRect/>
          </a:stretch>
        </p:blipFill>
        <p:spPr>
          <a:xfrm>
            <a:off x="6122261" y="2646227"/>
            <a:ext cx="2921000" cy="3340100"/>
          </a:xfrm>
          <a:prstGeom prst="rect">
            <a:avLst/>
          </a:prstGeom>
        </p:spPr>
      </p:pic>
      <p:sp>
        <p:nvSpPr>
          <p:cNvPr id="6" name="TextBox 5">
            <a:extLst>
              <a:ext uri="{FF2B5EF4-FFF2-40B4-BE49-F238E27FC236}">
                <a16:creationId xmlns:a16="http://schemas.microsoft.com/office/drawing/2014/main" id="{5EBCD1BD-00D9-66C8-E219-2AC6C61482E8}"/>
              </a:ext>
            </a:extLst>
          </p:cNvPr>
          <p:cNvSpPr txBox="1"/>
          <p:nvPr/>
        </p:nvSpPr>
        <p:spPr>
          <a:xfrm>
            <a:off x="6517252" y="2276895"/>
            <a:ext cx="2131017" cy="369332"/>
          </a:xfrm>
          <a:prstGeom prst="rect">
            <a:avLst/>
          </a:prstGeom>
          <a:noFill/>
        </p:spPr>
        <p:txBody>
          <a:bodyPr wrap="square">
            <a:spAutoFit/>
          </a:bodyPr>
          <a:lstStyle/>
          <a:p>
            <a:r>
              <a:rPr lang="en-US" sz="1800" b="0" i="0" u="none" strike="noStrike" dirty="0">
                <a:solidFill>
                  <a:schemeClr val="tx1"/>
                </a:solidFill>
                <a:effectLst/>
                <a:latin typeface="+mn-lt"/>
              </a:rPr>
              <a:t>26,000-year wobble</a:t>
            </a:r>
            <a:endParaRPr lang="en-US" dirty="0"/>
          </a:p>
        </p:txBody>
      </p:sp>
    </p:spTree>
    <p:extLst>
      <p:ext uri="{BB962C8B-B14F-4D97-AF65-F5344CB8AC3E}">
        <p14:creationId xmlns:p14="http://schemas.microsoft.com/office/powerpoint/2010/main" val="1091771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n infographic showing the appearance of the zodiac constellations as the Earth orbits around the Sun. ">
            <a:extLst>
              <a:ext uri="{FF2B5EF4-FFF2-40B4-BE49-F238E27FC236}">
                <a16:creationId xmlns:a16="http://schemas.microsoft.com/office/drawing/2014/main" id="{87A44132-7C77-51CF-8225-1814F6785804}"/>
              </a:ext>
            </a:extLst>
          </p:cNvPr>
          <p:cNvPicPr>
            <a:picLocks noChangeAspect="1"/>
          </p:cNvPicPr>
          <p:nvPr/>
        </p:nvPicPr>
        <p:blipFill>
          <a:blip r:embed="rId2"/>
          <a:stretch>
            <a:fillRect/>
          </a:stretch>
        </p:blipFill>
        <p:spPr>
          <a:xfrm>
            <a:off x="2990526" y="1917699"/>
            <a:ext cx="5479297" cy="3683821"/>
          </a:xfrm>
          <a:prstGeom prst="rect">
            <a:avLst/>
          </a:prstGeom>
        </p:spPr>
      </p:pic>
    </p:spTree>
    <p:extLst>
      <p:ext uri="{BB962C8B-B14F-4D97-AF65-F5344CB8AC3E}">
        <p14:creationId xmlns:p14="http://schemas.microsoft.com/office/powerpoint/2010/main" val="21379850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constellationbirthday">
            <a:extLst>
              <a:ext uri="{FF2B5EF4-FFF2-40B4-BE49-F238E27FC236}">
                <a16:creationId xmlns:a16="http://schemas.microsoft.com/office/drawing/2014/main" id="{F4FCB7C9-8CF3-E9F3-160C-47C9F59382F9}"/>
              </a:ext>
            </a:extLst>
          </p:cNvPr>
          <p:cNvPicPr>
            <a:picLocks noChangeAspect="1"/>
          </p:cNvPicPr>
          <p:nvPr/>
        </p:nvPicPr>
        <p:blipFill>
          <a:blip r:embed="rId2"/>
          <a:stretch>
            <a:fillRect/>
          </a:stretch>
        </p:blipFill>
        <p:spPr>
          <a:xfrm>
            <a:off x="208419" y="1019044"/>
            <a:ext cx="5742868" cy="4607056"/>
          </a:xfrm>
          <a:prstGeom prst="rect">
            <a:avLst/>
          </a:prstGeom>
        </p:spPr>
      </p:pic>
      <p:pic>
        <p:nvPicPr>
          <p:cNvPr id="3" name="Picture 2" descr="Zodiacconstellationsdiagram">
            <a:extLst>
              <a:ext uri="{FF2B5EF4-FFF2-40B4-BE49-F238E27FC236}">
                <a16:creationId xmlns:a16="http://schemas.microsoft.com/office/drawing/2014/main" id="{5712BE84-D363-827D-C8DB-AF300FD14BFF}"/>
              </a:ext>
            </a:extLst>
          </p:cNvPr>
          <p:cNvPicPr>
            <a:picLocks noChangeAspect="1"/>
          </p:cNvPicPr>
          <p:nvPr/>
        </p:nvPicPr>
        <p:blipFill>
          <a:blip r:embed="rId3"/>
          <a:stretch>
            <a:fillRect/>
          </a:stretch>
        </p:blipFill>
        <p:spPr>
          <a:xfrm>
            <a:off x="6096000" y="1784350"/>
            <a:ext cx="5715000" cy="3289300"/>
          </a:xfrm>
          <a:prstGeom prst="rect">
            <a:avLst/>
          </a:prstGeom>
        </p:spPr>
      </p:pic>
    </p:spTree>
    <p:extLst>
      <p:ext uri="{BB962C8B-B14F-4D97-AF65-F5344CB8AC3E}">
        <p14:creationId xmlns:p14="http://schemas.microsoft.com/office/powerpoint/2010/main" val="4682899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6DFAD1B-1642-0EAF-10AB-C912357382AD}"/>
              </a:ext>
            </a:extLst>
          </p:cNvPr>
          <p:cNvPicPr>
            <a:picLocks noChangeAspect="1"/>
          </p:cNvPicPr>
          <p:nvPr/>
        </p:nvPicPr>
        <p:blipFill>
          <a:blip r:embed="rId2"/>
          <a:stretch>
            <a:fillRect/>
          </a:stretch>
        </p:blipFill>
        <p:spPr>
          <a:xfrm>
            <a:off x="865632" y="1114278"/>
            <a:ext cx="4206240" cy="4311396"/>
          </a:xfrm>
          <a:prstGeom prst="rect">
            <a:avLst/>
          </a:prstGeom>
        </p:spPr>
      </p:pic>
      <p:pic>
        <p:nvPicPr>
          <p:cNvPr id="3" name="Picture 2">
            <a:extLst>
              <a:ext uri="{FF2B5EF4-FFF2-40B4-BE49-F238E27FC236}">
                <a16:creationId xmlns:a16="http://schemas.microsoft.com/office/drawing/2014/main" id="{6011A357-0271-485B-3763-A49210820F39}"/>
              </a:ext>
            </a:extLst>
          </p:cNvPr>
          <p:cNvPicPr>
            <a:picLocks noChangeAspect="1"/>
          </p:cNvPicPr>
          <p:nvPr/>
        </p:nvPicPr>
        <p:blipFill>
          <a:blip r:embed="rId3"/>
          <a:stretch>
            <a:fillRect/>
          </a:stretch>
        </p:blipFill>
        <p:spPr>
          <a:xfrm>
            <a:off x="5961959" y="1273302"/>
            <a:ext cx="5364409" cy="4311396"/>
          </a:xfrm>
          <a:prstGeom prst="rect">
            <a:avLst/>
          </a:prstGeom>
        </p:spPr>
      </p:pic>
    </p:spTree>
    <p:extLst>
      <p:ext uri="{BB962C8B-B14F-4D97-AF65-F5344CB8AC3E}">
        <p14:creationId xmlns:p14="http://schemas.microsoft.com/office/powerpoint/2010/main" val="4239395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0207E0D-0322-07C7-8A0B-50CF641DDB7E}"/>
              </a:ext>
            </a:extLst>
          </p:cNvPr>
          <p:cNvPicPr>
            <a:picLocks noChangeAspect="1"/>
          </p:cNvPicPr>
          <p:nvPr/>
        </p:nvPicPr>
        <p:blipFill>
          <a:blip r:embed="rId2"/>
          <a:stretch>
            <a:fillRect/>
          </a:stretch>
        </p:blipFill>
        <p:spPr>
          <a:xfrm>
            <a:off x="2629408" y="659494"/>
            <a:ext cx="6933184" cy="5539011"/>
          </a:xfrm>
          <a:prstGeom prst="rect">
            <a:avLst/>
          </a:prstGeom>
        </p:spPr>
      </p:pic>
    </p:spTree>
    <p:extLst>
      <p:ext uri="{BB962C8B-B14F-4D97-AF65-F5344CB8AC3E}">
        <p14:creationId xmlns:p14="http://schemas.microsoft.com/office/powerpoint/2010/main" val="8463404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5AE1CAB-BE9C-4223-5BA3-A83173295D45}"/>
              </a:ext>
            </a:extLst>
          </p:cNvPr>
          <p:cNvPicPr>
            <a:picLocks noChangeAspect="1"/>
          </p:cNvPicPr>
          <p:nvPr/>
        </p:nvPicPr>
        <p:blipFill>
          <a:blip r:embed="rId2"/>
          <a:stretch>
            <a:fillRect/>
          </a:stretch>
        </p:blipFill>
        <p:spPr>
          <a:xfrm>
            <a:off x="2125472" y="1276604"/>
            <a:ext cx="8224080" cy="4304792"/>
          </a:xfrm>
          <a:prstGeom prst="rect">
            <a:avLst/>
          </a:prstGeom>
        </p:spPr>
      </p:pic>
    </p:spTree>
    <p:extLst>
      <p:ext uri="{BB962C8B-B14F-4D97-AF65-F5344CB8AC3E}">
        <p14:creationId xmlns:p14="http://schemas.microsoft.com/office/powerpoint/2010/main" val="103791091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825c952f-1947-4719-99e7-7bc5a76060a8}" enabled="1" method="Standard" siteId="{4e2c6054-71cb-48f1-bd6c-3a9705aca71b}" contentBits="3" removed="0"/>
</clbl:labelList>
</file>

<file path=docProps/app.xml><?xml version="1.0" encoding="utf-8"?>
<Properties xmlns="http://schemas.openxmlformats.org/officeDocument/2006/extended-properties" xmlns:vt="http://schemas.openxmlformats.org/officeDocument/2006/docPropsVTypes">
  <TotalTime>1735</TotalTime>
  <Words>1087</Words>
  <Application>Microsoft Macintosh PowerPoint</Application>
  <DocSecurity>0</DocSecurity>
  <PresentationFormat>Widescreen</PresentationFormat>
  <Paragraphs>170</Paragraphs>
  <Slides>27</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Aptos</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Sheetal Prasad</cp:lastModifiedBy>
  <cp:revision>2</cp:revision>
  <dcterms:created xsi:type="dcterms:W3CDTF">2026-09-05T17:27:56Z</dcterms:created>
  <dcterms:modified xsi:type="dcterms:W3CDTF">2026-09-07T03:22:54Z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ChatGPT:5</vt:lpwstr>
  </property>
  <property fmtid="{D5CDD505-2E9C-101B-9397-08002B2CF9AE}" pid="3" name="ClassificationContentMarkingFooterText">
    <vt:lpwstr>Confidential - Oracle Restricted \Employees Only</vt:lpwstr>
  </property>
  <property fmtid="{D5CDD505-2E9C-101B-9397-08002B2CF9AE}" pid="4" name="ClassificationContentMarkingHeaderLocations">
    <vt:lpwstr>ChatGPT:4</vt:lpwstr>
  </property>
  <property fmtid="{D5CDD505-2E9C-101B-9397-08002B2CF9AE}" pid="5" name="ClassificationContentMarkingHeaderText">
    <vt:lpwstr>Confidential - Oracle Restricted \Employees Only</vt:lpwstr>
  </property>
</Properties>
</file>