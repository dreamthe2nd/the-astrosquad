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01" d="100"/>
          <a:sy n="101" d="100"/>
        </p:scale>
        <p:origin x="119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Relative brightness</c:v>
          </c:tx>
          <c:spPr>
            <a:ln w="28575">
              <a:solidFill>
                <a:srgbClr val="197C83"/>
              </a:solidFill>
            </a:ln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-90</c:v>
                </c:pt>
                <c:pt idx="1">
                  <c:v>-60</c:v>
                </c:pt>
                <c:pt idx="2">
                  <c:v>-30</c:v>
                </c:pt>
                <c:pt idx="3">
                  <c:v>0</c:v>
                </c:pt>
                <c:pt idx="4">
                  <c:v>30</c:v>
                </c:pt>
                <c:pt idx="5">
                  <c:v>60</c:v>
                </c:pt>
                <c:pt idx="6">
                  <c:v>90</c:v>
                </c:pt>
                <c:pt idx="7">
                  <c:v>120</c:v>
                </c:pt>
                <c:pt idx="8">
                  <c:v>150</c:v>
                </c:pt>
              </c:numCache>
            </c:numRef>
          </c:cat>
          <c:val>
            <c:numRef>
              <c:f>'Chart Data'!$B$2:$B$10</c:f>
              <c:numCache>
                <c:formatCode>0.000</c:formatCode>
                <c:ptCount val="9"/>
                <c:pt idx="0">
                  <c:v>1.002</c:v>
                </c:pt>
                <c:pt idx="1">
                  <c:v>1.0009999999999999</c:v>
                </c:pt>
                <c:pt idx="2">
                  <c:v>1</c:v>
                </c:pt>
                <c:pt idx="3">
                  <c:v>0.98799999999999999</c:v>
                </c:pt>
                <c:pt idx="4">
                  <c:v>0.98199999999999998</c:v>
                </c:pt>
                <c:pt idx="5">
                  <c:v>0.98199999999999998</c:v>
                </c:pt>
                <c:pt idx="6">
                  <c:v>0.98799999999999999</c:v>
                </c:pt>
                <c:pt idx="7">
                  <c:v>1</c:v>
                </c:pt>
                <c:pt idx="8">
                  <c:v>1.0009999999999999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67D-5E4D-9914-D0B312852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ptos"/>
                    <a:ea typeface="Aptos"/>
                    <a:cs typeface="Aptos"/>
                  </a:rPr>
                  <a:t>Minutes from predicted mid-transit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0049999999999999"/>
          <c:min val="0.97499999999999998"/>
        </c:scaling>
        <c:delete val="0"/>
        <c:axPos val="l"/>
        <c:title>
          <c:tx>
            <c:rich>
              <a:bodyPr/>
              <a:lstStyle/>
              <a:p>
                <a:r>
                  <a:rPr lang="en-US">
                    <a:latin typeface="Aptos"/>
                    <a:ea typeface="Aptos"/>
                    <a:cs typeface="Aptos"/>
                  </a:rPr>
                  <a:t>Relative brightness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Generated educational visual created with the built-in image generation tool. NASA Exoplanet Watch and NASA Exoplanet Archive informed the observing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NASA Exoplanet Watch recommends observing from about one hour before transit, through the full transit, and about one hour after transit.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Chart uses illustrative values to show the expected shape. Students should replace it with their measured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Schedule assumes a March 2027 science fair and U.S. school-year 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Possible software choices include NASA Exoplanet Watch EXOTIC and AstroImageJ. Keep software choice consistent once final analysis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NASA Exoplanet Watch offers sample and archival datasets, plus EXOTIC for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as a checklist in February and early March.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NASA Exoplanet Watch, NASA Exoplanet Archive Transit and Ephemeris Service, and AAVSO observing manuals.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39F913-CCED-ED99-1CD6-A602885B0FA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890C4-7AEF-6D79-8989-DF9A60B30E9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345558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8397A5-30F4-4AAD-A731-8F91728A4A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06085A-4F67-4705-92A4-BBE6ADF2516D}"/>
              </a:ext>
            </a:extLst>
          </p:cNvPr>
          <p:cNvSpPr>
            <a:spLocks noGrp="1"/>
          </p:cNvSpPr>
          <p:nvPr/>
        </p:nvSpPr>
        <p:spPr>
          <a:xfrm>
            <a:off x="647699" y="914400"/>
            <a:ext cx="7783919" cy="128654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 lnSpcReduction="20000"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3600" dirty="0">
                <a:solidFill>
                  <a:srgbClr val="FFFFFF"/>
                </a:solidFill>
                <a:latin typeface="Aptos"/>
              </a:rPr>
              <a:t>Catching a Shadow: Detecting a Known Exoplanet Transit with Backyard Photometry</a:t>
            </a:r>
          </a:p>
          <a:p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36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AAA173-EA40-4B6F-8A39-5FD311F2E64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810250" cy="1450458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DDE8EF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DDE8EF"/>
                </a:solidFill>
                <a:latin typeface="Aptos"/>
                <a:ea typeface="Aptos"/>
                <a:cs typeface="Aptos"/>
              </a:rPr>
              <a:t>Science fair project plan, September 2026 to March 2027</a:t>
            </a:r>
            <a:br>
              <a:rPr lang="en-US" sz="1650" b="0" dirty="0">
                <a:solidFill>
                  <a:srgbClr val="DDE8EF"/>
                </a:solidFill>
                <a:latin typeface="Aptos"/>
                <a:ea typeface="Aptos"/>
                <a:cs typeface="Aptos"/>
              </a:rPr>
            </a:br>
            <a:endParaRPr lang="en-US" sz="1650" b="0" dirty="0">
              <a:solidFill>
                <a:srgbClr val="DDE8EF"/>
              </a:solidFill>
              <a:latin typeface="Aptos"/>
              <a:ea typeface="Aptos"/>
              <a:cs typeface="Aptos"/>
            </a:endParaRPr>
          </a:p>
          <a:p>
            <a:pPr>
              <a:defRPr sz="1650" b="0">
                <a:solidFill>
                  <a:srgbClr val="DDE8EF"/>
                </a:solidFill>
                <a:latin typeface="Aptos"/>
                <a:ea typeface="Aptos"/>
                <a:cs typeface="Aptos"/>
              </a:defRPr>
            </a:pPr>
            <a:r>
              <a:rPr lang="en-US" sz="1650" b="0" dirty="0">
                <a:solidFill>
                  <a:srgbClr val="DDE8EF"/>
                </a:solidFill>
                <a:latin typeface="Aptos"/>
                <a:ea typeface="Aptos"/>
                <a:cs typeface="Aptos"/>
              </a:rPr>
              <a:t>Shlok Jain</a:t>
            </a:r>
          </a:p>
          <a:p>
            <a:pPr>
              <a:defRPr sz="1650" b="0">
                <a:solidFill>
                  <a:srgbClr val="DDE8EF"/>
                </a:solidFill>
                <a:latin typeface="Aptos"/>
                <a:ea typeface="Aptos"/>
                <a:cs typeface="Aptos"/>
              </a:defRPr>
            </a:pPr>
            <a:r>
              <a:rPr lang="en-US" sz="1650" dirty="0">
                <a:solidFill>
                  <a:srgbClr val="DDE8EF"/>
                </a:solidFill>
                <a:latin typeface="Aptos"/>
                <a:ea typeface="Aptos"/>
                <a:cs typeface="Aptos"/>
              </a:rPr>
              <a:t>Keya Atre</a:t>
            </a:r>
          </a:p>
          <a:p>
            <a:pPr>
              <a:defRPr sz="1650" b="0">
                <a:solidFill>
                  <a:srgbClr val="DDE8EF"/>
                </a:solidFill>
                <a:latin typeface="Aptos"/>
                <a:ea typeface="Aptos"/>
                <a:cs typeface="Aptos"/>
              </a:defRPr>
            </a:pPr>
            <a:r>
              <a:rPr lang="en-US" sz="1650" b="0" dirty="0">
                <a:solidFill>
                  <a:srgbClr val="DDE8EF"/>
                </a:solidFill>
                <a:latin typeface="Aptos"/>
                <a:ea typeface="Aptos"/>
                <a:cs typeface="Aptos"/>
              </a:rPr>
              <a:t>Anushka Prasad</a:t>
            </a:r>
            <a:endParaRPr sz="1650" b="0" dirty="0">
              <a:solidFill>
                <a:srgbClr val="DDE8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4F16A-2887-44F5-9FCA-E5F889D2E2D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7"/>
          </a:bodyPr>
          <a:lstStyle/>
          <a:p>
            <a:pPr>
              <a:defRPr sz="1350" b="0">
                <a:solidFill>
                  <a:srgbClr val="F2C1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C16D"/>
                </a:solidFill>
                <a:latin typeface="Aptos"/>
                <a:ea typeface="Aptos"/>
                <a:cs typeface="Aptos"/>
              </a:rPr>
              <a:t>Team goal: measure a known planet crossing in front of its star</a:t>
            </a:r>
          </a:p>
        </p:txBody>
      </p:sp>
    </p:spTree>
    <p:extLst>
      <p:ext uri="{BB962C8B-B14F-4D97-AF65-F5344CB8AC3E}">
        <p14:creationId xmlns:p14="http://schemas.microsoft.com/office/powerpoint/2010/main" val="804059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6F97DFE-A38D-4235-94FC-C051589E4C6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Project agenda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62B42-5647-4DD3-A74F-DEE940C25BF7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How the team moves from astronomy basics to a fair-ready light curve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CA7B9C-EF3A-470D-B690-B727A24E4BB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C0CDF5-79F2-4F82-91AF-03D16D72B9B3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B7495-2115-4CFB-AF5C-03A2488064B3}"/>
              </a:ext>
            </a:extLst>
          </p:cNvPr>
          <p:cNvSpPr>
            <a:spLocks noGrp="1"/>
          </p:cNvSpPr>
          <p:nvPr/>
        </p:nvSpPr>
        <p:spPr>
          <a:xfrm>
            <a:off x="1104900" y="1809750"/>
            <a:ext cx="9601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Learn the transit method and the equipment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8CF548-FC04-46BD-8130-B0AAB8248DBE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76F4E0-3B8E-423C-8137-C5D6E93A86CF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9601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Practice calibration and differential photometry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14F31C-EC47-4EE3-852A-B92307029CF7}"/>
              </a:ext>
            </a:extLst>
          </p:cNvPr>
          <p:cNvSpPr>
            <a:spLocks noGrp="1"/>
          </p:cNvSpPr>
          <p:nvPr/>
        </p:nvSpPr>
        <p:spPr>
          <a:xfrm>
            <a:off x="895350" y="270510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A1CB48-8899-4E25-95C5-955B7AD30BAE}"/>
              </a:ext>
            </a:extLst>
          </p:cNvPr>
          <p:cNvSpPr>
            <a:spLocks noGrp="1"/>
          </p:cNvSpPr>
          <p:nvPr/>
        </p:nvSpPr>
        <p:spPr>
          <a:xfrm>
            <a:off x="1104900" y="2609850"/>
            <a:ext cx="9601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Observe one or more predicted transits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B0B20E-EB8A-4B95-8D66-8CE2F33C077D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B3493C-0101-4C5C-8A7B-85D3FDDCF575}"/>
              </a:ext>
            </a:extLst>
          </p:cNvPr>
          <p:cNvSpPr>
            <a:spLocks noGrp="1"/>
          </p:cNvSpPr>
          <p:nvPr/>
        </p:nvSpPr>
        <p:spPr>
          <a:xfrm>
            <a:off x="1104900" y="3009900"/>
            <a:ext cx="9601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Analyze the light curve and compare it with predictions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A180E3-BAC8-4748-A776-8A29C9310AFD}"/>
              </a:ext>
            </a:extLst>
          </p:cNvPr>
          <p:cNvSpPr>
            <a:spLocks noGrp="1"/>
          </p:cNvSpPr>
          <p:nvPr/>
        </p:nvSpPr>
        <p:spPr>
          <a:xfrm>
            <a:off x="895350" y="350520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5E5BC-770C-4025-B689-FD5A2491CFED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9601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Build the science fair board and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A2EBE4-D46B-455D-A1AC-E2CDBF07103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Exoplanet transit photometry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76A1F1-A7AF-48BB-BFD0-4051BCFCA478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20000"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12126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B219084-3780-4C02-8760-A3DD5B8B6C2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75BC19-2503-4560-A3C7-22FD2FC9FB29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A focused question keeps the project measurable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B3A54-1383-4F24-8114-D576AB524AAA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C03C1E-3C48-4DCA-981B-BA7222FE4705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6DFFC1-F2A2-490A-9F63-1120A46FF4A5}"/>
              </a:ext>
            </a:extLst>
          </p:cNvPr>
          <p:cNvSpPr>
            <a:spLocks noGrp="1"/>
          </p:cNvSpPr>
          <p:nvPr/>
        </p:nvSpPr>
        <p:spPr>
          <a:xfrm>
            <a:off x="1104900" y="1809750"/>
            <a:ext cx="9601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Can amateur telescope photometry detect the dimming caused by a known exoplanet transit?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85E53F-D8C3-417A-820D-8F7BEB45F98E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54FA7-2ED4-4740-ADE2-8FD283A7C96C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9601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Hypothesis: the target star will dim during the predicted transit window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879E71-AEA3-4378-B9D2-C0AFF32A05B0}"/>
              </a:ext>
            </a:extLst>
          </p:cNvPr>
          <p:cNvSpPr>
            <a:spLocks noGrp="1"/>
          </p:cNvSpPr>
          <p:nvPr/>
        </p:nvSpPr>
        <p:spPr>
          <a:xfrm>
            <a:off x="895350" y="270510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0C1F05-0261-4D24-AC2E-451B15B1C66A}"/>
              </a:ext>
            </a:extLst>
          </p:cNvPr>
          <p:cNvSpPr>
            <a:spLocks noGrp="1"/>
          </p:cNvSpPr>
          <p:nvPr/>
        </p:nvSpPr>
        <p:spPr>
          <a:xfrm>
            <a:off x="1104900" y="2609850"/>
            <a:ext cx="9601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Measured result: relative brightness of the target star over time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5117FB-D178-4B8B-B727-5E8C7414C81F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BA7C8D-4E08-4BCF-88AC-B5DFC9BC5900}"/>
              </a:ext>
            </a:extLst>
          </p:cNvPr>
          <p:cNvSpPr>
            <a:spLocks noGrp="1"/>
          </p:cNvSpPr>
          <p:nvPr/>
        </p:nvSpPr>
        <p:spPr>
          <a:xfrm>
            <a:off x="1104900" y="3009900"/>
            <a:ext cx="9601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Success criterion: a light curve dip near the expected time and depth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D9DB94-BE31-42C3-88BA-4DB8ABB5F89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Exoplanet transit photometry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E84975-9C1F-488E-8FC3-3829CE79A364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20000"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537791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03637-3473-43EB-AEC9-64BA01A542A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Observation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6F59-61A0-4D5D-9ABB-4C9D66FAD57C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team records a time series before, during and after one predicted transit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1CDD4E-0C02-4038-AA9E-27A72300678B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9666" r="9666"/>
          <a:stretch>
            <a:fillRect/>
          </a:stretch>
        </p:blipFill>
        <p:spPr>
          <a:xfrm>
            <a:off x="6762750" y="1638300"/>
            <a:ext cx="4095750" cy="2857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16AC89-1192-45C8-B0AC-B632AFF82EEF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76200" cy="323850"/>
          </a:xfrm>
          <a:prstGeom prst="rect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F4A0B3-09EA-474E-859D-CF930003D23F}"/>
              </a:ext>
            </a:extLst>
          </p:cNvPr>
          <p:cNvSpPr>
            <a:spLocks noGrp="1"/>
          </p:cNvSpPr>
          <p:nvPr/>
        </p:nvSpPr>
        <p:spPr>
          <a:xfrm>
            <a:off x="1009650" y="1800225"/>
            <a:ext cx="4476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11" lnSpcReduction="10000"/>
          </a:bodyPr>
          <a:lstStyle/>
          <a:p>
            <a:pPr>
              <a:defRPr sz="180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What students collect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50C15F-02C7-4639-AB0C-8A2D9A541E65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1D7321-803D-4BE0-8315-73AD64361CD8}"/>
              </a:ext>
            </a:extLst>
          </p:cNvPr>
          <p:cNvSpPr>
            <a:spLocks noGrp="1"/>
          </p:cNvSpPr>
          <p:nvPr/>
        </p:nvSpPr>
        <p:spPr>
          <a:xfrm>
            <a:off x="1257300" y="238125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Raw images every 30 to 90 seconds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51E0FD-E297-4DA2-9427-435BB9A7A348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99FCB1-FB38-486B-8495-D405C6200CE4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Calibration frames: darks, flats and bias if used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F2BBCB-DB0C-483F-8F80-8284A1479D66}"/>
              </a:ext>
            </a:extLst>
          </p:cNvPr>
          <p:cNvSpPr>
            <a:spLocks noGrp="1"/>
          </p:cNvSpPr>
          <p:nvPr/>
        </p:nvSpPr>
        <p:spPr>
          <a:xfrm>
            <a:off x="1047750" y="327660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74954D-C6E6-48DB-A45E-9BAD68AA1CA0}"/>
              </a:ext>
            </a:extLst>
          </p:cNvPr>
          <p:cNvSpPr>
            <a:spLocks noGrp="1"/>
          </p:cNvSpPr>
          <p:nvPr/>
        </p:nvSpPr>
        <p:spPr>
          <a:xfrm>
            <a:off x="1257300" y="318135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A log of focus, exposure, weather and timing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E75E5C-A907-43A3-96FA-647BC33154B9}"/>
              </a:ext>
            </a:extLst>
          </p:cNvPr>
          <p:cNvSpPr>
            <a:spLocks noGrp="1"/>
          </p:cNvSpPr>
          <p:nvPr/>
        </p:nvSpPr>
        <p:spPr>
          <a:xfrm>
            <a:off x="1047750" y="36766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379295-450B-42BB-BB1B-249111516E33}"/>
              </a:ext>
            </a:extLst>
          </p:cNvPr>
          <p:cNvSpPr>
            <a:spLocks noGrp="1"/>
          </p:cNvSpPr>
          <p:nvPr/>
        </p:nvSpPr>
        <p:spPr>
          <a:xfrm>
            <a:off x="1257300" y="35814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Comparison stars in the same field of 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985189-463C-4EF6-A82F-BAD10C14896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Exoplanet transit photometry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52B8DF-A242-401D-B6E8-6B9B0FF175B8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20000"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182413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20C652-511A-4B67-AFD3-0536F37CC8E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Expected light curve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47C9E7-FE7A-4B91-BCAD-457CDDD2FA87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main evidence is a small brightness dip at the predicted 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89F3D-407A-4359-8148-25E4E28B40F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Chart"/>
          <p:cNvGraphicFramePr/>
          <p:nvPr/>
        </p:nvGraphicFramePr>
        <p:xfrm>
          <a:off x="1066800" y="1847850"/>
          <a:ext cx="685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938D73DA-3DEC-4966-AD5B-ED9C329FC600}"/>
              </a:ext>
            </a:extLst>
          </p:cNvPr>
          <p:cNvSpPr>
            <a:spLocks noGrp="1"/>
          </p:cNvSpPr>
          <p:nvPr/>
        </p:nvSpPr>
        <p:spPr>
          <a:xfrm>
            <a:off x="8572500" y="2190750"/>
            <a:ext cx="85725" cy="85725"/>
          </a:xfrm>
          <a:prstGeom prst="ellipse">
            <a:avLst/>
          </a:prstGeom>
          <a:solidFill>
            <a:srgbClr val="D894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CE9379-1163-4314-950F-A07C2C3B3D8D}"/>
              </a:ext>
            </a:extLst>
          </p:cNvPr>
          <p:cNvSpPr>
            <a:spLocks noGrp="1"/>
          </p:cNvSpPr>
          <p:nvPr/>
        </p:nvSpPr>
        <p:spPr>
          <a:xfrm>
            <a:off x="8782050" y="2095500"/>
            <a:ext cx="23622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The dip may be less than 1% for some targets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65B7DF-D0B7-4391-A610-908409645999}"/>
              </a:ext>
            </a:extLst>
          </p:cNvPr>
          <p:cNvSpPr>
            <a:spLocks noGrp="1"/>
          </p:cNvSpPr>
          <p:nvPr/>
        </p:nvSpPr>
        <p:spPr>
          <a:xfrm>
            <a:off x="8572500" y="2705100"/>
            <a:ext cx="85725" cy="85725"/>
          </a:xfrm>
          <a:prstGeom prst="ellipse">
            <a:avLst/>
          </a:prstGeom>
          <a:solidFill>
            <a:srgbClr val="D894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35BB44-165A-4A26-B85E-B1E55809F651}"/>
              </a:ext>
            </a:extLst>
          </p:cNvPr>
          <p:cNvSpPr>
            <a:spLocks noGrp="1"/>
          </p:cNvSpPr>
          <p:nvPr/>
        </p:nvSpPr>
        <p:spPr>
          <a:xfrm>
            <a:off x="8782050" y="2609850"/>
            <a:ext cx="23622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058"/>
          </a:bodyPr>
          <a:lstStyle/>
          <a:p>
            <a:pPr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Comparison stars remove clouds and transparency changes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1A489A-B623-4B0A-BA99-C0AFBB67374D}"/>
              </a:ext>
            </a:extLst>
          </p:cNvPr>
          <p:cNvSpPr>
            <a:spLocks noGrp="1"/>
          </p:cNvSpPr>
          <p:nvPr/>
        </p:nvSpPr>
        <p:spPr>
          <a:xfrm>
            <a:off x="8572500" y="3219450"/>
            <a:ext cx="85725" cy="85725"/>
          </a:xfrm>
          <a:prstGeom prst="ellipse">
            <a:avLst/>
          </a:prstGeom>
          <a:solidFill>
            <a:srgbClr val="D894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3900D5-4799-4131-AC66-3EDB260A2258}"/>
              </a:ext>
            </a:extLst>
          </p:cNvPr>
          <p:cNvSpPr>
            <a:spLocks noGrp="1"/>
          </p:cNvSpPr>
          <p:nvPr/>
        </p:nvSpPr>
        <p:spPr>
          <a:xfrm>
            <a:off x="8782050" y="3124200"/>
            <a:ext cx="23622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>
              <a:defRPr sz="13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A clean result includes error bars or scatter discussion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E699EA-50D7-42FA-9AFE-3C2F733B26D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Exoplanet transit photometry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270924-E279-4AD6-81C7-B9634A9A9641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20000"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63853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6BC694-42A4-49F8-A08C-834C63C9BA3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Project calendar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5DC77-353C-42A1-A07E-2770CBC7563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March success depends on easy practice targets before the first real transit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EBC76-3203-4297-A4E4-4960F4825506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9"/>
          <p:cNvGraphicFramePr/>
          <p:nvPr/>
        </p:nvGraphicFramePr>
        <p:xfrm>
          <a:off x="685800" y="1714500"/>
          <a:ext cx="10820400" cy="3905248"/>
        </p:xfrm>
        <a:graphic>
          <a:graphicData uri="http://schemas.openxmlformats.org/drawingml/2006/table">
            <a:tbl>
              <a:tblPr firstRow="1" bandRow="1"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Month</a:t>
                      </a:r>
                    </a:p>
                  </a:txBody>
                  <a:tcPr>
                    <a:solidFill>
                      <a:srgbClr val="197C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Student learning</a:t>
                      </a:r>
                    </a:p>
                  </a:txBody>
                  <a:tcPr>
                    <a:solidFill>
                      <a:srgbClr val="197C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Project milestone</a:t>
                      </a:r>
                    </a:p>
                  </a:txBody>
                  <a:tcPr>
                    <a:solidFill>
                      <a:srgbClr val="197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Transit method, light curves, telescope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Roles assigned and practice data template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Oct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Focus, guiding, calibration frames, comparison stars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Steady-star practice light curve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Target planning with transit prediction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First full transit attempt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Dec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Noise sources, timing checks, troubleshooting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Quality review and revised observing plan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Repeat observations and final dataset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One strong light curve 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Feb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Graphs, uncertainty and judge questions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Board draft and oral practice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Final polish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Fair presentation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BA4341D-BC78-48FA-97A6-8AA56C72CC5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Exoplanet transit photometry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8D8AC8-2DAA-40D5-A5E7-2AF68C1F7764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20000"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134743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11E5D14-3044-40B8-8800-BF8E464EB44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Analysis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A54196-43FF-4E26-B333-BC99BCDF678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Raw images become a light curve through calibration and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C64FC6-434A-4ABF-8CE6-5326A3C881A9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AE9C91-B73C-4F2A-9A8B-18CF388B9167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85725" cy="85725"/>
          </a:xfrm>
          <a:prstGeom prst="ellipse">
            <a:avLst/>
          </a:prstGeom>
          <a:solidFill>
            <a:srgbClr val="B84A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F739DF-41DA-44AA-AC97-6F93B18368E0}"/>
              </a:ext>
            </a:extLst>
          </p:cNvPr>
          <p:cNvSpPr>
            <a:spLocks noGrp="1"/>
          </p:cNvSpPr>
          <p:nvPr/>
        </p:nvSpPr>
        <p:spPr>
          <a:xfrm>
            <a:off x="1085850" y="1790700"/>
            <a:ext cx="58864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Calibrate images to reduce sensor and optical artifacts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3C047F-C299-4F40-BAD6-57B5E66DA45B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85725" cy="85725"/>
          </a:xfrm>
          <a:prstGeom prst="ellipse">
            <a:avLst/>
          </a:prstGeom>
          <a:solidFill>
            <a:srgbClr val="B84A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E5067A-133C-4892-8879-6021BC2E63BB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58864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Measure the target star and several comparison stars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F17EB0-8232-477F-8673-9DDC7CD10D4F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85725" cy="85725"/>
          </a:xfrm>
          <a:prstGeom prst="ellipse">
            <a:avLst/>
          </a:prstGeom>
          <a:solidFill>
            <a:srgbClr val="B84A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2755EA-58E4-4277-B455-B97E3F80C9DD}"/>
              </a:ext>
            </a:extLst>
          </p:cNvPr>
          <p:cNvSpPr>
            <a:spLocks noGrp="1"/>
          </p:cNvSpPr>
          <p:nvPr/>
        </p:nvSpPr>
        <p:spPr>
          <a:xfrm>
            <a:off x="1085850" y="2743200"/>
            <a:ext cx="58864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Calculate relative brightness for each image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4456DD6-30E7-485B-9E2B-683CA4CA82CE}"/>
              </a:ext>
            </a:extLst>
          </p:cNvPr>
          <p:cNvSpPr>
            <a:spLocks noGrp="1"/>
          </p:cNvSpPr>
          <p:nvPr/>
        </p:nvSpPr>
        <p:spPr>
          <a:xfrm>
            <a:off x="876300" y="3314700"/>
            <a:ext cx="85725" cy="85725"/>
          </a:xfrm>
          <a:prstGeom prst="ellipse">
            <a:avLst/>
          </a:prstGeom>
          <a:solidFill>
            <a:srgbClr val="B84A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233CC6-D754-4E5D-8BF7-176B83418ED7}"/>
              </a:ext>
            </a:extLst>
          </p:cNvPr>
          <p:cNvSpPr>
            <a:spLocks noGrp="1"/>
          </p:cNvSpPr>
          <p:nvPr/>
        </p:nvSpPr>
        <p:spPr>
          <a:xfrm>
            <a:off x="1085850" y="3219450"/>
            <a:ext cx="58864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Plot brightness against time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FADAE1-3007-44CC-A215-4F30C78428B8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85725" cy="85725"/>
          </a:xfrm>
          <a:prstGeom prst="ellipse">
            <a:avLst/>
          </a:prstGeom>
          <a:solidFill>
            <a:srgbClr val="B84A3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868DA2-C4FC-4748-B7F5-6B9A026B3E53}"/>
              </a:ext>
            </a:extLst>
          </p:cNvPr>
          <p:cNvSpPr>
            <a:spLocks noGrp="1"/>
          </p:cNvSpPr>
          <p:nvPr/>
        </p:nvSpPr>
        <p:spPr>
          <a:xfrm>
            <a:off x="1085850" y="3695700"/>
            <a:ext cx="58864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Compare observed timing, depth and duration with a prediction</a:t>
            </a:r>
          </a:p>
        </p:txBody>
      </p:sp>
      <p:graphicFrame>
        <p:nvGraphicFramePr>
          <p:cNvPr id="30" name="Table 29"/>
          <p:cNvGraphicFramePr/>
          <p:nvPr/>
        </p:nvGraphicFramePr>
        <p:xfrm>
          <a:off x="7477125" y="1962150"/>
          <a:ext cx="3619500" cy="2762250"/>
        </p:xfrm>
        <a:graphic>
          <a:graphicData uri="http://schemas.openxmlformats.org/drawingml/2006/table">
            <a:tbl>
              <a:tblPr firstRow="1" band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</a:t>
                      </a:r>
                    </a:p>
                  </a:txBody>
                  <a:tcPr>
                    <a:solidFill>
                      <a:srgbClr val="B84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Output</a:t>
                      </a:r>
                    </a:p>
                  </a:txBody>
                  <a:tcPr>
                    <a:solidFill>
                      <a:srgbClr val="B84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Raw image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Calibrated image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Target star counts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Instrumental brightness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Comparison star 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Relative brightness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Observation timestamps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Light curve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7F0CDF9-E4FD-4B39-B908-E9B17D340E3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Exoplanet transit photometry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515012-D7C9-4D27-9419-A152AAAE35A5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20000"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1376661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329A277-FA14-4155-B238-2FA3C863819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Risks and backup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37AD7-8141-4B72-BF98-427C3D4560C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team should treat failed observing nights as part of the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D381D-635A-4C36-9B4C-5396897E1864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13"/>
          <p:cNvGraphicFramePr/>
          <p:nvPr/>
        </p:nvGraphicFramePr>
        <p:xfrm>
          <a:off x="990600" y="1771650"/>
          <a:ext cx="9906000" cy="3238500"/>
        </p:xfrm>
        <a:graphic>
          <a:graphicData uri="http://schemas.openxmlformats.org/drawingml/2006/table">
            <a:tbl>
              <a:tblPr firstRow="1" bandRow="1"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Risk</a:t>
                      </a:r>
                    </a:p>
                  </a:txBody>
                  <a:tcPr>
                    <a:solidFill>
                      <a:srgbClr val="6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Mitigation</a:t>
                      </a:r>
                    </a:p>
                  </a:txBody>
                  <a:tcPr>
                    <a:solidFill>
                      <a:srgbClr val="6E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Clouds or poor seeing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Plan several transit nights and use archival data if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Saturated stars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Shorten exposure and test the sensor linear range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Field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Use guiding and keep the same comparison stars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Weak transit signal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Choose a bright star with a deep, well-timed transit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Timing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Sync the computer clock before observing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A3CCC097-C81B-41AF-B7EA-65844A133E5F}"/>
              </a:ext>
            </a:extLst>
          </p:cNvPr>
          <p:cNvSpPr>
            <a:spLocks noGrp="1"/>
          </p:cNvSpPr>
          <p:nvPr/>
        </p:nvSpPr>
        <p:spPr>
          <a:xfrm>
            <a:off x="1219200" y="5429250"/>
            <a:ext cx="85725" cy="85725"/>
          </a:xfrm>
          <a:prstGeom prst="ellipse">
            <a:avLst/>
          </a:prstGeom>
          <a:solidFill>
            <a:srgbClr val="6E5A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8B8568-2645-445D-907D-60F4F9C10C54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8839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Backup data can support learning, but label it clearly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95EAA5-8D84-4876-A362-67F9371F7283}"/>
              </a:ext>
            </a:extLst>
          </p:cNvPr>
          <p:cNvSpPr>
            <a:spLocks noGrp="1"/>
          </p:cNvSpPr>
          <p:nvPr/>
        </p:nvSpPr>
        <p:spPr>
          <a:xfrm>
            <a:off x="1219200" y="5829300"/>
            <a:ext cx="85725" cy="85725"/>
          </a:xfrm>
          <a:prstGeom prst="ellipse">
            <a:avLst/>
          </a:prstGeom>
          <a:solidFill>
            <a:srgbClr val="6E5A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D08DAD-B227-48FD-9552-661C7E0A2DF9}"/>
              </a:ext>
            </a:extLst>
          </p:cNvPr>
          <p:cNvSpPr>
            <a:spLocks noGrp="1"/>
          </p:cNvSpPr>
          <p:nvPr/>
        </p:nvSpPr>
        <p:spPr>
          <a:xfrm>
            <a:off x="1428750" y="5734050"/>
            <a:ext cx="88392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The observing notebook should include problems and fixes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0B337-EBC5-4501-9814-DFE88FE4E17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Exoplanet transit photometry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AFD295-65C2-46D4-BC0B-20CB9158C5D8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20000"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137680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B82327D-C10C-4570-B9F2-BACB76227BB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Science fair deliverables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19C44E-A17D-48E9-AE27-89EF345DB29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The final board should show what students measured and how they checked 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F0A34-DDD6-4F49-A882-FC79FBF7DD83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634C76-1572-4D79-BFB2-4DA89F702EAE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DF537-87C9-425A-B206-1111F3781787}"/>
              </a:ext>
            </a:extLst>
          </p:cNvPr>
          <p:cNvSpPr>
            <a:spLocks noGrp="1"/>
          </p:cNvSpPr>
          <p:nvPr/>
        </p:nvSpPr>
        <p:spPr>
          <a:xfrm>
            <a:off x="1085850" y="1790700"/>
            <a:ext cx="9505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Research question, hypothesis and variables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56A862-9A07-4F6D-B2C2-50659A8AF23D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28798-D1A6-4098-94A4-DE919E51204D}"/>
              </a:ext>
            </a:extLst>
          </p:cNvPr>
          <p:cNvSpPr>
            <a:spLocks noGrp="1"/>
          </p:cNvSpPr>
          <p:nvPr/>
        </p:nvSpPr>
        <p:spPr>
          <a:xfrm>
            <a:off x="1085850" y="2247900"/>
            <a:ext cx="9505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Equipment diagram or setup photo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2E9B77-C6D8-48F6-BA09-5B5529266C3E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25E47C-CB03-4CC1-8282-5EFA7616B52D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9505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Observation log and target selection notes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A25769-E206-400C-9085-2DB4DD3ADEF0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CEB7AB-DF27-4EFB-A064-DEFD2FAD1A70}"/>
              </a:ext>
            </a:extLst>
          </p:cNvPr>
          <p:cNvSpPr>
            <a:spLocks noGrp="1"/>
          </p:cNvSpPr>
          <p:nvPr/>
        </p:nvSpPr>
        <p:spPr>
          <a:xfrm>
            <a:off x="1085850" y="3162300"/>
            <a:ext cx="9505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Final light curve with labeled transit window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F1EDB1-6692-4A2D-A7B3-BAB66D67CEAB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52F2A8-5E38-4767-B7A1-AC4A06C35D0C}"/>
              </a:ext>
            </a:extLst>
          </p:cNvPr>
          <p:cNvSpPr>
            <a:spLocks noGrp="1"/>
          </p:cNvSpPr>
          <p:nvPr/>
        </p:nvSpPr>
        <p:spPr>
          <a:xfrm>
            <a:off x="1085850" y="3619500"/>
            <a:ext cx="9505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Comparison with predicted transit time and depth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FD7DE7-5B4C-4275-BB58-A5CC022908ED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85725" cy="85725"/>
          </a:xfrm>
          <a:prstGeom prst="ellipse">
            <a:avLst/>
          </a:prstGeom>
          <a:solidFill>
            <a:srgbClr val="197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0DB1DD-B298-41EE-9334-6E0930858F28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9505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Conclusion with uncertainty and next steps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15ADB9-E987-412A-AD97-A059D5D3C7B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Exoplanet transit photometry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E947DE-64BC-4FED-8874-9D0E770F07CB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20000"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689539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D9E1D5-100B-4EFB-BA56-90CF5235A5D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8191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6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Starter resources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4095F2-DF7D-4B4C-9586-F63DEC0AA5A3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Use these tools for planning, learning and backup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33A115-7805-4266-BD78-03E06EAC8419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ect">
            <a:avLst/>
          </a:prstGeom>
          <a:solidFill>
            <a:srgbClr val="D9DE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1123950" y="1885950"/>
          <a:ext cx="9944100" cy="2714625"/>
        </p:xfrm>
        <a:graphic>
          <a:graphicData uri="http://schemas.openxmlformats.org/drawingml/2006/table">
            <a:tbl>
              <a:tblPr firstRow="1" bandRow="1"/>
              <a:tblGrid>
                <a:gridCol w="497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Resource</a:t>
                      </a:r>
                    </a:p>
                  </a:txBody>
                  <a:tcPr>
                    <a:solidFill>
                      <a:srgbClr val="0F4D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Use</a:t>
                      </a:r>
                    </a:p>
                  </a:txBody>
                  <a:tcPr>
                    <a:solidFill>
                      <a:srgbClr val="0F4D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NASA Exoplanet 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Observer manual, EXOTIC software and community 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NASA Exoplanet Archive Transit Service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Transit predictions for a location and date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AAVSO CCD/CMOS photometry guide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Photometry practices and calibration concepts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AstroImageJ or EXOTIC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Aptos"/>
                          <a:ea typeface="Aptos"/>
                          <a:cs typeface="Aptos"/>
                        </a:rPr>
                        <a:t>Light curve extraction and model fitting</a:t>
                      </a:r>
                    </a:p>
                  </a:txBody>
                  <a:tcPr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5207EDB-F967-4C18-B2EC-B8B3B062487A}"/>
              </a:ext>
            </a:extLst>
          </p:cNvPr>
          <p:cNvSpPr>
            <a:spLocks noGrp="1"/>
          </p:cNvSpPr>
          <p:nvPr/>
        </p:nvSpPr>
        <p:spPr>
          <a:xfrm>
            <a:off x="1200150" y="5000625"/>
            <a:ext cx="9525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Notes for mentors: pick targets by brightness, transit depth, altitude, Moon separation and full-event visibility.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F3C76A-EFD0-4FE2-AD70-3C89CAD9FE4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Exoplanet transit photometry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557C46-F741-4FE2-87F6-9772B8F6103F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500" lnSpcReduction="20000"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200842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4BAC2-37B4-E89B-25D3-8D27EAB47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988" y="1241714"/>
            <a:ext cx="7772400" cy="437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331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12565</TotalTime>
  <Words>829</Words>
  <Application>Microsoft Macintosh PowerPoint</Application>
  <DocSecurity>0</DocSecurity>
  <PresentationFormat>Widescreen</PresentationFormat>
  <Paragraphs>139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Sheetal Prasad</cp:lastModifiedBy>
  <cp:revision>2</cp:revision>
  <dcterms:created xsi:type="dcterms:W3CDTF">2026-09-05T17:27:51Z</dcterms:created>
  <dcterms:modified xsi:type="dcterms:W3CDTF">2026-09-14T11:19:25Z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ChatGPT:4</vt:lpwstr>
  </property>
  <property fmtid="{D5CDD505-2E9C-101B-9397-08002B2CF9AE}" pid="5" name="ClassificationContentMarkingHeaderText">
    <vt:lpwstr>Confidential - Oracle Restricted \Employees Only</vt:lpwstr>
  </property>
</Properties>
</file>