
<file path=[Content_Types].xml><?xml version="1.0" encoding="utf-8"?>
<Types xmlns="http://schemas.openxmlformats.org/package/2006/content-types">
  <Default ContentType="image/jpeg" Extension="jpg"/>
  <Default ContentType="application/vnd.openxmlformats-officedocument.spreadsheetml.sheet" Extension="xlsx"/>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hbz/ClDeZEPeoyjWFA2jtzLE7D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BF7910-BCFD-4065-84D1-09E3E94EE249}">
  <a:tblStyle styleId="{01BF7910-BCFD-4065-84D1-09E3E94EE24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Galaxies</c:v>
          </c:tx>
          <c:marker>
            <c:symbol val="diamond"/>
            <c:size val="7"/>
            <c:spPr>
              <a:solidFill>
                <a:srgbClr val="B84A3A"/>
              </a:solidFill>
            </c:spPr>
          </c:marker>
          <c:xVal>
            <c:numRef>
              <c:f>'Chart Data'!$A$2:$A$9</c:f>
              <c:numCache>
                <c:formatCode>General</c:formatCode>
                <c:ptCount val="8"/>
                <c:pt idx="0">
                  <c:v>14</c:v>
                </c:pt>
                <c:pt idx="1">
                  <c:v>18</c:v>
                </c:pt>
                <c:pt idx="2">
                  <c:v>21</c:v>
                </c:pt>
                <c:pt idx="3">
                  <c:v>35</c:v>
                </c:pt>
                <c:pt idx="4">
                  <c:v>42</c:v>
                </c:pt>
                <c:pt idx="5">
                  <c:v>55</c:v>
                </c:pt>
                <c:pt idx="6">
                  <c:v>68</c:v>
                </c:pt>
                <c:pt idx="7">
                  <c:v>82</c:v>
                </c:pt>
              </c:numCache>
            </c:numRef>
          </c:xVal>
          <c:yVal>
            <c:numRef>
              <c:f>'Chart Data'!$B$2:$B$9</c:f>
              <c:numCache>
                <c:formatCode>General</c:formatCode>
                <c:ptCount val="8"/>
                <c:pt idx="0">
                  <c:v>900</c:v>
                </c:pt>
                <c:pt idx="1">
                  <c:v>1200</c:v>
                </c:pt>
                <c:pt idx="2">
                  <c:v>1550</c:v>
                </c:pt>
                <c:pt idx="3">
                  <c:v>2400</c:v>
                </c:pt>
                <c:pt idx="4">
                  <c:v>3100</c:v>
                </c:pt>
                <c:pt idx="5">
                  <c:v>3900</c:v>
                </c:pt>
                <c:pt idx="6">
                  <c:v>4800</c:v>
                </c:pt>
                <c:pt idx="7">
                  <c:v>5900</c:v>
                </c:pt>
              </c:numCache>
            </c:numRef>
          </c:yVal>
          <c:smooth val="1"/>
          <c:extLst>
            <c:ext xmlns:c16="http://schemas.microsoft.com/office/drawing/2014/chart" uri="{C3380CC4-5D6E-409C-BE32-E72D297353CC}">
              <c16:uniqueId val="{00000000-6E89-3848-B27C-3BFF3A9DD80C}"/>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title>
          <c:tx>
            <c:rich>
              <a:bodyPr/>
              <a:lstStyle/>
              <a:p>
                <a:r>
                  <a:rPr lang="en-US">
                    <a:latin typeface="Aptos"/>
                    <a:ea typeface="Aptos"/>
                    <a:cs typeface="Aptos"/>
                  </a:rPr>
                  <a:t>Recession velocity in km/s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ptos"/>
                <a:ea typeface="Aptos"/>
                <a:cs typeface="Aptos"/>
              </a:defRPr>
            </a:pPr>
            <a:endParaRPr lang="en-US"/>
          </a:p>
        </c:txPr>
        <c:crossAx val="48650112"/>
        <c:crosses val="autoZero"/>
        <c:crossBetween val="midCat"/>
      </c:valAx>
      <c:valAx>
        <c:axId val="48650112"/>
        <c:scaling>
          <c:orientation val="minMax"/>
        </c:scaling>
        <c:delete val="0"/>
        <c:axPos val="b"/>
        <c:title>
          <c:tx>
            <c:rich>
              <a:bodyPr/>
              <a:lstStyle/>
              <a:p>
                <a:r>
                  <a:rPr lang="en-US">
                    <a:latin typeface="Aptos"/>
                    <a:ea typeface="Aptos"/>
                    <a:cs typeface="Aptos"/>
                  </a:rPr>
                  <a:t>Distance in megaparsecs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ptos"/>
                <a:ea typeface="Aptos"/>
                <a:cs typeface="Aptos"/>
              </a:defRPr>
            </a:pPr>
            <a:endParaRPr lang="en-US"/>
          </a:p>
        </c:txPr>
        <c:crossAx val="48672768"/>
        <c:crosses val="autoZero"/>
        <c:crossBetween val="midCat"/>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 name="Google Shape;15;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Generated educational visual created with the built-in image generation tool. Hubble's Law workflow uses standard redshift calculations and public spectra as a backup option.</a:t>
            </a:r>
            <a:endParaRPr/>
          </a:p>
        </p:txBody>
      </p:sp>
      <p:sp>
        <p:nvSpPr>
          <p:cNvPr id="16" name="Google Shape;16;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 name="Google Shape;4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velocity approximation works best for low redshift galaxies. Students should explain this limitation.</a:t>
            </a:r>
            <a:endParaRPr/>
          </a:p>
        </p:txBody>
      </p:sp>
      <p:sp>
        <p:nvSpPr>
          <p:cNvPr id="86" name="Google Shape;8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Chart uses illustrative values to show the expected graph form. Students should replace it with measured or curated public data.</a:t>
            </a:r>
            <a:endParaRPr/>
          </a:p>
        </p:txBody>
      </p:sp>
      <p:sp>
        <p:nvSpPr>
          <p:cNvPr id="99" name="Google Shape;9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target examples are starting candidates. Final choices should use visibility, altitude, Moon phase and spectroscope sensitivity.</a:t>
            </a:r>
            <a:endParaRPr/>
          </a:p>
        </p:txBody>
      </p:sp>
      <p:sp>
        <p:nvSpPr>
          <p:cNvPr id="127" name="Google Shape;12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Sources to consult during the project: AAVSO spectroscopy materials, Sloan Digital Sky Survey spectra, and NASA/IPAC Extragalactic Database.</a:t>
            </a:r>
            <a:endParaRPr/>
          </a:p>
        </p:txBody>
      </p:sp>
      <p:sp>
        <p:nvSpPr>
          <p:cNvPr id="179" name="Google Shape;17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nvSpPr>
        <p:spPr>
          <a:xfrm>
            <a:off x="63500" y="63500"/>
            <a:ext cx="2709863"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Confidential - Oracle Restricted \Employees Only</a:t>
            </a:r>
            <a:endParaRPr/>
          </a:p>
        </p:txBody>
      </p:sp>
      <p:sp>
        <p:nvSpPr>
          <p:cNvPr id="11" name="Google Shape;11;p28"/>
          <p:cNvSpPr txBox="1"/>
          <p:nvPr/>
        </p:nvSpPr>
        <p:spPr>
          <a:xfrm>
            <a:off x="63500" y="6642100"/>
            <a:ext cx="2709863"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Confidential - Oracle Restricted \Employees Only</a:t>
            </a:r>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hyperlink" Target="https://imagine.gsfc.nasa.gov/features/cosmic/local_group_info.html#:~:text=There%20are%20over%2030%20galaxies,M33%20being%20the%203rd%20largest." TargetMode="External"/><Relationship Id="rId5" Type="http://schemas.openxmlformats.org/officeDocument/2006/relationships/hyperlink" Target="https://astronomy.swin.edu.au/cosmos/l/Local+Grou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hyperlink" Target="https://sservi.nasa.gov/articles/laniakea-our-home-supercluste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jpg"/><Relationship Id="rId4"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jpg"/><Relationship Id="rId4" Type="http://schemas.openxmlformats.org/officeDocument/2006/relationships/image" Target="../media/image19.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pic>
        <p:nvPicPr>
          <p:cNvPr id="18" name="Google Shape;18;p1"/>
          <p:cNvPicPr preferRelativeResize="0"/>
          <p:nvPr/>
        </p:nvPicPr>
        <p:blipFill rotWithShape="1">
          <a:blip r:embed="rId3">
            <a:alphaModFix/>
          </a:blip>
          <a:srcRect b="27" l="0" r="0" t="27"/>
          <a:stretch/>
        </p:blipFill>
        <p:spPr>
          <a:xfrm>
            <a:off x="0" y="0"/>
            <a:ext cx="12192000" cy="6858000"/>
          </a:xfrm>
          <a:prstGeom prst="rect">
            <a:avLst/>
          </a:prstGeom>
          <a:noFill/>
          <a:ln>
            <a:noFill/>
          </a:ln>
        </p:spPr>
      </p:pic>
      <p:sp>
        <p:nvSpPr>
          <p:cNvPr id="19" name="Google Shape;19;p1"/>
          <p:cNvSpPr/>
          <p:nvPr/>
        </p:nvSpPr>
        <p:spPr>
          <a:xfrm>
            <a:off x="0" y="0"/>
            <a:ext cx="5715000" cy="6858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47700" y="914400"/>
            <a:ext cx="5295900" cy="11430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1" lang="en-US" sz="2044">
                <a:solidFill>
                  <a:srgbClr val="FFFFFF"/>
                </a:solidFill>
                <a:latin typeface="Arial"/>
                <a:ea typeface="Arial"/>
                <a:cs typeface="Arial"/>
                <a:sym typeface="Arial"/>
              </a:rPr>
              <a:t>Testing Hubble's Law:</a:t>
            </a:r>
            <a:endParaRPr/>
          </a:p>
          <a:p>
            <a:pPr indent="0" lvl="0" marL="0" marR="0" rtl="0" algn="l">
              <a:lnSpc>
                <a:spcPct val="80000"/>
              </a:lnSpc>
              <a:spcBef>
                <a:spcPts val="0"/>
              </a:spcBef>
              <a:spcAft>
                <a:spcPts val="0"/>
              </a:spcAft>
              <a:buNone/>
            </a:pPr>
            <a:r>
              <a:rPr b="1" lang="en-US" sz="2044">
                <a:solidFill>
                  <a:srgbClr val="FFFFFF"/>
                </a:solidFill>
                <a:latin typeface="Arial"/>
                <a:ea typeface="Arial"/>
                <a:cs typeface="Arial"/>
                <a:sym typeface="Arial"/>
              </a:rPr>
              <a:t>Measuring Cosmic Expansion: Galaxy Redshifts with a High-Resolution Spectroscope</a:t>
            </a:r>
            <a:endParaRPr/>
          </a:p>
          <a:p>
            <a:pPr indent="0" lvl="0" marL="0" marR="0" rtl="0" algn="l">
              <a:lnSpc>
                <a:spcPct val="80000"/>
              </a:lnSpc>
              <a:spcBef>
                <a:spcPts val="0"/>
              </a:spcBef>
              <a:spcAft>
                <a:spcPts val="0"/>
              </a:spcAft>
              <a:buNone/>
            </a:pPr>
            <a:r>
              <a:t/>
            </a:r>
            <a:endParaRPr b="1" sz="2044">
              <a:solidFill>
                <a:srgbClr val="FFFFFF"/>
              </a:solidFill>
              <a:latin typeface="Arial"/>
              <a:ea typeface="Arial"/>
              <a:cs typeface="Arial"/>
              <a:sym typeface="Arial"/>
            </a:endParaRPr>
          </a:p>
        </p:txBody>
      </p:sp>
      <p:sp>
        <p:nvSpPr>
          <p:cNvPr id="21" name="Google Shape;21;p1"/>
          <p:cNvSpPr/>
          <p:nvPr/>
        </p:nvSpPr>
        <p:spPr>
          <a:xfrm>
            <a:off x="685800" y="2247899"/>
            <a:ext cx="5791202" cy="188816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637">
                <a:solidFill>
                  <a:srgbClr val="DDE8EF"/>
                </a:solidFill>
                <a:latin typeface="Arial"/>
                <a:ea typeface="Arial"/>
                <a:cs typeface="Arial"/>
                <a:sym typeface="Arial"/>
              </a:rPr>
              <a:t>Science fair project plan, September 2026 to March 2027</a:t>
            </a:r>
            <a:endParaRPr b="0" sz="1637">
              <a:solidFill>
                <a:srgbClr val="DDE8EF"/>
              </a:solidFill>
              <a:latin typeface="Arial"/>
              <a:ea typeface="Arial"/>
              <a:cs typeface="Arial"/>
              <a:sym typeface="Arial"/>
            </a:endParaRPr>
          </a:p>
          <a:p>
            <a:pPr indent="0" lvl="0" marL="0" marR="0" rtl="0" algn="l">
              <a:spcBef>
                <a:spcPts val="0"/>
              </a:spcBef>
              <a:spcAft>
                <a:spcPts val="0"/>
              </a:spcAft>
              <a:buNone/>
            </a:pPr>
            <a:r>
              <a:rPr b="0" lang="en-US" sz="1637">
                <a:solidFill>
                  <a:srgbClr val="DDE8EF"/>
                </a:solidFill>
                <a:latin typeface="Arial"/>
                <a:ea typeface="Arial"/>
                <a:cs typeface="Arial"/>
                <a:sym typeface="Arial"/>
              </a:rPr>
              <a:t>Shlok </a:t>
            </a:r>
            <a:endParaRPr/>
          </a:p>
          <a:p>
            <a:pPr indent="0" lvl="0" marL="0" marR="0" rtl="0" algn="l">
              <a:spcBef>
                <a:spcPts val="0"/>
              </a:spcBef>
              <a:spcAft>
                <a:spcPts val="0"/>
              </a:spcAft>
              <a:buNone/>
            </a:pPr>
            <a:r>
              <a:rPr b="0" lang="en-US" sz="1637">
                <a:solidFill>
                  <a:srgbClr val="DDE8EF"/>
                </a:solidFill>
                <a:latin typeface="Arial"/>
                <a:ea typeface="Arial"/>
                <a:cs typeface="Arial"/>
                <a:sym typeface="Arial"/>
              </a:rPr>
              <a:t>Keya Attre</a:t>
            </a:r>
            <a:endParaRPr b="0" sz="1637">
              <a:solidFill>
                <a:srgbClr val="DDE8EF"/>
              </a:solidFill>
              <a:latin typeface="Arial"/>
              <a:ea typeface="Arial"/>
              <a:cs typeface="Arial"/>
              <a:sym typeface="Arial"/>
            </a:endParaRPr>
          </a:p>
          <a:p>
            <a:pPr indent="0" lvl="0" marL="0" marR="0" rtl="0" algn="l">
              <a:spcBef>
                <a:spcPts val="0"/>
              </a:spcBef>
              <a:spcAft>
                <a:spcPts val="0"/>
              </a:spcAft>
              <a:buNone/>
            </a:pPr>
            <a:r>
              <a:rPr b="0" lang="en-US" sz="1637">
                <a:solidFill>
                  <a:srgbClr val="DDE8EF"/>
                </a:solidFill>
                <a:latin typeface="Arial"/>
                <a:ea typeface="Arial"/>
                <a:cs typeface="Arial"/>
                <a:sym typeface="Arial"/>
              </a:rPr>
              <a:t>Anushka Prasad</a:t>
            </a:r>
            <a:endParaRPr b="0" sz="1637">
              <a:solidFill>
                <a:srgbClr val="DDE8EF"/>
              </a:solidFill>
              <a:latin typeface="Arial"/>
              <a:ea typeface="Arial"/>
              <a:cs typeface="Arial"/>
              <a:sym typeface="Arial"/>
            </a:endParaRPr>
          </a:p>
        </p:txBody>
      </p:sp>
      <p:sp>
        <p:nvSpPr>
          <p:cNvPr id="22" name="Google Shape;22;p1"/>
          <p:cNvSpPr/>
          <p:nvPr/>
        </p:nvSpPr>
        <p:spPr>
          <a:xfrm>
            <a:off x="685800" y="5695950"/>
            <a:ext cx="4762500" cy="457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0" lang="en-US" sz="1301">
                <a:solidFill>
                  <a:srgbClr val="F2C16D"/>
                </a:solidFill>
                <a:latin typeface="Arial"/>
                <a:ea typeface="Arial"/>
                <a:cs typeface="Arial"/>
                <a:sym typeface="Arial"/>
              </a:rPr>
              <a:t>Team goal: measure galaxy redshifts and compare them with distance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Project agenda</a:t>
            </a:r>
            <a:endParaRPr/>
          </a:p>
        </p:txBody>
      </p:sp>
      <p:sp>
        <p:nvSpPr>
          <p:cNvPr id="29" name="Google Shape;29;p2"/>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The team connects spectra, redshift and galaxy distance</a:t>
            </a:r>
            <a:endParaRPr/>
          </a:p>
        </p:txBody>
      </p:sp>
      <p:sp>
        <p:nvSpPr>
          <p:cNvPr id="30" name="Google Shape;30;p2"/>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2"/>
          <p:cNvSpPr/>
          <p:nvPr/>
        </p:nvSpPr>
        <p:spPr>
          <a:xfrm>
            <a:off x="895350" y="190500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2"/>
          <p:cNvSpPr/>
          <p:nvPr/>
        </p:nvSpPr>
        <p:spPr>
          <a:xfrm>
            <a:off x="1104900" y="1809750"/>
            <a:ext cx="9601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Learn how spectra encode wavelength information</a:t>
            </a:r>
            <a:endParaRPr/>
          </a:p>
        </p:txBody>
      </p:sp>
      <p:sp>
        <p:nvSpPr>
          <p:cNvPr id="33" name="Google Shape;33;p2"/>
          <p:cNvSpPr/>
          <p:nvPr/>
        </p:nvSpPr>
        <p:spPr>
          <a:xfrm>
            <a:off x="895350" y="23050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2"/>
          <p:cNvSpPr/>
          <p:nvPr/>
        </p:nvSpPr>
        <p:spPr>
          <a:xfrm>
            <a:off x="1104900" y="2209800"/>
            <a:ext cx="9601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Calibrate the spectroscope with known lines</a:t>
            </a:r>
            <a:endParaRPr/>
          </a:p>
        </p:txBody>
      </p:sp>
      <p:sp>
        <p:nvSpPr>
          <p:cNvPr id="35" name="Google Shape;35;p2"/>
          <p:cNvSpPr/>
          <p:nvPr/>
        </p:nvSpPr>
        <p:spPr>
          <a:xfrm>
            <a:off x="895350" y="270510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2"/>
          <p:cNvSpPr/>
          <p:nvPr/>
        </p:nvSpPr>
        <p:spPr>
          <a:xfrm>
            <a:off x="1104900" y="2609850"/>
            <a:ext cx="9601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Measure redshift from galaxy spectra</a:t>
            </a:r>
            <a:endParaRPr/>
          </a:p>
        </p:txBody>
      </p:sp>
      <p:sp>
        <p:nvSpPr>
          <p:cNvPr id="37" name="Google Shape;37;p2"/>
          <p:cNvSpPr/>
          <p:nvPr/>
        </p:nvSpPr>
        <p:spPr>
          <a:xfrm>
            <a:off x="895350" y="31051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2"/>
          <p:cNvSpPr/>
          <p:nvPr/>
        </p:nvSpPr>
        <p:spPr>
          <a:xfrm>
            <a:off x="1104900" y="3009900"/>
            <a:ext cx="9601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Convert redshift into recession velocity</a:t>
            </a:r>
            <a:endParaRPr/>
          </a:p>
        </p:txBody>
      </p:sp>
      <p:sp>
        <p:nvSpPr>
          <p:cNvPr id="39" name="Google Shape;39;p2"/>
          <p:cNvSpPr/>
          <p:nvPr/>
        </p:nvSpPr>
        <p:spPr>
          <a:xfrm>
            <a:off x="895350" y="350520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2"/>
          <p:cNvSpPr/>
          <p:nvPr/>
        </p:nvSpPr>
        <p:spPr>
          <a:xfrm>
            <a:off x="1104900" y="3409950"/>
            <a:ext cx="9601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Plot velocity against distance and interpret the trend</a:t>
            </a:r>
            <a:endParaRPr/>
          </a:p>
        </p:txBody>
      </p:sp>
      <p:sp>
        <p:nvSpPr>
          <p:cNvPr id="41" name="Google Shape;41;p2"/>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42" name="Google Shape;42;p2"/>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pic>
        <p:nvPicPr>
          <p:cNvPr id="43" name="Google Shape;43;p2"/>
          <p:cNvPicPr preferRelativeResize="0"/>
          <p:nvPr/>
        </p:nvPicPr>
        <p:blipFill rotWithShape="1">
          <a:blip r:embed="rId3">
            <a:alphaModFix/>
          </a:blip>
          <a:srcRect b="0" l="0" r="0" t="0"/>
          <a:stretch/>
        </p:blipFill>
        <p:spPr>
          <a:xfrm>
            <a:off x="6508159" y="1428750"/>
            <a:ext cx="4321766" cy="50236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 name="Shape 48"/>
        <p:cNvGrpSpPr/>
        <p:nvPr/>
      </p:nvGrpSpPr>
      <p:grpSpPr>
        <a:xfrm>
          <a:off x="0" y="0"/>
          <a:ext cx="0" cy="0"/>
          <a:chOff x="0" y="0"/>
          <a:chExt cx="0" cy="0"/>
        </a:xfrm>
      </p:grpSpPr>
      <p:sp>
        <p:nvSpPr>
          <p:cNvPr id="49" name="Google Shape;49;p3"/>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Research question</a:t>
            </a:r>
            <a:endParaRPr/>
          </a:p>
        </p:txBody>
      </p:sp>
      <p:sp>
        <p:nvSpPr>
          <p:cNvPr id="50" name="Google Shape;50;p3"/>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The project tests one measurable piece of cosmic expansion</a:t>
            </a:r>
            <a:endParaRPr/>
          </a:p>
        </p:txBody>
      </p:sp>
      <p:sp>
        <p:nvSpPr>
          <p:cNvPr id="51" name="Google Shape;51;p3"/>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895350" y="190500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3"/>
          <p:cNvSpPr/>
          <p:nvPr/>
        </p:nvSpPr>
        <p:spPr>
          <a:xfrm>
            <a:off x="1104900" y="1809750"/>
            <a:ext cx="9601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48">
                <a:solidFill>
                  <a:srgbClr val="202124"/>
                </a:solidFill>
                <a:latin typeface="Arial"/>
                <a:ea typeface="Arial"/>
                <a:cs typeface="Arial"/>
                <a:sym typeface="Arial"/>
              </a:rPr>
              <a:t>Can high-resolution amateur spectroscopy measure galaxy redshifts well enough to support Hubble's Law?</a:t>
            </a:r>
            <a:endParaRPr/>
          </a:p>
        </p:txBody>
      </p:sp>
      <p:sp>
        <p:nvSpPr>
          <p:cNvPr id="54" name="Google Shape;54;p3"/>
          <p:cNvSpPr/>
          <p:nvPr/>
        </p:nvSpPr>
        <p:spPr>
          <a:xfrm>
            <a:off x="895350" y="23050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3"/>
          <p:cNvSpPr/>
          <p:nvPr/>
        </p:nvSpPr>
        <p:spPr>
          <a:xfrm>
            <a:off x="1104900" y="2209800"/>
            <a:ext cx="9601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Hypothesis: more distant galaxies will show larger recession velocities</a:t>
            </a:r>
            <a:endParaRPr/>
          </a:p>
        </p:txBody>
      </p:sp>
      <p:sp>
        <p:nvSpPr>
          <p:cNvPr id="56" name="Google Shape;56;p3"/>
          <p:cNvSpPr/>
          <p:nvPr/>
        </p:nvSpPr>
        <p:spPr>
          <a:xfrm>
            <a:off x="895350" y="270510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3"/>
          <p:cNvSpPr/>
          <p:nvPr/>
        </p:nvSpPr>
        <p:spPr>
          <a:xfrm>
            <a:off x="1104900" y="2609850"/>
            <a:ext cx="9601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Measured result: observed wavelength shift of known spectral lines</a:t>
            </a:r>
            <a:endParaRPr/>
          </a:p>
        </p:txBody>
      </p:sp>
      <p:sp>
        <p:nvSpPr>
          <p:cNvPr id="58" name="Google Shape;58;p3"/>
          <p:cNvSpPr/>
          <p:nvPr/>
        </p:nvSpPr>
        <p:spPr>
          <a:xfrm>
            <a:off x="895350" y="31051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3"/>
          <p:cNvSpPr/>
          <p:nvPr/>
        </p:nvSpPr>
        <p:spPr>
          <a:xfrm>
            <a:off x="1104900" y="3009900"/>
            <a:ext cx="9601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Main graph: recession velocity against published galaxy distance</a:t>
            </a:r>
            <a:endParaRPr/>
          </a:p>
        </p:txBody>
      </p:sp>
      <p:sp>
        <p:nvSpPr>
          <p:cNvPr id="60" name="Google Shape;60;p3"/>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61" name="Google Shape;61;p3"/>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66" name="Shape 66"/>
        <p:cNvGrpSpPr/>
        <p:nvPr/>
      </p:nvGrpSpPr>
      <p:grpSpPr>
        <a:xfrm>
          <a:off x="0" y="0"/>
          <a:ext cx="0" cy="0"/>
          <a:chOff x="0" y="0"/>
          <a:chExt cx="0" cy="0"/>
        </a:xfrm>
      </p:grpSpPr>
      <p:sp>
        <p:nvSpPr>
          <p:cNvPr id="67" name="Google Shape;67;p4"/>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Spectroscopy method</a:t>
            </a:r>
            <a:endParaRPr/>
          </a:p>
        </p:txBody>
      </p:sp>
      <p:sp>
        <p:nvSpPr>
          <p:cNvPr id="68" name="Google Shape;68;p4"/>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The students measure how far known spectral lines shift toward longer wavelengths</a:t>
            </a:r>
            <a:endParaRPr/>
          </a:p>
        </p:txBody>
      </p:sp>
      <p:sp>
        <p:nvSpPr>
          <p:cNvPr id="69" name="Google Shape;69;p4"/>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70" name="Google Shape;70;p4"/>
          <p:cNvPicPr preferRelativeResize="0"/>
          <p:nvPr/>
        </p:nvPicPr>
        <p:blipFill rotWithShape="1">
          <a:blip r:embed="rId3">
            <a:alphaModFix/>
          </a:blip>
          <a:srcRect b="0" l="10604" r="10604" t="0"/>
          <a:stretch/>
        </p:blipFill>
        <p:spPr>
          <a:xfrm>
            <a:off x="6896100" y="1676400"/>
            <a:ext cx="4000500" cy="2857500"/>
          </a:xfrm>
          <a:prstGeom prst="rect">
            <a:avLst/>
          </a:prstGeom>
          <a:noFill/>
          <a:ln>
            <a:noFill/>
          </a:ln>
        </p:spPr>
      </p:pic>
      <p:sp>
        <p:nvSpPr>
          <p:cNvPr id="71" name="Google Shape;71;p4"/>
          <p:cNvSpPr/>
          <p:nvPr/>
        </p:nvSpPr>
        <p:spPr>
          <a:xfrm>
            <a:off x="838200" y="1809750"/>
            <a:ext cx="76200" cy="323850"/>
          </a:xfrm>
          <a:prstGeom prst="rect">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 name="Google Shape;72;p4"/>
          <p:cNvSpPr/>
          <p:nvPr/>
        </p:nvSpPr>
        <p:spPr>
          <a:xfrm>
            <a:off x="1009650" y="1800225"/>
            <a:ext cx="4476750" cy="36195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lang="en-US" sz="1775">
                <a:solidFill>
                  <a:srgbClr val="202124"/>
                </a:solidFill>
                <a:latin typeface="Arial"/>
                <a:ea typeface="Arial"/>
                <a:cs typeface="Arial"/>
                <a:sym typeface="Arial"/>
              </a:rPr>
              <a:t>What students collect</a:t>
            </a:r>
            <a:endParaRPr/>
          </a:p>
        </p:txBody>
      </p:sp>
      <p:sp>
        <p:nvSpPr>
          <p:cNvPr id="73" name="Google Shape;73;p4"/>
          <p:cNvSpPr/>
          <p:nvPr/>
        </p:nvSpPr>
        <p:spPr>
          <a:xfrm>
            <a:off x="1047750" y="247650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4"/>
          <p:cNvSpPr/>
          <p:nvPr/>
        </p:nvSpPr>
        <p:spPr>
          <a:xfrm>
            <a:off x="1257300" y="2381250"/>
            <a:ext cx="51244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202124"/>
                </a:solidFill>
                <a:latin typeface="Arial"/>
                <a:ea typeface="Arial"/>
                <a:cs typeface="Arial"/>
                <a:sym typeface="Arial"/>
              </a:rPr>
              <a:t>Calibration spectra or known stellar lines</a:t>
            </a:r>
            <a:endParaRPr/>
          </a:p>
        </p:txBody>
      </p:sp>
      <p:sp>
        <p:nvSpPr>
          <p:cNvPr id="75" name="Google Shape;75;p4"/>
          <p:cNvSpPr/>
          <p:nvPr/>
        </p:nvSpPr>
        <p:spPr>
          <a:xfrm>
            <a:off x="1047750" y="28765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4"/>
          <p:cNvSpPr/>
          <p:nvPr/>
        </p:nvSpPr>
        <p:spPr>
          <a:xfrm>
            <a:off x="1257300" y="2781300"/>
            <a:ext cx="51244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83">
                <a:solidFill>
                  <a:srgbClr val="202124"/>
                </a:solidFill>
                <a:latin typeface="Arial"/>
                <a:ea typeface="Arial"/>
                <a:cs typeface="Arial"/>
                <a:sym typeface="Arial"/>
              </a:rPr>
              <a:t>Galaxy spectra with visible emission or absorption features</a:t>
            </a:r>
            <a:endParaRPr/>
          </a:p>
        </p:txBody>
      </p:sp>
      <p:sp>
        <p:nvSpPr>
          <p:cNvPr id="77" name="Google Shape;77;p4"/>
          <p:cNvSpPr/>
          <p:nvPr/>
        </p:nvSpPr>
        <p:spPr>
          <a:xfrm>
            <a:off x="1047750" y="327660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4"/>
          <p:cNvSpPr/>
          <p:nvPr/>
        </p:nvSpPr>
        <p:spPr>
          <a:xfrm>
            <a:off x="1257300" y="3181350"/>
            <a:ext cx="51244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202124"/>
                </a:solidFill>
                <a:latin typeface="Arial"/>
                <a:ea typeface="Arial"/>
                <a:cs typeface="Arial"/>
                <a:sym typeface="Arial"/>
              </a:rPr>
              <a:t>Exposure time, target altitude and observing notes</a:t>
            </a:r>
            <a:endParaRPr/>
          </a:p>
        </p:txBody>
      </p:sp>
      <p:sp>
        <p:nvSpPr>
          <p:cNvPr id="79" name="Google Shape;79;p4"/>
          <p:cNvSpPr/>
          <p:nvPr/>
        </p:nvSpPr>
        <p:spPr>
          <a:xfrm>
            <a:off x="1047750" y="36766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4"/>
          <p:cNvSpPr/>
          <p:nvPr/>
        </p:nvSpPr>
        <p:spPr>
          <a:xfrm>
            <a:off x="1257300" y="3581400"/>
            <a:ext cx="51244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202124"/>
                </a:solidFill>
                <a:latin typeface="Arial"/>
                <a:ea typeface="Arial"/>
                <a:cs typeface="Arial"/>
                <a:sym typeface="Arial"/>
              </a:rPr>
              <a:t>Published galaxy distance for each target</a:t>
            </a:r>
            <a:endParaRPr/>
          </a:p>
        </p:txBody>
      </p:sp>
      <p:sp>
        <p:nvSpPr>
          <p:cNvPr id="81" name="Google Shape;81;p4"/>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82" name="Google Shape;82;p4"/>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9ED"/>
        </a:solidFill>
      </p:bgPr>
    </p:bg>
    <p:spTree>
      <p:nvGrpSpPr>
        <p:cNvPr id="87" name="Shape 87"/>
        <p:cNvGrpSpPr/>
        <p:nvPr/>
      </p:nvGrpSpPr>
      <p:grpSpPr>
        <a:xfrm>
          <a:off x="0" y="0"/>
          <a:ext cx="0" cy="0"/>
          <a:chOff x="0" y="0"/>
          <a:chExt cx="0" cy="0"/>
        </a:xfrm>
      </p:grpSpPr>
      <p:sp>
        <p:nvSpPr>
          <p:cNvPr id="88" name="Google Shape;88;p5"/>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Redshift calculation</a:t>
            </a:r>
            <a:endParaRPr/>
          </a:p>
        </p:txBody>
      </p:sp>
      <p:sp>
        <p:nvSpPr>
          <p:cNvPr id="89" name="Google Shape;89;p5"/>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A shifted line gives redshift, and redshift gives velocity for nearby galaxies</a:t>
            </a:r>
            <a:endParaRPr/>
          </a:p>
        </p:txBody>
      </p:sp>
      <p:sp>
        <p:nvSpPr>
          <p:cNvPr id="90" name="Google Shape;90;p5"/>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5"/>
          <p:cNvSpPr/>
          <p:nvPr/>
        </p:nvSpPr>
        <p:spPr>
          <a:xfrm>
            <a:off x="1104900" y="1943100"/>
            <a:ext cx="9334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250">
                <a:solidFill>
                  <a:srgbClr val="0F4D55"/>
                </a:solidFill>
                <a:latin typeface="Arial"/>
                <a:ea typeface="Arial"/>
                <a:cs typeface="Arial"/>
                <a:sym typeface="Arial"/>
              </a:rPr>
              <a:t>z = (observed wavelength - rest wavelength) / rest wavelength</a:t>
            </a:r>
            <a:endParaRPr/>
          </a:p>
        </p:txBody>
      </p:sp>
      <p:sp>
        <p:nvSpPr>
          <p:cNvPr id="92" name="Google Shape;92;p5"/>
          <p:cNvSpPr/>
          <p:nvPr/>
        </p:nvSpPr>
        <p:spPr>
          <a:xfrm>
            <a:off x="1104900" y="2724150"/>
            <a:ext cx="68580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250">
                <a:solidFill>
                  <a:srgbClr val="B84A3A"/>
                </a:solidFill>
                <a:latin typeface="Arial"/>
                <a:ea typeface="Arial"/>
                <a:cs typeface="Arial"/>
                <a:sym typeface="Arial"/>
              </a:rPr>
              <a:t>velocity approx. z x 300,000 km/s</a:t>
            </a:r>
            <a:endParaRPr/>
          </a:p>
        </p:txBody>
      </p:sp>
      <p:graphicFrame>
        <p:nvGraphicFramePr>
          <p:cNvPr id="93" name="Google Shape;93;p5"/>
          <p:cNvGraphicFramePr/>
          <p:nvPr/>
        </p:nvGraphicFramePr>
        <p:xfrm>
          <a:off x="1352550" y="3638550"/>
          <a:ext cx="3000000" cy="3000000"/>
        </p:xfrm>
        <a:graphic>
          <a:graphicData uri="http://schemas.openxmlformats.org/drawingml/2006/table">
            <a:tbl>
              <a:tblPr>
                <a:noFill/>
                <a:tableStyleId>{01BF7910-BCFD-4065-84D1-09E3E94EE249}</a:tableStyleId>
              </a:tblPr>
              <a:tblGrid>
                <a:gridCol w="3714750"/>
                <a:gridCol w="3714750"/>
              </a:tblGrid>
              <a:tr h="419100">
                <a:tc>
                  <a:txBody>
                    <a:bodyPr/>
                    <a:lstStyle/>
                    <a:p>
                      <a:pPr indent="0" lvl="0" marL="0" marR="0" rtl="0" algn="l">
                        <a:spcBef>
                          <a:spcPts val="0"/>
                        </a:spcBef>
                        <a:spcAft>
                          <a:spcPts val="0"/>
                        </a:spcAft>
                        <a:buClr>
                          <a:srgbClr val="FFFFFF"/>
                        </a:buClr>
                        <a:buSzPts val="1200"/>
                        <a:buFont typeface="Arial"/>
                        <a:buNone/>
                      </a:pPr>
                      <a:r>
                        <a:rPr b="1" lang="en-US" sz="1200" u="none" cap="none" strike="noStrike">
                          <a:solidFill>
                            <a:srgbClr val="FFFFFF"/>
                          </a:solidFill>
                          <a:latin typeface="Arial"/>
                          <a:ea typeface="Arial"/>
                          <a:cs typeface="Arial"/>
                          <a:sym typeface="Arial"/>
                        </a:rPr>
                        <a:t>Example</a:t>
                      </a:r>
                      <a:endParaRPr/>
                    </a:p>
                  </a:txBody>
                  <a:tcPr marT="45725" marB="45725" marR="91450" marL="91450">
                    <a:solidFill>
                      <a:srgbClr val="0F4D55"/>
                    </a:solidFill>
                  </a:tcPr>
                </a:tc>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Value</a:t>
                      </a:r>
                      <a:endParaRPr/>
                    </a:p>
                  </a:txBody>
                  <a:tcPr marT="45725" marB="45725" marR="91450" marL="91450">
                    <a:solidFill>
                      <a:srgbClr val="0F4D55"/>
                    </a:solidFill>
                  </a:tcPr>
                </a:tc>
              </a:tr>
              <a:tr h="41910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Rest H-alpha line</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656.3 nm</a:t>
                      </a:r>
                      <a:endParaRPr/>
                    </a:p>
                  </a:txBody>
                  <a:tcPr marT="45725" marB="45725" marR="91450" marL="91450">
                    <a:solidFill>
                      <a:srgbClr val="FFFFFF"/>
                    </a:solidFill>
                  </a:tcPr>
                </a:tc>
              </a:tr>
              <a:tr h="41910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Measured H-alpha line</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660.0 nm</a:t>
                      </a:r>
                      <a:endParaRPr/>
                    </a:p>
                  </a:txBody>
                  <a:tcPr marT="45725" marB="45725" marR="91450" marL="91450">
                    <a:solidFill>
                      <a:srgbClr val="F3F6F8"/>
                    </a:solidFill>
                  </a:tcPr>
                </a:tc>
              </a:tr>
              <a:tr h="41910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Redshift</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0.0056</a:t>
                      </a:r>
                      <a:endParaRPr/>
                    </a:p>
                  </a:txBody>
                  <a:tcPr marT="45725" marB="45725" marR="91450" marL="91450">
                    <a:solidFill>
                      <a:srgbClr val="FFFFFF"/>
                    </a:solidFill>
                  </a:tcPr>
                </a:tc>
              </a:tr>
              <a:tr h="41910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Approx. velocity</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1,680 km/s</a:t>
                      </a:r>
                      <a:endParaRPr/>
                    </a:p>
                  </a:txBody>
                  <a:tcPr marT="45725" marB="45725" marR="91450" marL="91450">
                    <a:solidFill>
                      <a:srgbClr val="F3F6F8"/>
                    </a:solidFill>
                  </a:tcPr>
                </a:tc>
              </a:tr>
            </a:tbl>
          </a:graphicData>
        </a:graphic>
      </p:graphicFrame>
      <p:sp>
        <p:nvSpPr>
          <p:cNvPr id="94" name="Google Shape;94;p5"/>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95" name="Google Shape;95;p5"/>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6"/>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Expected Hubble's Law graph</a:t>
            </a:r>
            <a:endParaRPr/>
          </a:p>
        </p:txBody>
      </p:sp>
      <p:sp>
        <p:nvSpPr>
          <p:cNvPr id="102" name="Google Shape;102;p6"/>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A positive trend supports the relationship between distance and recession velocity</a:t>
            </a:r>
            <a:endParaRPr/>
          </a:p>
        </p:txBody>
      </p:sp>
      <p:sp>
        <p:nvSpPr>
          <p:cNvPr id="103" name="Google Shape;103;p6"/>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04" name="Google Shape;104;p6"/>
          <p:cNvGraphicFramePr/>
          <p:nvPr/>
        </p:nvGraphicFramePr>
        <p:xfrm>
          <a:off x="952500" y="1790700"/>
          <a:ext cx="6858000" cy="3714750"/>
        </p:xfrm>
        <a:graphic>
          <a:graphicData uri="http://schemas.openxmlformats.org/drawingml/2006/chart">
            <c:chart r:id="rId3"/>
          </a:graphicData>
        </a:graphic>
      </p:graphicFrame>
      <p:sp>
        <p:nvSpPr>
          <p:cNvPr id="105" name="Google Shape;105;p6"/>
          <p:cNvSpPr/>
          <p:nvPr/>
        </p:nvSpPr>
        <p:spPr>
          <a:xfrm>
            <a:off x="8477250" y="2286000"/>
            <a:ext cx="85725" cy="85725"/>
          </a:xfrm>
          <a:prstGeom prst="ellipse">
            <a:avLst/>
          </a:prstGeom>
          <a:solidFill>
            <a:srgbClr val="197C8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8686800" y="2190750"/>
            <a:ext cx="264795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202124"/>
                </a:solidFill>
                <a:latin typeface="Arial"/>
                <a:ea typeface="Arial"/>
                <a:cs typeface="Arial"/>
                <a:sym typeface="Arial"/>
              </a:rPr>
              <a:t>Each point represents one galaxy</a:t>
            </a:r>
            <a:endParaRPr/>
          </a:p>
        </p:txBody>
      </p:sp>
      <p:sp>
        <p:nvSpPr>
          <p:cNvPr id="107" name="Google Shape;107;p6"/>
          <p:cNvSpPr/>
          <p:nvPr/>
        </p:nvSpPr>
        <p:spPr>
          <a:xfrm>
            <a:off x="8477250" y="2819400"/>
            <a:ext cx="85725" cy="85725"/>
          </a:xfrm>
          <a:prstGeom prst="ellipse">
            <a:avLst/>
          </a:prstGeom>
          <a:solidFill>
            <a:srgbClr val="197C8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6"/>
          <p:cNvSpPr/>
          <p:nvPr/>
        </p:nvSpPr>
        <p:spPr>
          <a:xfrm>
            <a:off x="8686800" y="2724150"/>
            <a:ext cx="264795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179">
                <a:solidFill>
                  <a:srgbClr val="202124"/>
                </a:solidFill>
                <a:latin typeface="Arial"/>
                <a:ea typeface="Arial"/>
                <a:cs typeface="Arial"/>
                <a:sym typeface="Arial"/>
              </a:rPr>
              <a:t>Large scatter can come from measurement noise and local motion</a:t>
            </a:r>
            <a:endParaRPr/>
          </a:p>
        </p:txBody>
      </p:sp>
      <p:sp>
        <p:nvSpPr>
          <p:cNvPr id="109" name="Google Shape;109;p6"/>
          <p:cNvSpPr/>
          <p:nvPr/>
        </p:nvSpPr>
        <p:spPr>
          <a:xfrm>
            <a:off x="8477250" y="3352800"/>
            <a:ext cx="85725" cy="85725"/>
          </a:xfrm>
          <a:prstGeom prst="ellipse">
            <a:avLst/>
          </a:prstGeom>
          <a:solidFill>
            <a:srgbClr val="197C8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6"/>
          <p:cNvSpPr/>
          <p:nvPr/>
        </p:nvSpPr>
        <p:spPr>
          <a:xfrm>
            <a:off x="8686800" y="3257550"/>
            <a:ext cx="264795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350">
                <a:solidFill>
                  <a:srgbClr val="202124"/>
                </a:solidFill>
                <a:latin typeface="Arial"/>
                <a:ea typeface="Arial"/>
                <a:cs typeface="Arial"/>
                <a:sym typeface="Arial"/>
              </a:rPr>
              <a:t>The slope estimates the Hubble constant</a:t>
            </a:r>
            <a:endParaRPr/>
          </a:p>
        </p:txBody>
      </p:sp>
      <p:sp>
        <p:nvSpPr>
          <p:cNvPr id="111" name="Google Shape;111;p6"/>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112" name="Google Shape;112;p6"/>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7"/>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Project calendar</a:t>
            </a:r>
            <a:endParaRPr/>
          </a:p>
        </p:txBody>
      </p:sp>
      <p:sp>
        <p:nvSpPr>
          <p:cNvPr id="119" name="Google Shape;119;p7"/>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The first goal is reliable wavelength calibration before galaxy data</a:t>
            </a:r>
            <a:endParaRPr/>
          </a:p>
        </p:txBody>
      </p:sp>
      <p:sp>
        <p:nvSpPr>
          <p:cNvPr id="120" name="Google Shape;120;p7"/>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21" name="Google Shape;121;p7"/>
          <p:cNvGraphicFramePr/>
          <p:nvPr/>
        </p:nvGraphicFramePr>
        <p:xfrm>
          <a:off x="685800" y="1714500"/>
          <a:ext cx="3000000" cy="3000000"/>
        </p:xfrm>
        <a:graphic>
          <a:graphicData uri="http://schemas.openxmlformats.org/drawingml/2006/table">
            <a:tbl>
              <a:tblPr>
                <a:noFill/>
                <a:tableStyleId>{01BF7910-BCFD-4065-84D1-09E3E94EE249}</a:tableStyleId>
              </a:tblPr>
              <a:tblGrid>
                <a:gridCol w="3606800"/>
                <a:gridCol w="3606800"/>
                <a:gridCol w="3606800"/>
              </a:tblGrid>
              <a:tr h="488150">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Month</a:t>
                      </a:r>
                      <a:endParaRPr/>
                    </a:p>
                  </a:txBody>
                  <a:tcPr marT="45725" marB="45725" marR="91450" marL="91450">
                    <a:solidFill>
                      <a:srgbClr val="B84A3A"/>
                    </a:solidFill>
                  </a:tcPr>
                </a:tc>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Student learning</a:t>
                      </a:r>
                      <a:endParaRPr/>
                    </a:p>
                  </a:txBody>
                  <a:tcPr marT="45725" marB="45725" marR="91450" marL="91450">
                    <a:solidFill>
                      <a:srgbClr val="B84A3A"/>
                    </a:solidFill>
                  </a:tcPr>
                </a:tc>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Project milestone</a:t>
                      </a:r>
                      <a:endParaRPr/>
                    </a:p>
                  </a:txBody>
                  <a:tcPr marT="45725" marB="45725" marR="91450" marL="91450">
                    <a:solidFill>
                      <a:srgbClr val="B84A3A"/>
                    </a:solidFill>
                  </a:tcPr>
                </a:tc>
              </a:tr>
              <a:tr h="4881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Sep</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Spectra, redshift, wavelength and Hubble's Law</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Roles assigned and formula practice complete</a:t>
                      </a:r>
                      <a:endParaRPr/>
                    </a:p>
                  </a:txBody>
                  <a:tcPr marT="45725" marB="45725" marR="91450" marL="91450">
                    <a:solidFill>
                      <a:srgbClr val="FFFFFF"/>
                    </a:solidFill>
                  </a:tcPr>
                </a:tc>
              </a:tr>
              <a:tr h="4881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Oct</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Spectroscope setup and calibration</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Calibrated stellar spectrum with labeled lines</a:t>
                      </a:r>
                      <a:endParaRPr/>
                    </a:p>
                  </a:txBody>
                  <a:tcPr marT="45725" marB="45725" marR="91450" marL="91450">
                    <a:solidFill>
                      <a:srgbClr val="F3F6F8"/>
                    </a:solidFill>
                  </a:tcPr>
                </a:tc>
              </a:tr>
              <a:tr h="4881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Nov</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Galaxy target choice and long exposures</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First galaxy spectrum attempt</a:t>
                      </a:r>
                      <a:endParaRPr/>
                    </a:p>
                  </a:txBody>
                  <a:tcPr marT="45725" marB="45725" marR="91450" marL="91450">
                    <a:solidFill>
                      <a:srgbClr val="FFFFFF"/>
                    </a:solidFill>
                  </a:tcPr>
                </a:tc>
              </a:tr>
              <a:tr h="4881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Dec</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Line fitting and comparison with published redshifts</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Quality review and target list revision</a:t>
                      </a:r>
                      <a:endParaRPr/>
                    </a:p>
                  </a:txBody>
                  <a:tcPr marT="45725" marB="45725" marR="91450" marL="91450">
                    <a:solidFill>
                      <a:srgbClr val="F3F6F8"/>
                    </a:solidFill>
                  </a:tcPr>
                </a:tc>
              </a:tr>
              <a:tr h="4881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Jan</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Final galaxy set or hybrid public dataset</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Velocity-distance table ready</a:t>
                      </a:r>
                      <a:endParaRPr/>
                    </a:p>
                  </a:txBody>
                  <a:tcPr marT="45725" marB="45725" marR="91450" marL="91450">
                    <a:solidFill>
                      <a:srgbClr val="FFFFFF"/>
                    </a:solidFill>
                  </a:tcPr>
                </a:tc>
              </a:tr>
              <a:tr h="4881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Feb</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Graphs, uncertainty and judge questions</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Board draft and oral practice</a:t>
                      </a:r>
                      <a:endParaRPr/>
                    </a:p>
                  </a:txBody>
                  <a:tcPr marT="45725" marB="45725" marR="91450" marL="91450">
                    <a:solidFill>
                      <a:srgbClr val="F3F6F8"/>
                    </a:solidFill>
                  </a:tcPr>
                </a:tc>
              </a:tr>
              <a:tr h="4881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Mar</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Final polish</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Fair presentation ready</a:t>
                      </a:r>
                      <a:endParaRPr/>
                    </a:p>
                  </a:txBody>
                  <a:tcPr marT="45725" marB="45725" marR="91450" marL="91450">
                    <a:solidFill>
                      <a:srgbClr val="FFFFFF"/>
                    </a:solidFill>
                  </a:tcPr>
                </a:tc>
              </a:tr>
            </a:tbl>
          </a:graphicData>
        </a:graphic>
      </p:graphicFrame>
      <p:sp>
        <p:nvSpPr>
          <p:cNvPr id="122" name="Google Shape;122;p7"/>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123" name="Google Shape;123;p7"/>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8"/>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Target strategy</a:t>
            </a:r>
            <a:endParaRPr/>
          </a:p>
        </p:txBody>
      </p:sp>
      <p:sp>
        <p:nvSpPr>
          <p:cNvPr id="130" name="Google Shape;130;p8"/>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Emission-line targets give the team the best chance of clear measurements</a:t>
            </a:r>
            <a:endParaRPr/>
          </a:p>
        </p:txBody>
      </p:sp>
      <p:sp>
        <p:nvSpPr>
          <p:cNvPr id="131" name="Google Shape;131;p8"/>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32" name="Google Shape;132;p8"/>
          <p:cNvGraphicFramePr/>
          <p:nvPr/>
        </p:nvGraphicFramePr>
        <p:xfrm>
          <a:off x="838200" y="1809750"/>
          <a:ext cx="3000000" cy="3000000"/>
        </p:xfrm>
        <a:graphic>
          <a:graphicData uri="http://schemas.openxmlformats.org/drawingml/2006/table">
            <a:tbl>
              <a:tblPr>
                <a:noFill/>
                <a:tableStyleId>{01BF7910-BCFD-4065-84D1-09E3E94EE249}</a:tableStyleId>
              </a:tblPr>
              <a:tblGrid>
                <a:gridCol w="3505200"/>
                <a:gridCol w="3505200"/>
                <a:gridCol w="3505200"/>
              </a:tblGrid>
              <a:tr h="571500">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Target type</a:t>
                      </a:r>
                      <a:endParaRPr/>
                    </a:p>
                  </a:txBody>
                  <a:tcPr marT="45725" marB="45725" marR="91450" marL="91450">
                    <a:solidFill>
                      <a:srgbClr val="6E5AA8"/>
                    </a:solidFill>
                  </a:tcPr>
                </a:tc>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Why it helps</a:t>
                      </a:r>
                      <a:endParaRPr/>
                    </a:p>
                  </a:txBody>
                  <a:tcPr marT="45725" marB="45725" marR="91450" marL="91450">
                    <a:solidFill>
                      <a:srgbClr val="6E5AA8"/>
                    </a:solidFill>
                  </a:tcPr>
                </a:tc>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Examples</a:t>
                      </a:r>
                      <a:endParaRPr/>
                    </a:p>
                  </a:txBody>
                  <a:tcPr marT="45725" marB="45725" marR="91450" marL="91450">
                    <a:solidFill>
                      <a:srgbClr val="6E5AA8"/>
                    </a:solidFill>
                  </a:tcPr>
                </a:tc>
              </a:tr>
              <a:tr h="57150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Bright emission-line galaxies</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Sharper lines can be easier to locate</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M82, M77, NGC 4151</a:t>
                      </a:r>
                      <a:endParaRPr/>
                    </a:p>
                  </a:txBody>
                  <a:tcPr marT="45725" marB="45725" marR="91450" marL="91450">
                    <a:solidFill>
                      <a:srgbClr val="FFFFFF"/>
                    </a:solidFill>
                  </a:tcPr>
                </a:tc>
              </a:tr>
              <a:tr h="57150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Nearby bright galaxies</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Easier to acquire but smaller redshifts</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M81, M87</a:t>
                      </a:r>
                      <a:endParaRPr/>
                    </a:p>
                  </a:txBody>
                  <a:tcPr marT="45725" marB="45725" marR="91450" marL="91450">
                    <a:solidFill>
                      <a:srgbClr val="F3F6F8"/>
                    </a:solidFill>
                  </a:tcPr>
                </a:tc>
              </a:tr>
              <a:tr h="57150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Quasars</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Large redshifts but faint targets</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Use only after pilot tests</a:t>
                      </a:r>
                      <a:endParaRPr/>
                    </a:p>
                  </a:txBody>
                  <a:tcPr marT="45725" marB="45725" marR="91450" marL="91450">
                    <a:solidFill>
                      <a:srgbClr val="FFFFFF"/>
                    </a:solidFill>
                  </a:tcPr>
                </a:tc>
              </a:tr>
              <a:tr h="57150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Public survey spectra</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Reliable backup and larger sample</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SDSS spectra</a:t>
                      </a:r>
                      <a:endParaRPr/>
                    </a:p>
                  </a:txBody>
                  <a:tcPr marT="45725" marB="45725" marR="91450" marL="91450">
                    <a:solidFill>
                      <a:srgbClr val="F3F6F8"/>
                    </a:solidFill>
                  </a:tcPr>
                </a:tc>
              </a:tr>
            </a:tbl>
          </a:graphicData>
        </a:graphic>
      </p:graphicFrame>
      <p:sp>
        <p:nvSpPr>
          <p:cNvPr id="133" name="Google Shape;133;p8"/>
          <p:cNvSpPr/>
          <p:nvPr/>
        </p:nvSpPr>
        <p:spPr>
          <a:xfrm>
            <a:off x="1047750" y="5191125"/>
            <a:ext cx="85725" cy="85725"/>
          </a:xfrm>
          <a:prstGeom prst="ellipse">
            <a:avLst/>
          </a:prstGeom>
          <a:solidFill>
            <a:srgbClr val="6E5A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8"/>
          <p:cNvSpPr/>
          <p:nvPr/>
        </p:nvSpPr>
        <p:spPr>
          <a:xfrm>
            <a:off x="1257300" y="5095875"/>
            <a:ext cx="91249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202124"/>
                </a:solidFill>
                <a:latin typeface="Arial"/>
                <a:ea typeface="Arial"/>
                <a:cs typeface="Arial"/>
                <a:sym typeface="Arial"/>
              </a:rPr>
              <a:t>Pilot test with one bright galaxy before committing to the final sample</a:t>
            </a:r>
            <a:endParaRPr/>
          </a:p>
        </p:txBody>
      </p:sp>
      <p:sp>
        <p:nvSpPr>
          <p:cNvPr id="135" name="Google Shape;135;p8"/>
          <p:cNvSpPr/>
          <p:nvPr/>
        </p:nvSpPr>
        <p:spPr>
          <a:xfrm>
            <a:off x="1047750" y="5591175"/>
            <a:ext cx="85725" cy="85725"/>
          </a:xfrm>
          <a:prstGeom prst="ellipse">
            <a:avLst/>
          </a:prstGeom>
          <a:solidFill>
            <a:srgbClr val="6E5A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8"/>
          <p:cNvSpPr/>
          <p:nvPr/>
        </p:nvSpPr>
        <p:spPr>
          <a:xfrm>
            <a:off x="1257300" y="5495925"/>
            <a:ext cx="91249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202124"/>
                </a:solidFill>
                <a:latin typeface="Arial"/>
                <a:ea typeface="Arial"/>
                <a:cs typeface="Arial"/>
                <a:sym typeface="Arial"/>
              </a:rPr>
              <a:t>Use public spectra if weather or signal strength limits student observations</a:t>
            </a:r>
            <a:endParaRPr/>
          </a:p>
        </p:txBody>
      </p:sp>
      <p:sp>
        <p:nvSpPr>
          <p:cNvPr id="137" name="Google Shape;137;p8"/>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138" name="Google Shape;138;p8"/>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143" name="Shape 143"/>
        <p:cNvGrpSpPr/>
        <p:nvPr/>
      </p:nvGrpSpPr>
      <p:grpSpPr>
        <a:xfrm>
          <a:off x="0" y="0"/>
          <a:ext cx="0" cy="0"/>
          <a:chOff x="0" y="0"/>
          <a:chExt cx="0" cy="0"/>
        </a:xfrm>
      </p:grpSpPr>
      <p:sp>
        <p:nvSpPr>
          <p:cNvPr id="144" name="Google Shape;144;p9"/>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Risks and backup plan</a:t>
            </a:r>
            <a:endParaRPr/>
          </a:p>
        </p:txBody>
      </p:sp>
      <p:sp>
        <p:nvSpPr>
          <p:cNvPr id="145" name="Google Shape;145;p9"/>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Galaxy spectroscopy has high reward and real technical risk</a:t>
            </a:r>
            <a:endParaRPr/>
          </a:p>
        </p:txBody>
      </p:sp>
      <p:sp>
        <p:nvSpPr>
          <p:cNvPr id="146" name="Google Shape;146;p9"/>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47" name="Google Shape;147;p9"/>
          <p:cNvGraphicFramePr/>
          <p:nvPr/>
        </p:nvGraphicFramePr>
        <p:xfrm>
          <a:off x="990600" y="1771650"/>
          <a:ext cx="3000000" cy="3000000"/>
        </p:xfrm>
        <a:graphic>
          <a:graphicData uri="http://schemas.openxmlformats.org/drawingml/2006/table">
            <a:tbl>
              <a:tblPr>
                <a:noFill/>
                <a:tableStyleId>{01BF7910-BCFD-4065-84D1-09E3E94EE249}</a:tableStyleId>
              </a:tblPr>
              <a:tblGrid>
                <a:gridCol w="4953000"/>
                <a:gridCol w="4953000"/>
              </a:tblGrid>
              <a:tr h="539750">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Risk</a:t>
                      </a:r>
                      <a:endParaRPr/>
                    </a:p>
                  </a:txBody>
                  <a:tcPr marT="45725" marB="45725" marR="91450" marL="91450">
                    <a:solidFill>
                      <a:srgbClr val="0F4D55"/>
                    </a:solidFill>
                  </a:tcPr>
                </a:tc>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Mitigation</a:t>
                      </a:r>
                      <a:endParaRPr/>
                    </a:p>
                  </a:txBody>
                  <a:tcPr marT="45725" marB="45725" marR="91450" marL="91450">
                    <a:solidFill>
                      <a:srgbClr val="0F4D55"/>
                    </a:solidFill>
                  </a:tcPr>
                </a:tc>
              </a:tr>
              <a:tr h="5397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Galaxy spectra too faint</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Use longer exposures or a lower-resolution mode if available</a:t>
                      </a:r>
                      <a:endParaRPr/>
                    </a:p>
                  </a:txBody>
                  <a:tcPr marT="45725" marB="45725" marR="91450" marL="91450">
                    <a:solidFill>
                      <a:srgbClr val="FFFFFF"/>
                    </a:solidFill>
                  </a:tcPr>
                </a:tc>
              </a:tr>
              <a:tr h="5397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Line identification uncertain</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Start with calibration stars and known line lists</a:t>
                      </a:r>
                      <a:endParaRPr/>
                    </a:p>
                  </a:txBody>
                  <a:tcPr marT="45725" marB="45725" marR="91450" marL="91450">
                    <a:solidFill>
                      <a:srgbClr val="F3F6F8"/>
                    </a:solidFill>
                  </a:tcPr>
                </a:tc>
              </a:tr>
              <a:tr h="5397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Small redshift on nearby galaxies</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Choose targets with stronger published redshifts</a:t>
                      </a:r>
                      <a:endParaRPr/>
                    </a:p>
                  </a:txBody>
                  <a:tcPr marT="45725" marB="45725" marR="91450" marL="91450">
                    <a:solidFill>
                      <a:srgbClr val="FFFFFF"/>
                    </a:solidFill>
                  </a:tcPr>
                </a:tc>
              </a:tr>
              <a:tr h="5397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Distance estimates vary</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Use one distance source consistently</a:t>
                      </a:r>
                      <a:endParaRPr/>
                    </a:p>
                  </a:txBody>
                  <a:tcPr marT="45725" marB="45725" marR="91450" marL="91450">
                    <a:solidFill>
                      <a:srgbClr val="F3F6F8"/>
                    </a:solidFill>
                  </a:tcPr>
                </a:tc>
              </a:tr>
              <a:tr h="539750">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Clouds or poor seeing</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Use SDSS public spectra as a labeled backup dataset</a:t>
                      </a:r>
                      <a:endParaRPr/>
                    </a:p>
                  </a:txBody>
                  <a:tcPr marT="45725" marB="45725" marR="91450" marL="91450">
                    <a:solidFill>
                      <a:srgbClr val="FFFFFF"/>
                    </a:solidFill>
                  </a:tcPr>
                </a:tc>
              </a:tr>
            </a:tbl>
          </a:graphicData>
        </a:graphic>
      </p:graphicFrame>
      <p:sp>
        <p:nvSpPr>
          <p:cNvPr id="148" name="Google Shape;148;p9"/>
          <p:cNvSpPr/>
          <p:nvPr/>
        </p:nvSpPr>
        <p:spPr>
          <a:xfrm>
            <a:off x="1219200" y="5429250"/>
            <a:ext cx="85725" cy="85725"/>
          </a:xfrm>
          <a:prstGeom prst="ellipse">
            <a:avLst/>
          </a:prstGeom>
          <a:solidFill>
            <a:srgbClr val="0F4D5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9"/>
          <p:cNvSpPr/>
          <p:nvPr/>
        </p:nvSpPr>
        <p:spPr>
          <a:xfrm>
            <a:off x="1428750" y="5334000"/>
            <a:ext cx="8839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202124"/>
                </a:solidFill>
                <a:latin typeface="Arial"/>
                <a:ea typeface="Arial"/>
                <a:cs typeface="Arial"/>
                <a:sym typeface="Arial"/>
              </a:rPr>
              <a:t>A hybrid project can still be strong: student spectra plus public spectra</a:t>
            </a:r>
            <a:endParaRPr/>
          </a:p>
        </p:txBody>
      </p:sp>
      <p:sp>
        <p:nvSpPr>
          <p:cNvPr id="150" name="Google Shape;150;p9"/>
          <p:cNvSpPr/>
          <p:nvPr/>
        </p:nvSpPr>
        <p:spPr>
          <a:xfrm>
            <a:off x="1219200" y="5829300"/>
            <a:ext cx="85725" cy="85725"/>
          </a:xfrm>
          <a:prstGeom prst="ellipse">
            <a:avLst/>
          </a:prstGeom>
          <a:solidFill>
            <a:srgbClr val="0F4D5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9"/>
          <p:cNvSpPr/>
          <p:nvPr/>
        </p:nvSpPr>
        <p:spPr>
          <a:xfrm>
            <a:off x="1428750" y="5734050"/>
            <a:ext cx="883920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202124"/>
                </a:solidFill>
                <a:latin typeface="Arial"/>
                <a:ea typeface="Arial"/>
                <a:cs typeface="Arial"/>
                <a:sym typeface="Arial"/>
              </a:rPr>
              <a:t>Judges value a clear limit as much as a perfect result</a:t>
            </a:r>
            <a:endParaRPr/>
          </a:p>
        </p:txBody>
      </p:sp>
      <p:sp>
        <p:nvSpPr>
          <p:cNvPr id="152" name="Google Shape;152;p9"/>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153" name="Google Shape;153;p9"/>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10"/>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Science fair deliverables</a:t>
            </a:r>
            <a:endParaRPr/>
          </a:p>
        </p:txBody>
      </p:sp>
      <p:sp>
        <p:nvSpPr>
          <p:cNvPr id="160" name="Google Shape;160;p10"/>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The final board should make the measurement chain visible</a:t>
            </a:r>
            <a:endParaRPr/>
          </a:p>
        </p:txBody>
      </p:sp>
      <p:sp>
        <p:nvSpPr>
          <p:cNvPr id="161" name="Google Shape;161;p10"/>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10"/>
          <p:cNvSpPr/>
          <p:nvPr/>
        </p:nvSpPr>
        <p:spPr>
          <a:xfrm>
            <a:off x="876300" y="18859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10"/>
          <p:cNvSpPr/>
          <p:nvPr/>
        </p:nvSpPr>
        <p:spPr>
          <a:xfrm>
            <a:off x="1085850" y="1790700"/>
            <a:ext cx="9505950"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Research question, hypothesis and variables</a:t>
            </a:r>
            <a:endParaRPr/>
          </a:p>
        </p:txBody>
      </p:sp>
      <p:sp>
        <p:nvSpPr>
          <p:cNvPr id="164" name="Google Shape;164;p10"/>
          <p:cNvSpPr/>
          <p:nvPr/>
        </p:nvSpPr>
        <p:spPr>
          <a:xfrm>
            <a:off x="876300" y="23431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10"/>
          <p:cNvSpPr/>
          <p:nvPr/>
        </p:nvSpPr>
        <p:spPr>
          <a:xfrm>
            <a:off x="1085850" y="2247900"/>
            <a:ext cx="9505950"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Equipment diagram or setup photo</a:t>
            </a:r>
            <a:endParaRPr/>
          </a:p>
        </p:txBody>
      </p:sp>
      <p:sp>
        <p:nvSpPr>
          <p:cNvPr id="166" name="Google Shape;166;p10"/>
          <p:cNvSpPr/>
          <p:nvPr/>
        </p:nvSpPr>
        <p:spPr>
          <a:xfrm>
            <a:off x="876300" y="28003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10"/>
          <p:cNvSpPr/>
          <p:nvPr/>
        </p:nvSpPr>
        <p:spPr>
          <a:xfrm>
            <a:off x="1085850" y="2705100"/>
            <a:ext cx="9505950"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A calibrated spectrum with labeled spectral lines</a:t>
            </a:r>
            <a:endParaRPr/>
          </a:p>
        </p:txBody>
      </p:sp>
      <p:sp>
        <p:nvSpPr>
          <p:cNvPr id="168" name="Google Shape;168;p10"/>
          <p:cNvSpPr/>
          <p:nvPr/>
        </p:nvSpPr>
        <p:spPr>
          <a:xfrm>
            <a:off x="876300" y="32575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0"/>
          <p:cNvSpPr/>
          <p:nvPr/>
        </p:nvSpPr>
        <p:spPr>
          <a:xfrm>
            <a:off x="1085850" y="3162300"/>
            <a:ext cx="9505950"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Table of galaxies, redshifts, velocities and distances</a:t>
            </a:r>
            <a:endParaRPr/>
          </a:p>
        </p:txBody>
      </p:sp>
      <p:sp>
        <p:nvSpPr>
          <p:cNvPr id="170" name="Google Shape;170;p10"/>
          <p:cNvSpPr/>
          <p:nvPr/>
        </p:nvSpPr>
        <p:spPr>
          <a:xfrm>
            <a:off x="876300" y="37147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10"/>
          <p:cNvSpPr/>
          <p:nvPr/>
        </p:nvSpPr>
        <p:spPr>
          <a:xfrm>
            <a:off x="1085850" y="3619500"/>
            <a:ext cx="9505950"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Velocity-distance graph with trendline</a:t>
            </a:r>
            <a:endParaRPr/>
          </a:p>
        </p:txBody>
      </p:sp>
      <p:sp>
        <p:nvSpPr>
          <p:cNvPr id="172" name="Google Shape;172;p10"/>
          <p:cNvSpPr/>
          <p:nvPr/>
        </p:nvSpPr>
        <p:spPr>
          <a:xfrm>
            <a:off x="876300" y="4171950"/>
            <a:ext cx="85725" cy="85725"/>
          </a:xfrm>
          <a:prstGeom prst="ellipse">
            <a:avLst/>
          </a:prstGeom>
          <a:solidFill>
            <a:srgbClr val="B84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0"/>
          <p:cNvSpPr/>
          <p:nvPr/>
        </p:nvSpPr>
        <p:spPr>
          <a:xfrm>
            <a:off x="1085850" y="4076700"/>
            <a:ext cx="9505950" cy="4381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75">
                <a:solidFill>
                  <a:srgbClr val="202124"/>
                </a:solidFill>
                <a:latin typeface="Arial"/>
                <a:ea typeface="Arial"/>
                <a:cs typeface="Arial"/>
                <a:sym typeface="Arial"/>
              </a:rPr>
              <a:t>Conclusion with uncertainty and limits</a:t>
            </a:r>
            <a:endParaRPr/>
          </a:p>
        </p:txBody>
      </p:sp>
      <p:sp>
        <p:nvSpPr>
          <p:cNvPr id="174" name="Google Shape;174;p10"/>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175" name="Google Shape;175;p10"/>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11"/>
          <p:cNvSpPr/>
          <p:nvPr/>
        </p:nvSpPr>
        <p:spPr>
          <a:xfrm>
            <a:off x="685800" y="419100"/>
            <a:ext cx="8191500"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1" lang="en-US" sz="2625">
                <a:solidFill>
                  <a:srgbClr val="202124"/>
                </a:solidFill>
                <a:latin typeface="Arial"/>
                <a:ea typeface="Arial"/>
                <a:cs typeface="Arial"/>
                <a:sym typeface="Arial"/>
              </a:rPr>
              <a:t>Starter resources</a:t>
            </a:r>
            <a:endParaRPr/>
          </a:p>
        </p:txBody>
      </p:sp>
      <p:sp>
        <p:nvSpPr>
          <p:cNvPr id="182" name="Google Shape;182;p11"/>
          <p:cNvSpPr/>
          <p:nvPr/>
        </p:nvSpPr>
        <p:spPr>
          <a:xfrm>
            <a:off x="685800" y="914400"/>
            <a:ext cx="9144000"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425">
                <a:solidFill>
                  <a:srgbClr val="5F6368"/>
                </a:solidFill>
                <a:latin typeface="Arial"/>
                <a:ea typeface="Arial"/>
                <a:cs typeface="Arial"/>
                <a:sym typeface="Arial"/>
              </a:rPr>
              <a:t>Use these references for calibration, public data and interpretation</a:t>
            </a:r>
            <a:endParaRPr/>
          </a:p>
        </p:txBody>
      </p:sp>
      <p:sp>
        <p:nvSpPr>
          <p:cNvPr id="183" name="Google Shape;183;p11"/>
          <p:cNvSpPr/>
          <p:nvPr/>
        </p:nvSpPr>
        <p:spPr>
          <a:xfrm>
            <a:off x="685800" y="1409700"/>
            <a:ext cx="10820400" cy="19050"/>
          </a:xfrm>
          <a:prstGeom prst="rect">
            <a:avLst/>
          </a:prstGeom>
          <a:solidFill>
            <a:srgbClr val="D9DE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84" name="Google Shape;184;p11"/>
          <p:cNvGraphicFramePr/>
          <p:nvPr/>
        </p:nvGraphicFramePr>
        <p:xfrm>
          <a:off x="1123950" y="1885950"/>
          <a:ext cx="3000000" cy="3000000"/>
        </p:xfrm>
        <a:graphic>
          <a:graphicData uri="http://schemas.openxmlformats.org/drawingml/2006/table">
            <a:tbl>
              <a:tblPr>
                <a:noFill/>
                <a:tableStyleId>{01BF7910-BCFD-4065-84D1-09E3E94EE249}</a:tableStyleId>
              </a:tblPr>
              <a:tblGrid>
                <a:gridCol w="4972050"/>
                <a:gridCol w="4972050"/>
              </a:tblGrid>
              <a:tr h="542925">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Resource</a:t>
                      </a:r>
                      <a:endParaRPr/>
                    </a:p>
                  </a:txBody>
                  <a:tcPr marT="45725" marB="45725" marR="91450" marL="91450">
                    <a:solidFill>
                      <a:srgbClr val="B84A3A"/>
                    </a:solidFill>
                  </a:tcPr>
                </a:tc>
                <a:tc>
                  <a:txBody>
                    <a:bodyPr/>
                    <a:lstStyle/>
                    <a:p>
                      <a:pPr indent="0" lvl="0" marL="0" marR="0" rtl="0" algn="l">
                        <a:spcBef>
                          <a:spcPts val="0"/>
                        </a:spcBef>
                        <a:spcAft>
                          <a:spcPts val="0"/>
                        </a:spcAft>
                        <a:buClr>
                          <a:srgbClr val="FFFFFF"/>
                        </a:buClr>
                        <a:buSzPts val="1200"/>
                        <a:buFont typeface="Arial"/>
                        <a:buNone/>
                      </a:pPr>
                      <a:r>
                        <a:rPr b="1" lang="en-US" sz="1200">
                          <a:solidFill>
                            <a:srgbClr val="FFFFFF"/>
                          </a:solidFill>
                          <a:latin typeface="Arial"/>
                          <a:ea typeface="Arial"/>
                          <a:cs typeface="Arial"/>
                          <a:sym typeface="Arial"/>
                        </a:rPr>
                        <a:t>Use</a:t>
                      </a:r>
                      <a:endParaRPr/>
                    </a:p>
                  </a:txBody>
                  <a:tcPr marT="45725" marB="45725" marR="91450" marL="91450">
                    <a:solidFill>
                      <a:srgbClr val="B84A3A"/>
                    </a:solidFill>
                  </a:tcPr>
                </a:tc>
              </a:tr>
              <a:tr h="542925">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AAVSO spectroscopy guide</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Beginner workflow for astronomical spectroscopy</a:t>
                      </a:r>
                      <a:endParaRPr/>
                    </a:p>
                  </a:txBody>
                  <a:tcPr marT="45725" marB="45725" marR="91450" marL="91450">
                    <a:solidFill>
                      <a:srgbClr val="FFFFFF"/>
                    </a:solidFill>
                  </a:tcPr>
                </a:tc>
              </a:tr>
              <a:tr h="542925">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Sloan Digital Sky Survey</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Public galaxy spectra for backup or comparison</a:t>
                      </a:r>
                      <a:endParaRPr/>
                    </a:p>
                  </a:txBody>
                  <a:tcPr marT="45725" marB="45725" marR="91450" marL="91450">
                    <a:solidFill>
                      <a:srgbClr val="F3F6F8"/>
                    </a:solidFill>
                  </a:tcPr>
                </a:tc>
              </a:tr>
              <a:tr h="542925">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NASA/IPAC Extragalactic Database</a:t>
                      </a:r>
                      <a:endParaRPr/>
                    </a:p>
                  </a:txBody>
                  <a:tcPr marT="45725" marB="45725" marR="91450" marL="91450">
                    <a:solidFill>
                      <a:srgbClr val="FFFFFF"/>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Published galaxy properties and distances</a:t>
                      </a:r>
                      <a:endParaRPr/>
                    </a:p>
                  </a:txBody>
                  <a:tcPr marT="45725" marB="45725" marR="91450" marL="91450">
                    <a:solidFill>
                      <a:srgbClr val="FFFFFF"/>
                    </a:solidFill>
                  </a:tcPr>
                </a:tc>
              </a:tr>
              <a:tr h="542925">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Astro spectroscopy software</a:t>
                      </a:r>
                      <a:endParaRPr/>
                    </a:p>
                  </a:txBody>
                  <a:tcPr marT="45725" marB="45725" marR="91450" marL="91450">
                    <a:solidFill>
                      <a:srgbClr val="F3F6F8"/>
                    </a:solidFill>
                  </a:tcPr>
                </a:tc>
                <a:tc>
                  <a:txBody>
                    <a:bodyPr/>
                    <a:lstStyle/>
                    <a:p>
                      <a:pPr indent="0" lvl="0" marL="0" marR="0" rtl="0" algn="l">
                        <a:spcBef>
                          <a:spcPts val="0"/>
                        </a:spcBef>
                        <a:spcAft>
                          <a:spcPts val="0"/>
                        </a:spcAft>
                        <a:buClr>
                          <a:srgbClr val="202124"/>
                        </a:buClr>
                        <a:buSzPts val="1050"/>
                        <a:buFont typeface="Arial"/>
                        <a:buNone/>
                      </a:pPr>
                      <a:r>
                        <a:rPr lang="en-US" sz="1050">
                          <a:solidFill>
                            <a:srgbClr val="202124"/>
                          </a:solidFill>
                          <a:latin typeface="Arial"/>
                          <a:ea typeface="Arial"/>
                          <a:cs typeface="Arial"/>
                          <a:sym typeface="Arial"/>
                        </a:rPr>
                        <a:t>Wavelength calibration and line measurements</a:t>
                      </a:r>
                      <a:endParaRPr/>
                    </a:p>
                  </a:txBody>
                  <a:tcPr marT="45725" marB="45725" marR="91450" marL="91450">
                    <a:solidFill>
                      <a:srgbClr val="F3F6F8"/>
                    </a:solidFill>
                  </a:tcPr>
                </a:tc>
              </a:tr>
            </a:tbl>
          </a:graphicData>
        </a:graphic>
      </p:graphicFrame>
      <p:sp>
        <p:nvSpPr>
          <p:cNvPr id="185" name="Google Shape;185;p11"/>
          <p:cNvSpPr/>
          <p:nvPr/>
        </p:nvSpPr>
        <p:spPr>
          <a:xfrm>
            <a:off x="1200150" y="5000625"/>
            <a:ext cx="95250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1500">
                <a:solidFill>
                  <a:srgbClr val="202124"/>
                </a:solidFill>
                <a:latin typeface="Arial"/>
                <a:ea typeface="Arial"/>
                <a:cs typeface="Arial"/>
                <a:sym typeface="Arial"/>
              </a:rPr>
              <a:t>Notes for mentors: keep a record of calibration accuracy, line choices and each distance source.</a:t>
            </a:r>
            <a:endParaRPr/>
          </a:p>
        </p:txBody>
      </p:sp>
      <p:sp>
        <p:nvSpPr>
          <p:cNvPr id="186" name="Google Shape;186;p11"/>
          <p:cNvSpPr/>
          <p:nvPr/>
        </p:nvSpPr>
        <p:spPr>
          <a:xfrm>
            <a:off x="685800" y="643890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None/>
            </a:pPr>
            <a:r>
              <a:rPr b="0" lang="en-US" sz="900">
                <a:solidFill>
                  <a:srgbClr val="5F6368"/>
                </a:solidFill>
                <a:latin typeface="Arial"/>
                <a:ea typeface="Arial"/>
                <a:cs typeface="Arial"/>
                <a:sym typeface="Arial"/>
              </a:rPr>
              <a:t>Hubble's Law spectroscopy</a:t>
            </a:r>
            <a:endParaRPr/>
          </a:p>
        </p:txBody>
      </p:sp>
      <p:sp>
        <p:nvSpPr>
          <p:cNvPr id="187" name="Google Shape;187;p11"/>
          <p:cNvSpPr/>
          <p:nvPr/>
        </p:nvSpPr>
        <p:spPr>
          <a:xfrm>
            <a:off x="11125200" y="6438900"/>
            <a:ext cx="381000" cy="228600"/>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None/>
            </a:pPr>
            <a:r>
              <a:rPr b="0" lang="en-US" sz="518">
                <a:solidFill>
                  <a:srgbClr val="5F6368"/>
                </a:solidFill>
                <a:latin typeface="Arial"/>
                <a:ea typeface="Arial"/>
                <a:cs typeface="Arial"/>
                <a:sym typeface="Arial"/>
              </a:rPr>
              <a:t>undefined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12"/>
          <p:cNvPicPr preferRelativeResize="0"/>
          <p:nvPr/>
        </p:nvPicPr>
        <p:blipFill rotWithShape="1">
          <a:blip r:embed="rId3">
            <a:alphaModFix/>
          </a:blip>
          <a:srcRect b="0" l="0" r="0" t="0"/>
          <a:stretch/>
        </p:blipFill>
        <p:spPr>
          <a:xfrm>
            <a:off x="1028404" y="675167"/>
            <a:ext cx="9791406" cy="550766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Voyager 1's Pale Blue Dot - NASA Science" id="197" name="Google Shape;197;p13"/>
          <p:cNvPicPr preferRelativeResize="0"/>
          <p:nvPr/>
        </p:nvPicPr>
        <p:blipFill rotWithShape="1">
          <a:blip r:embed="rId3">
            <a:alphaModFix/>
          </a:blip>
          <a:srcRect b="0" l="0" r="0" t="0"/>
          <a:stretch/>
        </p:blipFill>
        <p:spPr>
          <a:xfrm>
            <a:off x="6096000" y="822619"/>
            <a:ext cx="5207231" cy="5151475"/>
          </a:xfrm>
          <a:prstGeom prst="rect">
            <a:avLst/>
          </a:prstGeom>
          <a:noFill/>
          <a:ln>
            <a:noFill/>
          </a:ln>
        </p:spPr>
      </p:pic>
      <p:sp>
        <p:nvSpPr>
          <p:cNvPr id="198" name="Google Shape;198;p13"/>
          <p:cNvSpPr txBox="1"/>
          <p:nvPr/>
        </p:nvSpPr>
        <p:spPr>
          <a:xfrm>
            <a:off x="616690" y="637953"/>
            <a:ext cx="4901608"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u="sng">
                <a:solidFill>
                  <a:schemeClr val="dk1"/>
                </a:solidFill>
                <a:latin typeface="Calibri"/>
                <a:ea typeface="Calibri"/>
                <a:cs typeface="Calibri"/>
                <a:sym typeface="Calibri"/>
              </a:rPr>
              <a:t>The Pale Blue dot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“Look again at that dot. That's here. That's home. That's us. On it everyone you love, everyone you know, everyone you ever heard of, every human being who ever was, lived out their lives. The aggregate of our joy and suffering, thousands of confident religions, ideologies, and economic doctrines, every hunter and forager, every hero and coward, every creator and destroyer of civilization, every king and peasant, every young couple in love, every mother and father, hopeful child, inventor and explorer, every teacher of morals, every corrupt politician, every "superstar," every "supreme leader," every saint and sinner in the history of our species lived there-on a mote of dust suspended in a sunbeam.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14"/>
          <p:cNvPicPr preferRelativeResize="0"/>
          <p:nvPr/>
        </p:nvPicPr>
        <p:blipFill rotWithShape="1">
          <a:blip r:embed="rId3">
            <a:alphaModFix/>
          </a:blip>
          <a:srcRect b="0" l="0" r="0" t="0"/>
          <a:stretch/>
        </p:blipFill>
        <p:spPr>
          <a:xfrm>
            <a:off x="1048634" y="778736"/>
            <a:ext cx="9520127" cy="53005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15"/>
          <p:cNvPicPr preferRelativeResize="0"/>
          <p:nvPr/>
        </p:nvPicPr>
        <p:blipFill rotWithShape="1">
          <a:blip r:embed="rId3">
            <a:alphaModFix/>
          </a:blip>
          <a:srcRect b="0" l="0" r="0" t="0"/>
          <a:stretch/>
        </p:blipFill>
        <p:spPr>
          <a:xfrm>
            <a:off x="4776676" y="394456"/>
            <a:ext cx="5813351" cy="5813351"/>
          </a:xfrm>
          <a:prstGeom prst="rect">
            <a:avLst/>
          </a:prstGeom>
          <a:noFill/>
          <a:ln>
            <a:noFill/>
          </a:ln>
        </p:spPr>
      </p:pic>
      <p:sp>
        <p:nvSpPr>
          <p:cNvPr id="209" name="Google Shape;209;p15"/>
          <p:cNvSpPr txBox="1"/>
          <p:nvPr/>
        </p:nvSpPr>
        <p:spPr>
          <a:xfrm>
            <a:off x="87719" y="1563762"/>
            <a:ext cx="4197202" cy="21236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a:solidFill>
                  <a:schemeClr val="dk1"/>
                </a:solidFill>
                <a:latin typeface="Calibri"/>
                <a:ea typeface="Calibri"/>
                <a:cs typeface="Calibri"/>
                <a:sym typeface="Calibri"/>
              </a:rPr>
              <a:t>Local Interstellar Cloud (LIC)</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Expected diameter of 300 light years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 existence of these sparsely dense gaseous regions can be attributed to 10–20 million old supernovae.</a:t>
            </a:r>
            <a:endParaRPr b="1" sz="24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16"/>
          <p:cNvPicPr preferRelativeResize="0"/>
          <p:nvPr/>
        </p:nvPicPr>
        <p:blipFill rotWithShape="1">
          <a:blip r:embed="rId3">
            <a:alphaModFix/>
          </a:blip>
          <a:srcRect b="0" l="0" r="0" t="0"/>
          <a:stretch/>
        </p:blipFill>
        <p:spPr>
          <a:xfrm>
            <a:off x="5159449" y="346887"/>
            <a:ext cx="6164226" cy="6164226"/>
          </a:xfrm>
          <a:prstGeom prst="rect">
            <a:avLst/>
          </a:prstGeom>
          <a:noFill/>
          <a:ln>
            <a:noFill/>
          </a:ln>
        </p:spPr>
      </p:pic>
      <p:sp>
        <p:nvSpPr>
          <p:cNvPr id="215" name="Google Shape;215;p16"/>
          <p:cNvSpPr txBox="1"/>
          <p:nvPr/>
        </p:nvSpPr>
        <p:spPr>
          <a:xfrm>
            <a:off x="130249" y="2158133"/>
            <a:ext cx="464377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Orion–Cygnus Arm: </a:t>
            </a:r>
            <a:r>
              <a:rPr b="0" i="0" lang="en-US" sz="1800">
                <a:solidFill>
                  <a:schemeClr val="dk1"/>
                </a:solidFill>
                <a:latin typeface="Calibri"/>
                <a:ea typeface="Calibri"/>
                <a:cs typeface="Calibri"/>
                <a:sym typeface="Calibri"/>
              </a:rPr>
              <a:t>3,500 light-years across and 10,000 light-years in length</a:t>
            </a:r>
            <a:endParaRPr/>
          </a:p>
          <a:p>
            <a:pPr indent="0" lvl="0" marL="0" marR="0" rtl="0" algn="l">
              <a:spcBef>
                <a:spcPts val="0"/>
              </a:spcBef>
              <a:spcAft>
                <a:spcPts val="0"/>
              </a:spcAft>
              <a:buNone/>
            </a:pPr>
            <a:r>
              <a:t/>
            </a:r>
            <a:endParaRPr b="0" i="0"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It is estimated the galaxy contains between 100 and 400 billion stars, spanning 100,000 light-years across</a:t>
            </a:r>
            <a:endParaRPr/>
          </a:p>
          <a:p>
            <a:pPr indent="0" lvl="0" marL="0" marR="0" rtl="0" algn="l">
              <a:spcBef>
                <a:spcPts val="0"/>
              </a:spcBef>
              <a:spcAft>
                <a:spcPts val="0"/>
              </a:spcAft>
              <a:buNone/>
            </a:pPr>
            <a:r>
              <a:t/>
            </a:r>
            <a:endParaRPr b="0" i="0"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17"/>
          <p:cNvPicPr preferRelativeResize="0"/>
          <p:nvPr/>
        </p:nvPicPr>
        <p:blipFill rotWithShape="1">
          <a:blip r:embed="rId3">
            <a:alphaModFix/>
          </a:blip>
          <a:srcRect b="0" l="0" r="0" t="0"/>
          <a:stretch/>
        </p:blipFill>
        <p:spPr>
          <a:xfrm>
            <a:off x="4255682" y="185120"/>
            <a:ext cx="6185491" cy="6185491"/>
          </a:xfrm>
          <a:prstGeom prst="rect">
            <a:avLst/>
          </a:prstGeom>
          <a:noFill/>
          <a:ln>
            <a:noFill/>
          </a:ln>
        </p:spPr>
      </p:pic>
      <p:sp>
        <p:nvSpPr>
          <p:cNvPr id="221" name="Google Shape;221;p17"/>
          <p:cNvSpPr txBox="1"/>
          <p:nvPr/>
        </p:nvSpPr>
        <p:spPr>
          <a:xfrm>
            <a:off x="470490" y="1523540"/>
            <a:ext cx="2974459"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Milky Way is just one of an estimated </a:t>
            </a:r>
            <a:r>
              <a:rPr b="0" i="0" lang="en-US" sz="1800" u="sng" strike="noStrike">
                <a:solidFill>
                  <a:schemeClr val="dk1"/>
                </a:solidFill>
                <a:latin typeface="Calibri"/>
                <a:ea typeface="Calibri"/>
                <a:cs typeface="Calibri"/>
                <a:sym typeface="Calibri"/>
                <a:hlinkClick r:id="rId4">
                  <a:extLst>
                    <a:ext uri="{A12FA001-AC4F-418D-AE19-62706E023703}">
                      <ahyp:hlinkClr val="tx"/>
                    </a:ext>
                  </a:extLst>
                </a:hlinkClick>
              </a:rPr>
              <a:t>30–50</a:t>
            </a:r>
            <a:r>
              <a:rPr b="0" i="0" lang="en-US" sz="1800">
                <a:solidFill>
                  <a:schemeClr val="dk1"/>
                </a:solidFill>
                <a:latin typeface="Calibri"/>
                <a:ea typeface="Calibri"/>
                <a:cs typeface="Calibri"/>
                <a:sym typeface="Calibri"/>
              </a:rPr>
              <a:t> galaxies located in the Local Galactic Group. It spans approximately </a:t>
            </a:r>
            <a:r>
              <a:rPr b="0" i="0" lang="en-US" sz="1800" u="sng" strike="noStrike">
                <a:solidFill>
                  <a:schemeClr val="dk1"/>
                </a:solidFill>
                <a:latin typeface="Calibri"/>
                <a:ea typeface="Calibri"/>
                <a:cs typeface="Calibri"/>
                <a:sym typeface="Calibri"/>
                <a:hlinkClick r:id="rId5">
                  <a:extLst>
                    <a:ext uri="{A12FA001-AC4F-418D-AE19-62706E023703}">
                      <ahyp:hlinkClr val="tx"/>
                    </a:ext>
                  </a:extLst>
                </a:hlinkClick>
              </a:rPr>
              <a:t>10 million light years</a:t>
            </a:r>
            <a:r>
              <a:rPr b="0" i="0" lang="en-US" sz="1800">
                <a:solidFill>
                  <a:schemeClr val="dk1"/>
                </a:solidFill>
                <a:latin typeface="Calibri"/>
                <a:ea typeface="Calibri"/>
                <a:cs typeface="Calibri"/>
                <a:sym typeface="Calibri"/>
              </a:rPr>
              <a:t> in diameter</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18"/>
          <p:cNvPicPr preferRelativeResize="0"/>
          <p:nvPr/>
        </p:nvPicPr>
        <p:blipFill rotWithShape="1">
          <a:blip r:embed="rId3">
            <a:alphaModFix/>
          </a:blip>
          <a:srcRect b="0" l="0" r="0" t="0"/>
          <a:stretch/>
        </p:blipFill>
        <p:spPr>
          <a:xfrm>
            <a:off x="3301417" y="784151"/>
            <a:ext cx="7543792" cy="5521113"/>
          </a:xfrm>
          <a:prstGeom prst="rect">
            <a:avLst/>
          </a:prstGeom>
          <a:noFill/>
          <a:ln>
            <a:noFill/>
          </a:ln>
        </p:spPr>
      </p:pic>
      <p:sp>
        <p:nvSpPr>
          <p:cNvPr id="227" name="Google Shape;227;p18"/>
          <p:cNvSpPr txBox="1"/>
          <p:nvPr/>
        </p:nvSpPr>
        <p:spPr>
          <a:xfrm>
            <a:off x="108984" y="2172126"/>
            <a:ext cx="2793704"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This Super</a:t>
            </a:r>
            <a:r>
              <a:rPr lang="en-US" sz="1800">
                <a:solidFill>
                  <a:schemeClr val="dk1"/>
                </a:solidFill>
                <a:latin typeface="Calibri"/>
                <a:ea typeface="Calibri"/>
                <a:cs typeface="Calibri"/>
                <a:sym typeface="Calibri"/>
              </a:rPr>
              <a:t> </a:t>
            </a:r>
            <a:r>
              <a:rPr b="0" i="0" lang="en-US" sz="1800">
                <a:solidFill>
                  <a:schemeClr val="dk1"/>
                </a:solidFill>
                <a:latin typeface="Calibri"/>
                <a:ea typeface="Calibri"/>
                <a:cs typeface="Calibri"/>
                <a:sym typeface="Calibri"/>
              </a:rPr>
              <a:t>cluster is </a:t>
            </a:r>
            <a:r>
              <a:rPr b="0" i="0" lang="en-US" sz="1800" u="sng" strike="noStrike">
                <a:solidFill>
                  <a:schemeClr val="dk1"/>
                </a:solidFill>
                <a:latin typeface="Calibri"/>
                <a:ea typeface="Calibri"/>
                <a:cs typeface="Calibri"/>
                <a:sym typeface="Calibri"/>
                <a:hlinkClick r:id="rId4">
                  <a:extLst>
                    <a:ext uri="{A12FA001-AC4F-418D-AE19-62706E023703}">
                      <ahyp:hlinkClr val="tx"/>
                    </a:ext>
                  </a:extLst>
                </a:hlinkClick>
              </a:rPr>
              <a:t>520 million light-years wide,</a:t>
            </a:r>
            <a:r>
              <a:rPr b="0" i="0" lang="en-US" sz="1800">
                <a:solidFill>
                  <a:schemeClr val="dk1"/>
                </a:solidFill>
                <a:latin typeface="Calibri"/>
                <a:ea typeface="Calibri"/>
                <a:cs typeface="Calibri"/>
                <a:sym typeface="Calibri"/>
              </a:rPr>
              <a:t> composed of about 300–500 smaller clusters, amounting to 100,000 galaxies</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descr="From the 8 planets in our Solar System to millions of superclusters spread across the observable universe, the cosmos is far bigger than we can truly imagine. Every star you see is just a tiny piece ..." id="232" name="Google Shape;232;p19"/>
          <p:cNvPicPr preferRelativeResize="0"/>
          <p:nvPr/>
        </p:nvPicPr>
        <p:blipFill rotWithShape="1">
          <a:blip r:embed="rId3">
            <a:alphaModFix/>
          </a:blip>
          <a:srcRect b="0" l="0" r="0" t="0"/>
          <a:stretch/>
        </p:blipFill>
        <p:spPr>
          <a:xfrm>
            <a:off x="776177" y="1196819"/>
            <a:ext cx="2785729" cy="4970942"/>
          </a:xfrm>
          <a:prstGeom prst="rect">
            <a:avLst/>
          </a:prstGeom>
          <a:noFill/>
          <a:ln>
            <a:noFill/>
          </a:ln>
        </p:spPr>
      </p:pic>
      <p:pic>
        <p:nvPicPr>
          <p:cNvPr descr="Cmb-in-a-sphere" id="233" name="Google Shape;233;p19"/>
          <p:cNvPicPr preferRelativeResize="0"/>
          <p:nvPr/>
        </p:nvPicPr>
        <p:blipFill rotWithShape="1">
          <a:blip r:embed="rId4">
            <a:alphaModFix/>
          </a:blip>
          <a:srcRect b="0" l="0" r="0" t="0"/>
          <a:stretch/>
        </p:blipFill>
        <p:spPr>
          <a:xfrm>
            <a:off x="5382140" y="1196819"/>
            <a:ext cx="5003800" cy="5003800"/>
          </a:xfrm>
          <a:prstGeom prst="rect">
            <a:avLst/>
          </a:prstGeom>
          <a:noFill/>
          <a:ln>
            <a:noFill/>
          </a:ln>
        </p:spPr>
      </p:pic>
      <p:sp>
        <p:nvSpPr>
          <p:cNvPr id="234" name="Google Shape;234;p19"/>
          <p:cNvSpPr txBox="1"/>
          <p:nvPr/>
        </p:nvSpPr>
        <p:spPr>
          <a:xfrm>
            <a:off x="3657599" y="382772"/>
            <a:ext cx="21733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Observable Universe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Circles Of Latitude And Longitude" id="239" name="Google Shape;239;p20"/>
          <p:cNvPicPr preferRelativeResize="0"/>
          <p:nvPr/>
        </p:nvPicPr>
        <p:blipFill rotWithShape="1">
          <a:blip r:embed="rId3">
            <a:alphaModFix/>
          </a:blip>
          <a:srcRect b="0" l="0" r="0" t="0"/>
          <a:stretch/>
        </p:blipFill>
        <p:spPr>
          <a:xfrm>
            <a:off x="1843968" y="858579"/>
            <a:ext cx="7772400" cy="471808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A set of 2 globes compares the First day of northern summer, June 20, to the First day of northern winter December 21. " id="244" name="Google Shape;244;p21"/>
          <p:cNvPicPr preferRelativeResize="0"/>
          <p:nvPr/>
        </p:nvPicPr>
        <p:blipFill rotWithShape="1">
          <a:blip r:embed="rId3">
            <a:alphaModFix/>
          </a:blip>
          <a:srcRect b="0" l="0" r="0" t="0"/>
          <a:stretch/>
        </p:blipFill>
        <p:spPr>
          <a:xfrm>
            <a:off x="2401484" y="894273"/>
            <a:ext cx="7378700" cy="5092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Time lapse photography shows 24 hours of the rising and setting of the Sun, which is visible at midnight due to a high latitude position, 66.5 degrees or greater." id="249" name="Google Shape;249;p22"/>
          <p:cNvPicPr preferRelativeResize="0"/>
          <p:nvPr/>
        </p:nvPicPr>
        <p:blipFill rotWithShape="1">
          <a:blip r:embed="rId3">
            <a:alphaModFix/>
          </a:blip>
          <a:srcRect b="0" l="0" r="0" t="0"/>
          <a:stretch/>
        </p:blipFill>
        <p:spPr>
          <a:xfrm>
            <a:off x="1929541" y="1249167"/>
            <a:ext cx="7772400" cy="799590"/>
          </a:xfrm>
          <a:prstGeom prst="rect">
            <a:avLst/>
          </a:prstGeom>
          <a:noFill/>
          <a:ln>
            <a:noFill/>
          </a:ln>
        </p:spPr>
      </p:pic>
      <p:pic>
        <p:nvPicPr>
          <p:cNvPr descr="A diagram comparing the moving reference point of the Earth's rotational axis to that of a spinning top." id="250" name="Google Shape;250;p22"/>
          <p:cNvPicPr preferRelativeResize="0"/>
          <p:nvPr/>
        </p:nvPicPr>
        <p:blipFill rotWithShape="1">
          <a:blip r:embed="rId4">
            <a:alphaModFix/>
          </a:blip>
          <a:srcRect b="0" l="0" r="0" t="0"/>
          <a:stretch/>
        </p:blipFill>
        <p:spPr>
          <a:xfrm>
            <a:off x="2316999" y="2342289"/>
            <a:ext cx="2679700" cy="3746500"/>
          </a:xfrm>
          <a:prstGeom prst="rect">
            <a:avLst/>
          </a:prstGeom>
          <a:noFill/>
          <a:ln>
            <a:noFill/>
          </a:ln>
        </p:spPr>
      </p:pic>
      <p:pic>
        <p:nvPicPr>
          <p:cNvPr descr="The zodiac constellations have a circle representing the Earth's rotational axis rotating in a circle centered on the north ecliptic pole, signified by a plus symbol near the Draco constellation." id="251" name="Google Shape;251;p22"/>
          <p:cNvPicPr preferRelativeResize="0"/>
          <p:nvPr/>
        </p:nvPicPr>
        <p:blipFill rotWithShape="1">
          <a:blip r:embed="rId5">
            <a:alphaModFix/>
          </a:blip>
          <a:srcRect b="0" l="0" r="0" t="0"/>
          <a:stretch/>
        </p:blipFill>
        <p:spPr>
          <a:xfrm>
            <a:off x="6122261" y="2646227"/>
            <a:ext cx="2921000" cy="3340100"/>
          </a:xfrm>
          <a:prstGeom prst="rect">
            <a:avLst/>
          </a:prstGeom>
          <a:noFill/>
          <a:ln>
            <a:noFill/>
          </a:ln>
        </p:spPr>
      </p:pic>
      <p:sp>
        <p:nvSpPr>
          <p:cNvPr id="252" name="Google Shape;252;p22"/>
          <p:cNvSpPr txBox="1"/>
          <p:nvPr/>
        </p:nvSpPr>
        <p:spPr>
          <a:xfrm>
            <a:off x="6517252" y="2276895"/>
            <a:ext cx="213101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strike="noStrike">
                <a:solidFill>
                  <a:schemeClr val="dk1"/>
                </a:solidFill>
                <a:latin typeface="Calibri"/>
                <a:ea typeface="Calibri"/>
                <a:cs typeface="Calibri"/>
                <a:sym typeface="Calibri"/>
              </a:rPr>
              <a:t>26,000-year wobble</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descr="An infographic showing the appearance of the zodiac constellations as the Earth orbits around the Sun. " id="257" name="Google Shape;257;p23"/>
          <p:cNvPicPr preferRelativeResize="0"/>
          <p:nvPr/>
        </p:nvPicPr>
        <p:blipFill rotWithShape="1">
          <a:blip r:embed="rId3">
            <a:alphaModFix/>
          </a:blip>
          <a:srcRect b="0" l="0" r="0" t="0"/>
          <a:stretch/>
        </p:blipFill>
        <p:spPr>
          <a:xfrm>
            <a:off x="2990526" y="1917699"/>
            <a:ext cx="5479297" cy="368382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descr="Whatconstellationbirthday" id="262" name="Google Shape;262;p24"/>
          <p:cNvPicPr preferRelativeResize="0"/>
          <p:nvPr/>
        </p:nvPicPr>
        <p:blipFill rotWithShape="1">
          <a:blip r:embed="rId3">
            <a:alphaModFix/>
          </a:blip>
          <a:srcRect b="0" l="0" r="0" t="0"/>
          <a:stretch/>
        </p:blipFill>
        <p:spPr>
          <a:xfrm>
            <a:off x="208419" y="1019044"/>
            <a:ext cx="5742868" cy="4607056"/>
          </a:xfrm>
          <a:prstGeom prst="rect">
            <a:avLst/>
          </a:prstGeom>
          <a:noFill/>
          <a:ln>
            <a:noFill/>
          </a:ln>
        </p:spPr>
      </p:pic>
      <p:pic>
        <p:nvPicPr>
          <p:cNvPr descr="Zodiacconstellationsdiagram" id="263" name="Google Shape;263;p24"/>
          <p:cNvPicPr preferRelativeResize="0"/>
          <p:nvPr/>
        </p:nvPicPr>
        <p:blipFill rotWithShape="1">
          <a:blip r:embed="rId4">
            <a:alphaModFix/>
          </a:blip>
          <a:srcRect b="0" l="0" r="0" t="0"/>
          <a:stretch/>
        </p:blipFill>
        <p:spPr>
          <a:xfrm>
            <a:off x="6096000" y="1784350"/>
            <a:ext cx="5715000" cy="3289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25"/>
          <p:cNvPicPr preferRelativeResize="0"/>
          <p:nvPr/>
        </p:nvPicPr>
        <p:blipFill rotWithShape="1">
          <a:blip r:embed="rId3">
            <a:alphaModFix/>
          </a:blip>
          <a:srcRect b="0" l="0" r="0" t="0"/>
          <a:stretch/>
        </p:blipFill>
        <p:spPr>
          <a:xfrm>
            <a:off x="865632" y="1114278"/>
            <a:ext cx="4206240" cy="4311396"/>
          </a:xfrm>
          <a:prstGeom prst="rect">
            <a:avLst/>
          </a:prstGeom>
          <a:noFill/>
          <a:ln>
            <a:noFill/>
          </a:ln>
        </p:spPr>
      </p:pic>
      <p:pic>
        <p:nvPicPr>
          <p:cNvPr id="269" name="Google Shape;269;p25"/>
          <p:cNvPicPr preferRelativeResize="0"/>
          <p:nvPr/>
        </p:nvPicPr>
        <p:blipFill rotWithShape="1">
          <a:blip r:embed="rId4">
            <a:alphaModFix/>
          </a:blip>
          <a:srcRect b="0" l="0" r="0" t="0"/>
          <a:stretch/>
        </p:blipFill>
        <p:spPr>
          <a:xfrm>
            <a:off x="5961959" y="1273302"/>
            <a:ext cx="5364409" cy="431139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26"/>
          <p:cNvPicPr preferRelativeResize="0"/>
          <p:nvPr/>
        </p:nvPicPr>
        <p:blipFill rotWithShape="1">
          <a:blip r:embed="rId3">
            <a:alphaModFix/>
          </a:blip>
          <a:srcRect b="0" l="0" r="0" t="0"/>
          <a:stretch/>
        </p:blipFill>
        <p:spPr>
          <a:xfrm>
            <a:off x="2629408" y="659494"/>
            <a:ext cx="6933184" cy="553901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27"/>
          <p:cNvPicPr preferRelativeResize="0"/>
          <p:nvPr/>
        </p:nvPicPr>
        <p:blipFill rotWithShape="1">
          <a:blip r:embed="rId3">
            <a:alphaModFix/>
          </a:blip>
          <a:srcRect b="0" l="0" r="0" t="0"/>
          <a:stretch/>
        </p:blipFill>
        <p:spPr>
          <a:xfrm>
            <a:off x="2125472" y="1276604"/>
            <a:ext cx="8224080" cy="430479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2026-09-05T17:27:56Z</dcterms:created>
  <dc:creator>Walnut Exporter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ChatGPT:5</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ChatGPT:4</vt:lpwstr>
  </property>
  <property fmtid="{D5CDD505-2E9C-101B-9397-08002B2CF9AE}" pid="5" name="ClassificationContentMarkingHeaderText">
    <vt:lpwstr>Confidential - Oracle Restricted \Employees Only</vt:lpwstr>
  </property>
</Properties>
</file>